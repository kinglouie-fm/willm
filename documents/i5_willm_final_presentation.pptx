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media/image1.jpeg" ContentType="image/jpeg"/>
  <Override PartName="/ppt/media/image2.jpeg" ContentType="image/jpeg"/>
  <Override PartName="/ppt/media/image3.jpeg" ContentType="image/jpeg"/>
  <Override PartName="/ppt/media/image4.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2"/>
          </a:solidFill>
        </a:fill>
      </a:tcStyle>
    </a:wholeTbl>
    <a:band2H>
      <a:tcTxStyle b="def" i="def"/>
      <a:tcStyle>
        <a:tcBdr/>
        <a:fill>
          <a:solidFill>
            <a:srgbClr val="E6EAE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E2CB"/>
          </a:solidFill>
        </a:fill>
      </a:tcStyle>
    </a:wholeTbl>
    <a:band2H>
      <a:tcTxStyle b="def" i="def"/>
      <a:tcStyle>
        <a:tcBdr/>
        <a:fill>
          <a:solidFill>
            <a:srgbClr val="E9F1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CACB"/>
          </a:solidFill>
        </a:fill>
      </a:tcStyle>
    </a:wholeTbl>
    <a:band2H>
      <a:tcTxStyle b="def" i="def"/>
      <a:tcStyle>
        <a:tcBdr/>
        <a:fill>
          <a:solidFill>
            <a:srgbClr val="F6E6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12" name="Shape 512"/>
          <p:cNvSpPr/>
          <p:nvPr>
            <p:ph type="sldImg"/>
          </p:nvPr>
        </p:nvSpPr>
        <p:spPr>
          <a:xfrm>
            <a:off x="1143000" y="685800"/>
            <a:ext cx="4572000" cy="3429000"/>
          </a:xfrm>
          <a:prstGeom prst="rect">
            <a:avLst/>
          </a:prstGeom>
        </p:spPr>
        <p:txBody>
          <a:bodyPr/>
          <a:lstStyle/>
          <a:p>
            <a:pPr/>
          </a:p>
        </p:txBody>
      </p:sp>
      <p:sp>
        <p:nvSpPr>
          <p:cNvPr id="513" name="Shape 51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1.png"/></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eg"/></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eg"/></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el_1/3 Farbe">
    <p:spTree>
      <p:nvGrpSpPr>
        <p:cNvPr id="1" name=""/>
        <p:cNvGrpSpPr/>
        <p:nvPr/>
      </p:nvGrpSpPr>
      <p:grpSpPr>
        <a:xfrm>
          <a:off x="0" y="0"/>
          <a:ext cx="0" cy="0"/>
          <a:chOff x="0" y="0"/>
          <a:chExt cx="0" cy="0"/>
        </a:xfrm>
      </p:grpSpPr>
      <p:sp>
        <p:nvSpPr>
          <p:cNvPr id="16" name="Google Shape;17;p2"/>
          <p:cNvSpPr/>
          <p:nvPr/>
        </p:nvSpPr>
        <p:spPr>
          <a:xfrm>
            <a:off x="0" y="-1"/>
            <a:ext cx="12192000" cy="2312990"/>
          </a:xfrm>
          <a:prstGeom prst="rect">
            <a:avLst/>
          </a:prstGeom>
          <a:solidFill>
            <a:srgbClr val="00549F"/>
          </a:solidFill>
          <a:ln w="12700">
            <a:miter lim="400000"/>
          </a:ln>
        </p:spPr>
        <p:txBody>
          <a:bodyPr lIns="0" tIns="0" rIns="0" bIns="0" anchor="ctr"/>
          <a:lstStyle/>
          <a:p>
            <a:pPr algn="ctr">
              <a:defRPr sz="1800">
                <a:solidFill>
                  <a:srgbClr val="FFFFFF"/>
                </a:solidFill>
              </a:defRPr>
            </a:pPr>
          </a:p>
        </p:txBody>
      </p:sp>
      <p:sp>
        <p:nvSpPr>
          <p:cNvPr id="17" name="Google Shape;18;p2"/>
          <p:cNvSpPr txBox="1"/>
          <p:nvPr/>
        </p:nvSpPr>
        <p:spPr>
          <a:xfrm>
            <a:off x="-1730689" y="479425"/>
            <a:ext cx="1484939" cy="12048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Institutslogo:</a:t>
            </a:r>
          </a:p>
          <a:p>
            <a:pPr indent="-63500">
              <a:buClr>
                <a:srgbClr val="000000"/>
              </a:buClr>
              <a:buSzPts val="1000"/>
              <a:buFont typeface="Arial"/>
              <a:buChar char="-"/>
              <a:defRPr sz="1000"/>
            </a:pPr>
            <a:r>
              <a:t>Dateiformat: PNG in RGB</a:t>
            </a:r>
          </a:p>
          <a:p>
            <a:pPr indent="-63500">
              <a:buClr>
                <a:srgbClr val="000000"/>
              </a:buClr>
              <a:buSzPts val="1000"/>
              <a:buFont typeface="Arial"/>
              <a:buChar char="-"/>
              <a:defRPr sz="1000"/>
            </a:pPr>
            <a:r>
              <a:t>Skalieren auf</a:t>
            </a:r>
          </a:p>
          <a:p>
            <a:pPr>
              <a:defRPr sz="1000"/>
            </a:pPr>
            <a:r>
              <a:t>     Höhe: 2,26 cm</a:t>
            </a:r>
          </a:p>
          <a:p>
            <a:pPr>
              <a:defRPr sz="1000"/>
            </a:pPr>
            <a:r>
              <a:t>     (Breite variiert je nach   </a:t>
            </a:r>
          </a:p>
          <a:p>
            <a:pPr>
              <a:defRPr sz="1000"/>
            </a:pPr>
            <a:r>
              <a:t>     Schutzraum)</a:t>
            </a:r>
          </a:p>
        </p:txBody>
      </p:sp>
      <p:sp>
        <p:nvSpPr>
          <p:cNvPr id="18" name="Title Text"/>
          <p:cNvSpPr txBox="1"/>
          <p:nvPr>
            <p:ph type="title"/>
          </p:nvPr>
        </p:nvSpPr>
        <p:spPr>
          <a:xfrm>
            <a:off x="385200" y="248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19" name="Body Level One…"/>
          <p:cNvSpPr txBox="1"/>
          <p:nvPr>
            <p:ph type="body" sz="half" idx="1"/>
          </p:nvPr>
        </p:nvSpPr>
        <p:spPr>
          <a:xfrm>
            <a:off x="384000" y="2980800"/>
            <a:ext cx="11484000" cy="1655762"/>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20" name="Google Shape;21;p2" descr="Google Shape;21;p2"/>
          <p:cNvPicPr>
            <a:picLocks noChangeAspect="1"/>
          </p:cNvPicPr>
          <p:nvPr/>
        </p:nvPicPr>
        <p:blipFill>
          <a:blip r:embed="rId2">
            <a:extLst/>
          </a:blip>
          <a:stretch>
            <a:fillRect/>
          </a:stretch>
        </p:blipFill>
        <p:spPr>
          <a:xfrm>
            <a:off x="8557249" y="6043612"/>
            <a:ext cx="3276939" cy="814388"/>
          </a:xfrm>
          <a:prstGeom prst="rect">
            <a:avLst/>
          </a:prstGeom>
          <a:ln w="12700">
            <a:miter lim="400000"/>
          </a:ln>
        </p:spPr>
      </p:pic>
      <p:sp>
        <p:nvSpPr>
          <p:cNvPr id="21"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_1/3 Foto">
    <p:spTree>
      <p:nvGrpSpPr>
        <p:cNvPr id="1" name=""/>
        <p:cNvGrpSpPr/>
        <p:nvPr/>
      </p:nvGrpSpPr>
      <p:grpSpPr>
        <a:xfrm>
          <a:off x="0" y="0"/>
          <a:ext cx="0" cy="0"/>
          <a:chOff x="0" y="0"/>
          <a:chExt cx="0" cy="0"/>
        </a:xfrm>
      </p:grpSpPr>
      <p:pic>
        <p:nvPicPr>
          <p:cNvPr id="28" name="Google Shape;23;p3" descr="Google Shape;23;p3"/>
          <p:cNvPicPr>
            <a:picLocks noChangeAspect="1"/>
          </p:cNvPicPr>
          <p:nvPr/>
        </p:nvPicPr>
        <p:blipFill>
          <a:blip r:embed="rId2">
            <a:extLst/>
          </a:blip>
          <a:stretch>
            <a:fillRect/>
          </a:stretch>
        </p:blipFill>
        <p:spPr>
          <a:xfrm>
            <a:off x="0" y="1587"/>
            <a:ext cx="12192000" cy="2298701"/>
          </a:xfrm>
          <a:prstGeom prst="rect">
            <a:avLst/>
          </a:prstGeom>
          <a:ln w="12700">
            <a:miter lim="400000"/>
          </a:ln>
        </p:spPr>
      </p:pic>
      <p:sp>
        <p:nvSpPr>
          <p:cNvPr id="29" name="Google Shape;24;p3"/>
          <p:cNvSpPr txBox="1"/>
          <p:nvPr/>
        </p:nvSpPr>
        <p:spPr>
          <a:xfrm>
            <a:off x="-1657664" y="495300"/>
            <a:ext cx="1348414" cy="13445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Bild zuschneiden unter:</a:t>
            </a:r>
          </a:p>
          <a:p>
            <a:pPr marL="171450" indent="-171450">
              <a:buClr>
                <a:srgbClr val="000000"/>
              </a:buClr>
              <a:buSzPts val="1000"/>
              <a:buFont typeface="Arial"/>
              <a:buChar char="-"/>
              <a:defRPr sz="1000"/>
            </a:pPr>
            <a:r>
              <a:t>Format</a:t>
            </a:r>
          </a:p>
          <a:p>
            <a:pPr marL="171450" indent="-171450">
              <a:buClr>
                <a:srgbClr val="000000"/>
              </a:buClr>
              <a:buSzPts val="1000"/>
              <a:buFont typeface="Arial"/>
              <a:buChar char="-"/>
              <a:defRPr sz="1000"/>
            </a:pPr>
            <a:r>
              <a:t>Zuschneiden</a:t>
            </a:r>
          </a:p>
          <a:p>
            <a:pPr marL="171450" indent="-171450">
              <a:buClr>
                <a:srgbClr val="000000"/>
              </a:buClr>
              <a:buSzPts val="1000"/>
              <a:buFont typeface="Arial"/>
              <a:buChar char="-"/>
              <a:defRPr sz="1000"/>
            </a:pPr>
            <a:r>
              <a:t>Zuschneidewerkzeug horizontal bis zur ersten oder zweiten Linie ziehen</a:t>
            </a:r>
          </a:p>
        </p:txBody>
      </p:sp>
      <p:sp>
        <p:nvSpPr>
          <p:cNvPr id="30" name="Title Text"/>
          <p:cNvSpPr txBox="1"/>
          <p:nvPr>
            <p:ph type="title"/>
          </p:nvPr>
        </p:nvSpPr>
        <p:spPr>
          <a:xfrm>
            <a:off x="384000" y="248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31" name="Body Level One…"/>
          <p:cNvSpPr txBox="1"/>
          <p:nvPr>
            <p:ph type="body" sz="half" idx="1"/>
          </p:nvPr>
        </p:nvSpPr>
        <p:spPr>
          <a:xfrm>
            <a:off x="384000" y="2980800"/>
            <a:ext cx="11484000" cy="1655762"/>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32" name="Google Shape;27;p3" descr="Google Shape;27;p3"/>
          <p:cNvPicPr>
            <a:picLocks noChangeAspect="1"/>
          </p:cNvPicPr>
          <p:nvPr/>
        </p:nvPicPr>
        <p:blipFill>
          <a:blip r:embed="rId3">
            <a:extLst/>
          </a:blip>
          <a:stretch>
            <a:fillRect/>
          </a:stretch>
        </p:blipFill>
        <p:spPr>
          <a:xfrm>
            <a:off x="8557249" y="6043612"/>
            <a:ext cx="3276939" cy="814388"/>
          </a:xfrm>
          <a:prstGeom prst="rect">
            <a:avLst/>
          </a:prstGeom>
          <a:ln w="12700">
            <a:miter lim="400000"/>
          </a:ln>
        </p:spPr>
      </p:pic>
      <p:sp>
        <p:nvSpPr>
          <p:cNvPr id="33"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_2/3 Foto">
    <p:spTree>
      <p:nvGrpSpPr>
        <p:cNvPr id="1" name=""/>
        <p:cNvGrpSpPr/>
        <p:nvPr/>
      </p:nvGrpSpPr>
      <p:grpSpPr>
        <a:xfrm>
          <a:off x="0" y="0"/>
          <a:ext cx="0" cy="0"/>
          <a:chOff x="0" y="0"/>
          <a:chExt cx="0" cy="0"/>
        </a:xfrm>
      </p:grpSpPr>
      <p:sp>
        <p:nvSpPr>
          <p:cNvPr id="40" name="Google Shape;29;p4"/>
          <p:cNvSpPr txBox="1"/>
          <p:nvPr/>
        </p:nvSpPr>
        <p:spPr>
          <a:xfrm>
            <a:off x="-1657664" y="495300"/>
            <a:ext cx="1348414" cy="13445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Bild zuschneiden unter:</a:t>
            </a:r>
          </a:p>
          <a:p>
            <a:pPr marL="171450" indent="-171450">
              <a:buClr>
                <a:srgbClr val="000000"/>
              </a:buClr>
              <a:buSzPts val="1000"/>
              <a:buFont typeface="Arial"/>
              <a:buChar char="-"/>
              <a:defRPr sz="1000"/>
            </a:pPr>
            <a:r>
              <a:t>Format</a:t>
            </a:r>
          </a:p>
          <a:p>
            <a:pPr marL="171450" indent="-171450">
              <a:buClr>
                <a:srgbClr val="000000"/>
              </a:buClr>
              <a:buSzPts val="1000"/>
              <a:buFont typeface="Arial"/>
              <a:buChar char="-"/>
              <a:defRPr sz="1000"/>
            </a:pPr>
            <a:r>
              <a:t>Zuschneiden</a:t>
            </a:r>
          </a:p>
          <a:p>
            <a:pPr marL="171450" indent="-171450">
              <a:buClr>
                <a:srgbClr val="000000"/>
              </a:buClr>
              <a:buSzPts val="1000"/>
              <a:buFont typeface="Arial"/>
              <a:buChar char="-"/>
              <a:defRPr sz="1000"/>
            </a:pPr>
            <a:r>
              <a:t>Zuschneidewerkzeug horizontal bis zur ersten oder zweiten Linie ziehen</a:t>
            </a:r>
          </a:p>
        </p:txBody>
      </p:sp>
      <p:pic>
        <p:nvPicPr>
          <p:cNvPr id="41" name="Google Shape;30;p4" descr="Google Shape;30;p4"/>
          <p:cNvPicPr>
            <a:picLocks noChangeAspect="1"/>
          </p:cNvPicPr>
          <p:nvPr/>
        </p:nvPicPr>
        <p:blipFill>
          <a:blip r:embed="rId2">
            <a:extLst/>
          </a:blip>
          <a:stretch>
            <a:fillRect/>
          </a:stretch>
        </p:blipFill>
        <p:spPr>
          <a:xfrm>
            <a:off x="0" y="0"/>
            <a:ext cx="12192000" cy="4533900"/>
          </a:xfrm>
          <a:prstGeom prst="rect">
            <a:avLst/>
          </a:prstGeom>
          <a:ln w="12700">
            <a:miter lim="400000"/>
          </a:ln>
        </p:spPr>
      </p:pic>
      <p:sp>
        <p:nvSpPr>
          <p:cNvPr id="42" name="Title Text"/>
          <p:cNvSpPr txBox="1"/>
          <p:nvPr>
            <p:ph type="title"/>
          </p:nvPr>
        </p:nvSpPr>
        <p:spPr>
          <a:xfrm>
            <a:off x="384000" y="473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43" name="Body Level One…"/>
          <p:cNvSpPr txBox="1"/>
          <p:nvPr>
            <p:ph type="body" sz="quarter" idx="1"/>
          </p:nvPr>
        </p:nvSpPr>
        <p:spPr>
          <a:xfrm>
            <a:off x="384000" y="5230800"/>
            <a:ext cx="11484000" cy="812814"/>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44" name="Google Shape;33;p4" descr="Google Shape;33;p4"/>
          <p:cNvPicPr>
            <a:picLocks noChangeAspect="1"/>
          </p:cNvPicPr>
          <p:nvPr/>
        </p:nvPicPr>
        <p:blipFill>
          <a:blip r:embed="rId3">
            <a:extLst/>
          </a:blip>
          <a:stretch>
            <a:fillRect/>
          </a:stretch>
        </p:blipFill>
        <p:spPr>
          <a:xfrm>
            <a:off x="8557249" y="6043612"/>
            <a:ext cx="3276939" cy="814388"/>
          </a:xfrm>
          <a:prstGeom prst="rect">
            <a:avLst/>
          </a:prstGeom>
          <a:ln w="12700">
            <a:miter lim="400000"/>
          </a:ln>
        </p:spPr>
      </p:pic>
      <p:sp>
        <p:nvSpPr>
          <p:cNvPr id="45"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_Text">
    <p:spTree>
      <p:nvGrpSpPr>
        <p:cNvPr id="1" name=""/>
        <p:cNvGrpSpPr/>
        <p:nvPr/>
      </p:nvGrpSpPr>
      <p:grpSpPr>
        <a:xfrm>
          <a:off x="0" y="0"/>
          <a:ext cx="0" cy="0"/>
          <a:chOff x="0" y="0"/>
          <a:chExt cx="0" cy="0"/>
        </a:xfrm>
      </p:grpSpPr>
      <p:sp>
        <p:nvSpPr>
          <p:cNvPr id="52" name="Google Shape;35;p5"/>
          <p:cNvSpPr/>
          <p:nvPr/>
        </p:nvSpPr>
        <p:spPr>
          <a:xfrm>
            <a:off x="360363" y="6040437"/>
            <a:ext cx="11483976" cy="1"/>
          </a:xfrm>
          <a:prstGeom prst="line">
            <a:avLst/>
          </a:prstGeom>
          <a:ln>
            <a:solidFill>
              <a:srgbClr val="000000"/>
            </a:solidFill>
            <a:miter/>
          </a:ln>
        </p:spPr>
        <p:txBody>
          <a:bodyPr lIns="0" tIns="0" rIns="0" bIns="0"/>
          <a:lstStyle/>
          <a:p>
            <a:pPr/>
          </a:p>
        </p:txBody>
      </p:sp>
      <p:sp>
        <p:nvSpPr>
          <p:cNvPr id="53" name="Title Text"/>
          <p:cNvSpPr txBox="1"/>
          <p:nvPr>
            <p:ph type="title"/>
          </p:nvPr>
        </p:nvSpPr>
        <p:spPr>
          <a:xfrm>
            <a:off x="384000" y="248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54" name="Body Level One…"/>
          <p:cNvSpPr txBox="1"/>
          <p:nvPr>
            <p:ph type="body" sz="half" idx="1"/>
          </p:nvPr>
        </p:nvSpPr>
        <p:spPr>
          <a:xfrm>
            <a:off x="384000" y="2980800"/>
            <a:ext cx="11484000" cy="1655762"/>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55" name="Google Shape;38;p5" descr="Google Shape;38;p5"/>
          <p:cNvPicPr>
            <a:picLocks noChangeAspect="1"/>
          </p:cNvPicPr>
          <p:nvPr/>
        </p:nvPicPr>
        <p:blipFill>
          <a:blip r:embed="rId2">
            <a:extLst/>
          </a:blip>
          <a:stretch>
            <a:fillRect/>
          </a:stretch>
        </p:blipFill>
        <p:spPr>
          <a:xfrm>
            <a:off x="8557249" y="6043612"/>
            <a:ext cx="3276939" cy="814388"/>
          </a:xfrm>
          <a:prstGeom prst="rect">
            <a:avLst/>
          </a:prstGeom>
          <a:ln w="12700">
            <a:miter lim="400000"/>
          </a:ln>
        </p:spPr>
      </p:pic>
      <p:sp>
        <p:nvSpPr>
          <p:cNvPr id="56"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_mittig, horizontale Linie">
    <p:spTree>
      <p:nvGrpSpPr>
        <p:cNvPr id="1" name=""/>
        <p:cNvGrpSpPr/>
        <p:nvPr/>
      </p:nvGrpSpPr>
      <p:grpSpPr>
        <a:xfrm>
          <a:off x="0" y="0"/>
          <a:ext cx="0" cy="0"/>
          <a:chOff x="0" y="0"/>
          <a:chExt cx="0" cy="0"/>
        </a:xfrm>
      </p:grpSpPr>
      <p:sp>
        <p:nvSpPr>
          <p:cNvPr id="63" name="Google Shape;40;p6"/>
          <p:cNvSpPr/>
          <p:nvPr/>
        </p:nvSpPr>
        <p:spPr>
          <a:xfrm>
            <a:off x="392113" y="3036888"/>
            <a:ext cx="11483976" cy="1"/>
          </a:xfrm>
          <a:prstGeom prst="line">
            <a:avLst/>
          </a:prstGeom>
          <a:ln>
            <a:solidFill>
              <a:srgbClr val="000000"/>
            </a:solidFill>
            <a:miter/>
          </a:ln>
        </p:spPr>
        <p:txBody>
          <a:bodyPr lIns="0" tIns="0" rIns="0" bIns="0"/>
          <a:lstStyle/>
          <a:p>
            <a:pPr/>
          </a:p>
        </p:txBody>
      </p:sp>
      <p:sp>
        <p:nvSpPr>
          <p:cNvPr id="64" name="Title Text"/>
          <p:cNvSpPr txBox="1"/>
          <p:nvPr>
            <p:ph type="title"/>
          </p:nvPr>
        </p:nvSpPr>
        <p:spPr>
          <a:xfrm>
            <a:off x="384000" y="248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65" name="Body Level One…"/>
          <p:cNvSpPr txBox="1"/>
          <p:nvPr>
            <p:ph type="body" sz="half" idx="1"/>
          </p:nvPr>
        </p:nvSpPr>
        <p:spPr>
          <a:xfrm>
            <a:off x="384000" y="3196800"/>
            <a:ext cx="11484000" cy="1655762"/>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66" name="Google Shape;43;p6" descr="Google Shape;43;p6"/>
          <p:cNvPicPr>
            <a:picLocks noChangeAspect="1"/>
          </p:cNvPicPr>
          <p:nvPr/>
        </p:nvPicPr>
        <p:blipFill>
          <a:blip r:embed="rId2">
            <a:extLst/>
          </a:blip>
          <a:stretch>
            <a:fillRect/>
          </a:stretch>
        </p:blipFill>
        <p:spPr>
          <a:xfrm>
            <a:off x="8557249" y="6043612"/>
            <a:ext cx="3276939" cy="814388"/>
          </a:xfrm>
          <a:prstGeom prst="rect">
            <a:avLst/>
          </a:prstGeom>
          <a:ln w="12700">
            <a:miter lim="400000"/>
          </a:ln>
        </p:spPr>
      </p:pic>
      <p:sp>
        <p:nvSpPr>
          <p:cNvPr id="67"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halt_Aufzählung">
    <p:spTree>
      <p:nvGrpSpPr>
        <p:cNvPr id="1" name=""/>
        <p:cNvGrpSpPr/>
        <p:nvPr/>
      </p:nvGrpSpPr>
      <p:grpSpPr>
        <a:xfrm>
          <a:off x="0" y="0"/>
          <a:ext cx="0" cy="0"/>
          <a:chOff x="0" y="0"/>
          <a:chExt cx="0" cy="0"/>
        </a:xfrm>
      </p:grpSpPr>
      <p:sp>
        <p:nvSpPr>
          <p:cNvPr id="74" name="Slide Number"/>
          <p:cNvSpPr txBox="1"/>
          <p:nvPr>
            <p:ph type="sldNum" sz="quarter" idx="2"/>
          </p:nvPr>
        </p:nvSpPr>
        <p:spPr>
          <a:prstGeom prst="rect">
            <a:avLst/>
          </a:prstGeom>
        </p:spPr>
        <p:txBody>
          <a:bodyPr/>
          <a:lstStyle/>
          <a:p>
            <a:pPr/>
            <a:fld id="{86CB4B4D-7CA3-9044-876B-883B54F8677D}" type="slidenum"/>
          </a:p>
        </p:txBody>
      </p:sp>
      <p:sp>
        <p:nvSpPr>
          <p:cNvPr id="75" name="Body Level One…"/>
          <p:cNvSpPr txBox="1"/>
          <p:nvPr>
            <p:ph type="body" idx="1"/>
          </p:nvPr>
        </p:nvSpPr>
        <p:spPr>
          <a:xfrm>
            <a:off x="373038" y="1684800"/>
            <a:ext cx="11484000" cy="3193201"/>
          </a:xfrm>
          <a:prstGeom prst="rect">
            <a:avLst/>
          </a:prstGeom>
        </p:spPr>
        <p:txBody>
          <a:bodyPr lIns="0" tIns="0" rIns="0" bIns="0">
            <a:normAutofit fontScale="100000" lnSpcReduction="0"/>
          </a:bodyPr>
          <a:lstStyle>
            <a:lvl1pPr marL="457200" indent="-342900">
              <a:buClr>
                <a:srgbClr val="00549F"/>
              </a:buClr>
              <a:buSzPts val="1800"/>
              <a:buFont typeface="Arial"/>
              <a:buChar char="•"/>
              <a:defRPr sz="1800"/>
            </a:lvl1pPr>
            <a:lvl2pPr marL="955675" indent="-371475">
              <a:buClr>
                <a:srgbClr val="00549F"/>
              </a:buClr>
              <a:buSzPts val="1800"/>
              <a:buFont typeface="Arial"/>
              <a:buChar char="−"/>
              <a:defRPr sz="1800"/>
            </a:lvl2pPr>
            <a:lvl3pPr marL="1410335" indent="-348615">
              <a:buClr>
                <a:srgbClr val="00549F"/>
              </a:buClr>
              <a:buSzPts val="1800"/>
              <a:buFont typeface="Arial"/>
              <a:buChar char="▪"/>
              <a:defRPr sz="1800"/>
            </a:lvl3pPr>
            <a:lvl4pPr marL="1870075" indent="-371475">
              <a:buClr>
                <a:srgbClr val="00549F"/>
              </a:buClr>
              <a:buSzPts val="1800"/>
              <a:buFont typeface="Arial"/>
              <a:buChar char="-"/>
              <a:defRPr sz="1800"/>
            </a:lvl4pPr>
            <a:lvl5pPr marL="2327275" indent="-371475">
              <a:buClr>
                <a:srgbClr val="00549F"/>
              </a:buClr>
              <a:buSzPts val="1800"/>
              <a:buFont typeface="Arial"/>
              <a:buChar char="-"/>
              <a:defRPr sz="1800"/>
            </a:lvl5pPr>
          </a:lstStyle>
          <a:p>
            <a:pPr/>
            <a:r>
              <a:t>Body Level One</a:t>
            </a:r>
          </a:p>
          <a:p>
            <a:pPr lvl="1"/>
            <a:r>
              <a:t>Body Level Two</a:t>
            </a:r>
          </a:p>
          <a:p>
            <a:pPr lvl="2"/>
            <a:r>
              <a:t>Body Level Three</a:t>
            </a:r>
          </a:p>
          <a:p>
            <a:pPr lvl="3"/>
            <a:r>
              <a:t>Body Level Four</a:t>
            </a:r>
          </a:p>
          <a:p>
            <a:pPr lvl="4"/>
            <a:r>
              <a:t>Body Level Five</a:t>
            </a:r>
          </a:p>
        </p:txBody>
      </p:sp>
      <p:sp>
        <p:nvSpPr>
          <p:cNvPr id="76"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
        <p:nvSpPr>
          <p:cNvPr id="77" name="Google Shape;47;p7"/>
          <p:cNvSpPr txBox="1"/>
          <p:nvPr>
            <p:ph type="body" sz="quarter" idx="21"/>
          </p:nvPr>
        </p:nvSpPr>
        <p:spPr>
          <a:xfrm>
            <a:off x="384000" y="1152000"/>
            <a:ext cx="11484000" cy="252001"/>
          </a:xfrm>
          <a:prstGeom prst="rect">
            <a:avLst/>
          </a:prstGeom>
        </p:spPr>
        <p:txBody>
          <a:bodyPr lIns="0" tIns="0" rIns="0" bIns="0">
            <a:normAutofit fontScale="100000" lnSpcReduction="0"/>
          </a:bodyPr>
          <a:lstStyle/>
          <a:p>
            <a:pPr marL="228600">
              <a:defRPr b="1" sz="2000"/>
            </a:pPr>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halt_Text">
    <p:spTree>
      <p:nvGrpSpPr>
        <p:cNvPr id="1" name=""/>
        <p:cNvGrpSpPr/>
        <p:nvPr/>
      </p:nvGrpSpPr>
      <p:grpSpPr>
        <a:xfrm>
          <a:off x="0" y="0"/>
          <a:ext cx="0" cy="0"/>
          <a:chOff x="0" y="0"/>
          <a:chExt cx="0" cy="0"/>
        </a:xfrm>
      </p:grpSpPr>
      <p:sp>
        <p:nvSpPr>
          <p:cNvPr id="84" name="Slide Number"/>
          <p:cNvSpPr txBox="1"/>
          <p:nvPr>
            <p:ph type="sldNum" sz="quarter" idx="2"/>
          </p:nvPr>
        </p:nvSpPr>
        <p:spPr>
          <a:prstGeom prst="rect">
            <a:avLst/>
          </a:prstGeom>
        </p:spPr>
        <p:txBody>
          <a:bodyPr/>
          <a:lstStyle/>
          <a:p>
            <a:pPr/>
            <a:fld id="{86CB4B4D-7CA3-9044-876B-883B54F8677D}" type="slidenum"/>
          </a:p>
        </p:txBody>
      </p:sp>
      <p:sp>
        <p:nvSpPr>
          <p:cNvPr id="85"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
        <p:nvSpPr>
          <p:cNvPr id="86" name="Body Level One…"/>
          <p:cNvSpPr txBox="1"/>
          <p:nvPr>
            <p:ph type="body" sz="quarter" idx="1"/>
          </p:nvPr>
        </p:nvSpPr>
        <p:spPr>
          <a:xfrm>
            <a:off x="384000" y="1152000"/>
            <a:ext cx="11484000" cy="252001"/>
          </a:xfrm>
          <a:prstGeom prst="rect">
            <a:avLst/>
          </a:prstGeom>
        </p:spPr>
        <p:txBody>
          <a:bodyPr lIns="0" tIns="0" rIns="0" bIns="0">
            <a:normAutofit fontScale="100000" lnSpcReduction="0"/>
          </a:bodyPr>
          <a:lstStyle>
            <a:lvl1pPr marL="228600">
              <a:defRPr b="1" sz="2000"/>
            </a:lvl1pPr>
            <a:lvl2pPr marL="952500" indent="-381000">
              <a:buSzPts val="2000"/>
              <a:buChar char="−"/>
              <a:defRPr b="1" sz="2000"/>
            </a:lvl2pPr>
            <a:lvl3pPr marL="1449069" indent="-387350">
              <a:buSzPts val="2000"/>
              <a:buChar char="−"/>
              <a:defRPr b="1" sz="2000"/>
            </a:lvl3pPr>
            <a:lvl4pPr marL="1911350" indent="-412750">
              <a:buSzPts val="2000"/>
              <a:buChar char="▪"/>
              <a:defRPr b="1" sz="2000"/>
            </a:lvl4pPr>
            <a:lvl5pPr marL="2368550" indent="-412750">
              <a:buSzPts val="2000"/>
              <a:buChar char="-"/>
              <a:defRPr b="1" sz="2000"/>
            </a:lvl5pPr>
          </a:lstStyle>
          <a:p>
            <a:pPr/>
            <a:r>
              <a:t>Body Level One</a:t>
            </a:r>
          </a:p>
          <a:p>
            <a:pPr lvl="1"/>
            <a:r>
              <a:t>Body Level Two</a:t>
            </a:r>
          </a:p>
          <a:p>
            <a:pPr lvl="2"/>
            <a:r>
              <a:t>Body Level Three</a:t>
            </a:r>
          </a:p>
          <a:p>
            <a:pPr lvl="3"/>
            <a:r>
              <a:t>Body Level Four</a:t>
            </a:r>
          </a:p>
          <a:p>
            <a:pPr lvl="4"/>
            <a:r>
              <a:t>Body Level Five</a:t>
            </a:r>
          </a:p>
        </p:txBody>
      </p:sp>
      <p:sp>
        <p:nvSpPr>
          <p:cNvPr id="87" name="Google Shape;51;p8"/>
          <p:cNvSpPr txBox="1"/>
          <p:nvPr>
            <p:ph type="body" idx="21"/>
          </p:nvPr>
        </p:nvSpPr>
        <p:spPr>
          <a:xfrm>
            <a:off x="383117" y="1684801"/>
            <a:ext cx="11484000" cy="3751263"/>
          </a:xfrm>
          <a:prstGeom prst="rect">
            <a:avLst/>
          </a:prstGeom>
        </p:spPr>
        <p:txBody>
          <a:bodyPr lIns="0" tIns="0" rIns="0" bIns="0">
            <a:normAutofit fontScale="100000" lnSpcReduction="0"/>
          </a:bodyPr>
          <a:lstStyle/>
          <a:p>
            <a:pPr marL="228600">
              <a:defRPr sz="1800"/>
            </a:pPr>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halt_Text_Bild">
    <p:spTree>
      <p:nvGrpSpPr>
        <p:cNvPr id="1" name=""/>
        <p:cNvGrpSpPr/>
        <p:nvPr/>
      </p:nvGrpSpPr>
      <p:grpSpPr>
        <a:xfrm>
          <a:off x="0" y="0"/>
          <a:ext cx="0" cy="0"/>
          <a:chOff x="0" y="0"/>
          <a:chExt cx="0" cy="0"/>
        </a:xfrm>
      </p:grpSpPr>
      <p:sp>
        <p:nvSpPr>
          <p:cNvPr id="94" name="Slide Number"/>
          <p:cNvSpPr txBox="1"/>
          <p:nvPr>
            <p:ph type="sldNum" sz="quarter" idx="2"/>
          </p:nvPr>
        </p:nvSpPr>
        <p:spPr>
          <a:prstGeom prst="rect">
            <a:avLst/>
          </a:prstGeom>
        </p:spPr>
        <p:txBody>
          <a:bodyPr/>
          <a:lstStyle/>
          <a:p>
            <a:pPr/>
            <a:fld id="{86CB4B4D-7CA3-9044-876B-883B54F8677D}" type="slidenum"/>
          </a:p>
        </p:txBody>
      </p:sp>
      <p:pic>
        <p:nvPicPr>
          <p:cNvPr id="95" name="Google Shape;53;p9" descr="Google Shape;53;p9"/>
          <p:cNvPicPr>
            <a:picLocks noChangeAspect="1"/>
          </p:cNvPicPr>
          <p:nvPr/>
        </p:nvPicPr>
        <p:blipFill>
          <a:blip r:embed="rId2">
            <a:extLst/>
          </a:blip>
          <a:stretch>
            <a:fillRect/>
          </a:stretch>
        </p:blipFill>
        <p:spPr>
          <a:xfrm>
            <a:off x="8207375" y="1684338"/>
            <a:ext cx="3635375" cy="3989388"/>
          </a:xfrm>
          <a:prstGeom prst="rect">
            <a:avLst/>
          </a:prstGeom>
          <a:ln w="12700">
            <a:miter lim="400000"/>
          </a:ln>
        </p:spPr>
      </p:pic>
      <p:sp>
        <p:nvSpPr>
          <p:cNvPr id="96" name="Body Level One…"/>
          <p:cNvSpPr txBox="1"/>
          <p:nvPr>
            <p:ph type="body" sz="half" idx="1"/>
          </p:nvPr>
        </p:nvSpPr>
        <p:spPr>
          <a:xfrm>
            <a:off x="383116" y="1684800"/>
            <a:ext cx="7560001" cy="3985956"/>
          </a:xfrm>
          <a:prstGeom prst="rect">
            <a:avLst/>
          </a:prstGeom>
        </p:spPr>
        <p:txBody>
          <a:bodyPr lIns="0" tIns="0" rIns="0" bIns="0">
            <a:normAutofit fontScale="100000" lnSpcReduction="0"/>
          </a:bodyPr>
          <a:lstStyle>
            <a:lvl1pPr marL="457200" indent="-342900">
              <a:buClr>
                <a:srgbClr val="00549F"/>
              </a:buClr>
              <a:buSzPts val="1800"/>
              <a:buFont typeface="Arial"/>
              <a:buChar char="•"/>
              <a:defRPr sz="1800"/>
            </a:lvl1pPr>
            <a:lvl2pPr marL="955675" indent="-371475">
              <a:buClr>
                <a:srgbClr val="00549F"/>
              </a:buClr>
              <a:buSzPts val="1800"/>
              <a:buFont typeface="Arial"/>
              <a:buChar char="−"/>
              <a:defRPr sz="1800"/>
            </a:lvl2pPr>
            <a:lvl3pPr marL="1410335" indent="-348615">
              <a:buClr>
                <a:srgbClr val="00549F"/>
              </a:buClr>
              <a:buSzPts val="1800"/>
              <a:buFont typeface="Arial"/>
              <a:buChar char="▪"/>
              <a:defRPr sz="1800"/>
            </a:lvl3pPr>
            <a:lvl4pPr marL="1870075" indent="-371475">
              <a:buClr>
                <a:srgbClr val="00549F"/>
              </a:buClr>
              <a:buSzPts val="1800"/>
              <a:buFont typeface="Arial"/>
              <a:buChar char="-"/>
              <a:defRPr sz="1800"/>
            </a:lvl4pPr>
            <a:lvl5pPr marL="2327275" indent="-371475">
              <a:buClr>
                <a:srgbClr val="00549F"/>
              </a:buClr>
              <a:buSzPts val="1800"/>
              <a:buFont typeface="Arial"/>
              <a:buChar char="-"/>
              <a:defRPr sz="1800"/>
            </a:lvl5pPr>
          </a:lstStyle>
          <a:p>
            <a:pPr/>
            <a:r>
              <a:t>Body Level One</a:t>
            </a:r>
          </a:p>
          <a:p>
            <a:pPr lvl="1"/>
            <a:r>
              <a:t>Body Level Two</a:t>
            </a:r>
          </a:p>
          <a:p>
            <a:pPr lvl="2"/>
            <a:r>
              <a:t>Body Level Three</a:t>
            </a:r>
          </a:p>
          <a:p>
            <a:pPr lvl="3"/>
            <a:r>
              <a:t>Body Level Four</a:t>
            </a:r>
          </a:p>
          <a:p>
            <a:pPr lvl="4"/>
            <a:r>
              <a:t>Body Level Five</a:t>
            </a:r>
          </a:p>
        </p:txBody>
      </p:sp>
      <p:sp>
        <p:nvSpPr>
          <p:cNvPr id="97"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
        <p:nvSpPr>
          <p:cNvPr id="98" name="Google Shape;56;p9"/>
          <p:cNvSpPr txBox="1"/>
          <p:nvPr>
            <p:ph type="body" sz="quarter" idx="21"/>
          </p:nvPr>
        </p:nvSpPr>
        <p:spPr>
          <a:xfrm>
            <a:off x="384000" y="1152000"/>
            <a:ext cx="11484000" cy="252001"/>
          </a:xfrm>
          <a:prstGeom prst="rect">
            <a:avLst/>
          </a:prstGeom>
        </p:spPr>
        <p:txBody>
          <a:bodyPr lIns="0" tIns="0" rIns="0" bIns="0">
            <a:normAutofit fontScale="100000" lnSpcReduction="0"/>
          </a:bodyPr>
          <a:lstStyle/>
          <a:p>
            <a:pPr marL="228600">
              <a:defRPr b="1" sz="2000"/>
            </a:pPr>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halt_Bild">
    <p:spTree>
      <p:nvGrpSpPr>
        <p:cNvPr id="1" name=""/>
        <p:cNvGrpSpPr/>
        <p:nvPr/>
      </p:nvGrpSpPr>
      <p:grpSpPr>
        <a:xfrm>
          <a:off x="0" y="0"/>
          <a:ext cx="0" cy="0"/>
          <a:chOff x="0" y="0"/>
          <a:chExt cx="0" cy="0"/>
        </a:xfrm>
      </p:grpSpPr>
      <p:sp>
        <p:nvSpPr>
          <p:cNvPr id="105" name="Slide Number"/>
          <p:cNvSpPr txBox="1"/>
          <p:nvPr>
            <p:ph type="sldNum" sz="quarter" idx="2"/>
          </p:nvPr>
        </p:nvSpPr>
        <p:spPr>
          <a:prstGeom prst="rect">
            <a:avLst/>
          </a:prstGeom>
        </p:spPr>
        <p:txBody>
          <a:bodyPr/>
          <a:lstStyle/>
          <a:p>
            <a:pPr/>
            <a:fld id="{86CB4B4D-7CA3-9044-876B-883B54F8677D}" type="slidenum"/>
          </a:p>
        </p:txBody>
      </p:sp>
      <p:pic>
        <p:nvPicPr>
          <p:cNvPr id="106" name="Google Shape;58;p10" descr="Google Shape;58;p10"/>
          <p:cNvPicPr>
            <a:picLocks noChangeAspect="1"/>
          </p:cNvPicPr>
          <p:nvPr/>
        </p:nvPicPr>
        <p:blipFill>
          <a:blip r:embed="rId2">
            <a:extLst/>
          </a:blip>
          <a:stretch>
            <a:fillRect/>
          </a:stretch>
        </p:blipFill>
        <p:spPr>
          <a:xfrm>
            <a:off x="385763" y="1152525"/>
            <a:ext cx="11480801" cy="3987800"/>
          </a:xfrm>
          <a:prstGeom prst="rect">
            <a:avLst/>
          </a:prstGeom>
          <a:ln w="12700">
            <a:miter lim="400000"/>
          </a:ln>
        </p:spPr>
      </p:pic>
      <p:sp>
        <p:nvSpPr>
          <p:cNvPr id="107" name="Body Level One…"/>
          <p:cNvSpPr txBox="1"/>
          <p:nvPr>
            <p:ph type="body" sz="quarter" idx="1"/>
          </p:nvPr>
        </p:nvSpPr>
        <p:spPr>
          <a:xfrm>
            <a:off x="383116" y="5359401"/>
            <a:ext cx="11484001" cy="499534"/>
          </a:xfrm>
          <a:prstGeom prst="rect">
            <a:avLst/>
          </a:prstGeom>
        </p:spPr>
        <p:txBody>
          <a:bodyPr lIns="45699" tIns="45699" rIns="45699" bIns="45699">
            <a:normAutofit fontScale="100000" lnSpcReduction="0"/>
          </a:bodyPr>
          <a:lstStyle>
            <a:lvl1pPr marL="228600" algn="r">
              <a:defRPr sz="900"/>
            </a:lvl1pPr>
            <a:lvl2pPr marL="769937" indent="-185737" algn="r">
              <a:buSzPts val="900"/>
              <a:buChar char="−"/>
              <a:defRPr sz="900"/>
            </a:lvl2pPr>
            <a:lvl3pPr marL="1236027" indent="-174307" algn="r">
              <a:buSzPts val="900"/>
              <a:buChar char="▪"/>
              <a:defRPr sz="900"/>
            </a:lvl3pPr>
            <a:lvl4pPr marL="1684337" indent="-185737" algn="r">
              <a:buSzPts val="900"/>
              <a:buChar char="-"/>
              <a:defRPr sz="900"/>
            </a:lvl4pPr>
            <a:lvl5pPr marL="2141537" indent="-185737" algn="r">
              <a:buSzPts val="900"/>
              <a:buChar char="-"/>
              <a:defRPr sz="900"/>
            </a:lvl5pPr>
          </a:lstStyle>
          <a:p>
            <a:pPr/>
            <a:r>
              <a:t>Body Level One</a:t>
            </a:r>
          </a:p>
          <a:p>
            <a:pPr lvl="1"/>
            <a:r>
              <a:t>Body Level Two</a:t>
            </a:r>
          </a:p>
          <a:p>
            <a:pPr lvl="2"/>
            <a:r>
              <a:t>Body Level Three</a:t>
            </a:r>
          </a:p>
          <a:p>
            <a:pPr lvl="3"/>
            <a:r>
              <a:t>Body Level Four</a:t>
            </a:r>
          </a:p>
          <a:p>
            <a:pPr lvl="4"/>
            <a:r>
              <a:t>Body Level Five</a:t>
            </a:r>
          </a:p>
        </p:txBody>
      </p:sp>
      <p:sp>
        <p:nvSpPr>
          <p:cNvPr id="108"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halt_Diagramm">
    <p:spTree>
      <p:nvGrpSpPr>
        <p:cNvPr id="1" name=""/>
        <p:cNvGrpSpPr/>
        <p:nvPr/>
      </p:nvGrpSpPr>
      <p:grpSpPr>
        <a:xfrm>
          <a:off x="0" y="0"/>
          <a:ext cx="0" cy="0"/>
          <a:chOff x="0" y="0"/>
          <a:chExt cx="0" cy="0"/>
        </a:xfrm>
      </p:grpSpPr>
      <p:sp>
        <p:nvSpPr>
          <p:cNvPr id="115" name="Slide Number"/>
          <p:cNvSpPr txBox="1"/>
          <p:nvPr>
            <p:ph type="sldNum" sz="quarter" idx="2"/>
          </p:nvPr>
        </p:nvSpPr>
        <p:spPr>
          <a:prstGeom prst="rect">
            <a:avLst/>
          </a:prstGeom>
        </p:spPr>
        <p:txBody>
          <a:bodyPr/>
          <a:lstStyle/>
          <a:p>
            <a:pPr/>
            <a:fld id="{86CB4B4D-7CA3-9044-876B-883B54F8677D}" type="slidenum"/>
          </a:p>
        </p:txBody>
      </p:sp>
      <p:sp>
        <p:nvSpPr>
          <p:cNvPr id="116" name="Body Level One…"/>
          <p:cNvSpPr txBox="1"/>
          <p:nvPr>
            <p:ph type="body" sz="quarter" idx="1"/>
          </p:nvPr>
        </p:nvSpPr>
        <p:spPr>
          <a:xfrm>
            <a:off x="384000" y="1152000"/>
            <a:ext cx="11484000" cy="252001"/>
          </a:xfrm>
          <a:prstGeom prst="rect">
            <a:avLst/>
          </a:prstGeom>
        </p:spPr>
        <p:txBody>
          <a:bodyPr lIns="0" tIns="0" rIns="0" bIns="0">
            <a:normAutofit fontScale="100000" lnSpcReduction="0"/>
          </a:bodyPr>
          <a:lstStyle>
            <a:lvl1pPr marL="228600">
              <a:defRPr b="1" sz="2000"/>
            </a:lvl1pPr>
            <a:lvl2pPr marL="228600" indent="457200">
              <a:defRPr b="1" sz="2000"/>
            </a:lvl2pPr>
            <a:lvl3pPr marL="228600" indent="914400">
              <a:defRPr b="1" sz="2000"/>
            </a:lvl3pPr>
            <a:lvl4pPr marL="228600" indent="1371600">
              <a:defRPr b="1" sz="2000"/>
            </a:lvl4pPr>
            <a:lvl5pPr marL="228600" indent="1828800">
              <a:defRPr b="1" sz="2000"/>
            </a:lvl5pPr>
          </a:lstStyle>
          <a:p>
            <a:pPr/>
            <a:r>
              <a:t>Body Level One</a:t>
            </a:r>
          </a:p>
          <a:p>
            <a:pPr lvl="1"/>
            <a:r>
              <a:t>Body Level Two</a:t>
            </a:r>
          </a:p>
          <a:p>
            <a:pPr lvl="2"/>
            <a:r>
              <a:t>Body Level Three</a:t>
            </a:r>
          </a:p>
          <a:p>
            <a:pPr lvl="3"/>
            <a:r>
              <a:t>Body Level Four</a:t>
            </a:r>
          </a:p>
          <a:p>
            <a:pPr lvl="4"/>
            <a:r>
              <a:t>Body Level Five</a:t>
            </a:r>
          </a:p>
        </p:txBody>
      </p:sp>
      <p:sp>
        <p:nvSpPr>
          <p:cNvPr id="117"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bschlussfolie">
    <p:spTree>
      <p:nvGrpSpPr>
        <p:cNvPr id="1" name=""/>
        <p:cNvGrpSpPr/>
        <p:nvPr/>
      </p:nvGrpSpPr>
      <p:grpSpPr>
        <a:xfrm>
          <a:off x="0" y="0"/>
          <a:ext cx="0" cy="0"/>
          <a:chOff x="0" y="0"/>
          <a:chExt cx="0" cy="0"/>
        </a:xfrm>
      </p:grpSpPr>
      <p:sp>
        <p:nvSpPr>
          <p:cNvPr id="124" name="Google Shape;66;p12"/>
          <p:cNvSpPr txBox="1"/>
          <p:nvPr/>
        </p:nvSpPr>
        <p:spPr>
          <a:xfrm>
            <a:off x="382588" y="2487613"/>
            <a:ext cx="11483976" cy="45660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0000"/>
              </a:lnSpc>
              <a:defRPr b="1" sz="3200">
                <a:solidFill>
                  <a:srgbClr val="00549F"/>
                </a:solidFill>
              </a:defRPr>
            </a:lvl1pPr>
          </a:lstStyle>
          <a:p>
            <a:pPr/>
            <a:r>
              <a:t>Thank you for your attention</a:t>
            </a:r>
          </a:p>
        </p:txBody>
      </p:sp>
      <p:sp>
        <p:nvSpPr>
          <p:cNvPr id="125" name="Google Shape;67;p12"/>
          <p:cNvSpPr/>
          <p:nvPr/>
        </p:nvSpPr>
        <p:spPr>
          <a:xfrm>
            <a:off x="360363" y="6040437"/>
            <a:ext cx="11483976" cy="1"/>
          </a:xfrm>
          <a:prstGeom prst="line">
            <a:avLst/>
          </a:prstGeom>
          <a:ln>
            <a:solidFill>
              <a:srgbClr val="000000"/>
            </a:solidFill>
            <a:miter/>
          </a:ln>
        </p:spPr>
        <p:txBody>
          <a:bodyPr lIns="0" tIns="0" rIns="0" bIns="0"/>
          <a:lstStyle/>
          <a:p>
            <a:pPr/>
          </a:p>
        </p:txBody>
      </p:sp>
      <p:sp>
        <p:nvSpPr>
          <p:cNvPr id="126" name="Body Level One…"/>
          <p:cNvSpPr txBox="1"/>
          <p:nvPr>
            <p:ph type="body" sz="half" idx="1"/>
          </p:nvPr>
        </p:nvSpPr>
        <p:spPr>
          <a:xfrm>
            <a:off x="384000" y="3988799"/>
            <a:ext cx="11484000" cy="1656002"/>
          </a:xfrm>
          <a:prstGeom prst="rect">
            <a:avLst/>
          </a:prstGeom>
        </p:spPr>
        <p:txBody>
          <a:bodyPr lIns="0" tIns="0" rIns="0" bIns="0">
            <a:normAutofit fontScale="100000" lnSpcReduction="0"/>
          </a:bodyPr>
          <a:lstStyle>
            <a:lvl1pPr marL="228600">
              <a:defRPr sz="1600"/>
            </a:lvl1pPr>
            <a:lvl2pPr marL="228600" indent="457200">
              <a:defRPr sz="1600"/>
            </a:lvl2pPr>
            <a:lvl3pPr marL="228600" indent="914400">
              <a:defRPr sz="1600"/>
            </a:lvl3pPr>
            <a:lvl4pPr marL="228600" indent="1371600">
              <a:defRPr sz="1600"/>
            </a:lvl4pPr>
            <a:lvl5pPr marL="228600" indent="1828800">
              <a:defRPr sz="1600"/>
            </a:lvl5pPr>
          </a:lstStyle>
          <a:p>
            <a:pPr/>
            <a:r>
              <a:t>Body Level One</a:t>
            </a:r>
          </a:p>
          <a:p>
            <a:pPr lvl="1"/>
            <a:r>
              <a:t>Body Level Two</a:t>
            </a:r>
          </a:p>
          <a:p>
            <a:pPr lvl="2"/>
            <a:r>
              <a:t>Body Level Three</a:t>
            </a:r>
          </a:p>
          <a:p>
            <a:pPr lvl="3"/>
            <a:r>
              <a:t>Body Level Four</a:t>
            </a:r>
          </a:p>
          <a:p>
            <a:pPr lvl="4"/>
            <a:r>
              <a:t>Body Level Five</a:t>
            </a:r>
          </a:p>
        </p:txBody>
      </p:sp>
      <p:pic>
        <p:nvPicPr>
          <p:cNvPr id="127" name="Google Shape;69;p12" descr="Google Shape;69;p12"/>
          <p:cNvPicPr>
            <a:picLocks noChangeAspect="1"/>
          </p:cNvPicPr>
          <p:nvPr/>
        </p:nvPicPr>
        <p:blipFill>
          <a:blip r:embed="rId2">
            <a:extLst/>
          </a:blip>
          <a:stretch>
            <a:fillRect/>
          </a:stretch>
        </p:blipFill>
        <p:spPr>
          <a:xfrm>
            <a:off x="8557249" y="6043612"/>
            <a:ext cx="3276939" cy="814388"/>
          </a:xfrm>
          <a:prstGeom prst="rect">
            <a:avLst/>
          </a:prstGeom>
          <a:ln w="12700">
            <a:miter lim="400000"/>
          </a:ln>
        </p:spPr>
      </p:pic>
      <p:sp>
        <p:nvSpPr>
          <p:cNvPr id="128"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135" name="Slide Number"/>
          <p:cNvSpPr txBox="1"/>
          <p:nvPr>
            <p:ph type="sldNum" sz="quarter" idx="2"/>
          </p:nvPr>
        </p:nvSpPr>
        <p:spPr>
          <a:prstGeom prst="rect">
            <a:avLst/>
          </a:prstGeom>
        </p:spPr>
        <p:txBody>
          <a:bodyPr/>
          <a:lstStyle/>
          <a:p>
            <a:pPr/>
            <a:fld id="{86CB4B4D-7CA3-9044-876B-883B54F8677D}" type="slidenum"/>
          </a:p>
        </p:txBody>
      </p:sp>
      <p:sp>
        <p:nvSpPr>
          <p:cNvPr id="136"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buClr>
                <a:srgbClr val="000000"/>
              </a:buClr>
              <a:buSzPts val="1400"/>
              <a:buFont typeface="Arial"/>
              <a:buChar char="●"/>
            </a:lvl1pPr>
          </a:lstStyle>
          <a:p>
            <a:pPr/>
            <a:r>
              <a:t>Title Text</a:t>
            </a:r>
          </a:p>
        </p:txBody>
      </p:sp>
      <p:sp>
        <p:nvSpPr>
          <p:cNvPr id="137" name="Body Level One…"/>
          <p:cNvSpPr txBox="1"/>
          <p:nvPr>
            <p:ph type="body" sz="half" idx="1"/>
          </p:nvPr>
        </p:nvSpPr>
        <p:spPr>
          <a:xfrm>
            <a:off x="384119" y="3988799"/>
            <a:ext cx="11483701" cy="1655701"/>
          </a:xfrm>
          <a:prstGeom prst="rect">
            <a:avLst/>
          </a:prstGeom>
        </p:spPr>
        <p:txBody>
          <a:bodyPr lIns="0" tIns="0" rIns="0" bIns="0" anchor="ctr">
            <a:normAutofit fontScale="100000" lnSpcReduction="0"/>
          </a:bodyPr>
          <a:lstStyle>
            <a:lvl1pPr>
              <a:lnSpc>
                <a:spcPct val="90000"/>
              </a:lnSpc>
              <a:spcBef>
                <a:spcPts val="1000"/>
              </a:spcBef>
              <a:buClr>
                <a:srgbClr val="000000"/>
              </a:buClr>
              <a:buSzPts val="1400"/>
              <a:buFont typeface="Arial"/>
              <a:buChar char="●"/>
            </a:lvl1pPr>
            <a:lvl2pPr>
              <a:lnSpc>
                <a:spcPct val="90000"/>
              </a:lnSpc>
              <a:spcBef>
                <a:spcPts val="1000"/>
              </a:spcBef>
              <a:buClr>
                <a:srgbClr val="000000"/>
              </a:buClr>
              <a:buSzPts val="1400"/>
              <a:buFont typeface="Arial"/>
              <a:buChar char="○"/>
            </a:lvl2pPr>
            <a:lvl3pPr>
              <a:lnSpc>
                <a:spcPct val="90000"/>
              </a:lnSpc>
              <a:spcBef>
                <a:spcPts val="1000"/>
              </a:spcBef>
              <a:buClr>
                <a:srgbClr val="000000"/>
              </a:buClr>
              <a:buSzPts val="1400"/>
              <a:buFont typeface="Arial"/>
              <a:buChar char="■"/>
            </a:lvl3pPr>
            <a:lvl4pPr>
              <a:lnSpc>
                <a:spcPct val="90000"/>
              </a:lnSpc>
              <a:spcBef>
                <a:spcPts val="1000"/>
              </a:spcBef>
              <a:buClr>
                <a:srgbClr val="000000"/>
              </a:buClr>
              <a:buSzPts val="1400"/>
              <a:buFont typeface="Arial"/>
              <a:buChar char="●"/>
            </a:lvl4pPr>
            <a:lvl5pPr>
              <a:lnSpc>
                <a:spcPct val="90000"/>
              </a:lnSpc>
              <a:spcBef>
                <a:spcPts val="1000"/>
              </a:spcBef>
              <a:buClr>
                <a:srgbClr val="000000"/>
              </a:buClr>
              <a:buSzPts val="1400"/>
              <a:buFont typeface="Arial"/>
              <a:buChar char="○"/>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151"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152"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153"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154"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155"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156"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157"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158" name="Body Level One…"/>
          <p:cNvSpPr txBox="1"/>
          <p:nvPr>
            <p:ph type="body" sz="half" idx="1"/>
          </p:nvPr>
        </p:nvSpPr>
        <p:spPr>
          <a:xfrm>
            <a:off x="384119" y="3988799"/>
            <a:ext cx="11483701" cy="1655701"/>
          </a:xfrm>
          <a:prstGeom prst="rect">
            <a:avLst/>
          </a:prstGeom>
        </p:spPr>
        <p:txBody>
          <a:bodyPr lIns="0" tIns="0" rIns="0" bIns="0" anchor="ctr">
            <a:normAutofit fontScale="100000" lnSpcReduction="0"/>
          </a:bodyPr>
          <a:lstStyle>
            <a:lvl1pPr marL="457200" indent="-406400">
              <a:lnSpc>
                <a:spcPct val="90000"/>
              </a:lnSpc>
              <a:spcBef>
                <a:spcPts val="1000"/>
              </a:spcBef>
              <a:buClr>
                <a:srgbClr val="000000"/>
              </a:buClr>
              <a:buSzPts val="2800"/>
              <a:buFont typeface="Arial"/>
              <a:buChar char="•"/>
              <a:defRPr sz="2800"/>
            </a:lvl1pPr>
            <a:lvl2pPr marL="977900" indent="-444500">
              <a:lnSpc>
                <a:spcPct val="90000"/>
              </a:lnSpc>
              <a:spcBef>
                <a:spcPts val="1000"/>
              </a:spcBef>
              <a:buClr>
                <a:srgbClr val="000000"/>
              </a:buClr>
              <a:buSzPts val="2800"/>
              <a:buFont typeface="Arial"/>
              <a:buChar char="•"/>
              <a:defRPr sz="2800"/>
            </a:lvl2pPr>
            <a:lvl3pPr marL="1513839" indent="-497839">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159"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166"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167"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168"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169"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170"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171"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172"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
    <p:spTree>
      <p:nvGrpSpPr>
        <p:cNvPr id="1" name=""/>
        <p:cNvGrpSpPr/>
        <p:nvPr/>
      </p:nvGrpSpPr>
      <p:grpSpPr>
        <a:xfrm>
          <a:off x="0" y="0"/>
          <a:ext cx="0" cy="0"/>
          <a:chOff x="0" y="0"/>
          <a:chExt cx="0" cy="0"/>
        </a:xfrm>
      </p:grpSpPr>
      <p:sp>
        <p:nvSpPr>
          <p:cNvPr id="179"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180"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181"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182"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183"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184"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185"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186" name="Body Level One…"/>
          <p:cNvSpPr txBox="1"/>
          <p:nvPr>
            <p:ph type="body" sz="half" idx="1"/>
          </p:nvPr>
        </p:nvSpPr>
        <p:spPr>
          <a:xfrm>
            <a:off x="384119" y="3988799"/>
            <a:ext cx="11483701" cy="1655701"/>
          </a:xfrm>
          <a:prstGeom prst="rect">
            <a:avLst/>
          </a:prstGeom>
        </p:spPr>
        <p:txBody>
          <a:bodyPr lIns="0" tIns="0" rIns="0" bIns="0">
            <a:normAutofit fontScale="100000" lnSpcReduction="0"/>
          </a:bodyPr>
          <a:lstStyle>
            <a:lvl1pPr marL="457200" indent="-342900">
              <a:lnSpc>
                <a:spcPct val="90000"/>
              </a:lnSpc>
              <a:spcBef>
                <a:spcPts val="1000"/>
              </a:spcBef>
              <a:buClr>
                <a:srgbClr val="000000"/>
              </a:buClr>
              <a:buSzPts val="2800"/>
              <a:buFont typeface="Arial"/>
              <a:buChar char="•"/>
              <a:defRPr sz="2800"/>
            </a:lvl1pPr>
            <a:lvl2pPr marL="971550" indent="-400050">
              <a:lnSpc>
                <a:spcPct val="90000"/>
              </a:lnSpc>
              <a:spcBef>
                <a:spcPts val="1000"/>
              </a:spcBef>
              <a:buClr>
                <a:srgbClr val="000000"/>
              </a:buClr>
              <a:buSzPts val="2800"/>
              <a:buFont typeface="Arial"/>
              <a:buChar char="•"/>
              <a:defRPr sz="2800"/>
            </a:lvl2pPr>
            <a:lvl3pPr marL="1508760" indent="-480060">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194"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195"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196"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197"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198"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199"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200"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201" name="Body Level One…"/>
          <p:cNvSpPr txBox="1"/>
          <p:nvPr>
            <p:ph type="body" sz="quarter" idx="1"/>
          </p:nvPr>
        </p:nvSpPr>
        <p:spPr>
          <a:xfrm>
            <a:off x="384119" y="3988799"/>
            <a:ext cx="5603701" cy="1655701"/>
          </a:xfrm>
          <a:prstGeom prst="rect">
            <a:avLst/>
          </a:prstGeom>
        </p:spPr>
        <p:txBody>
          <a:bodyPr lIns="0" tIns="0" rIns="0" bIns="0">
            <a:normAutofit fontScale="100000" lnSpcReduction="0"/>
          </a:bodyPr>
          <a:lstStyle>
            <a:lvl1pPr marL="457200" indent="-342900">
              <a:lnSpc>
                <a:spcPct val="90000"/>
              </a:lnSpc>
              <a:spcBef>
                <a:spcPts val="1000"/>
              </a:spcBef>
              <a:buClr>
                <a:srgbClr val="000000"/>
              </a:buClr>
              <a:buSzPts val="2800"/>
              <a:buFont typeface="Arial"/>
              <a:buChar char="•"/>
              <a:defRPr sz="2800"/>
            </a:lvl1pPr>
            <a:lvl2pPr marL="971550" indent="-400050">
              <a:lnSpc>
                <a:spcPct val="90000"/>
              </a:lnSpc>
              <a:spcBef>
                <a:spcPts val="1000"/>
              </a:spcBef>
              <a:buClr>
                <a:srgbClr val="000000"/>
              </a:buClr>
              <a:buSzPts val="2800"/>
              <a:buFont typeface="Arial"/>
              <a:buChar char="•"/>
              <a:defRPr sz="2800"/>
            </a:lvl2pPr>
            <a:lvl3pPr marL="1508760" indent="-480060">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202" name="Google Shape;93;p19"/>
          <p:cNvSpPr txBox="1"/>
          <p:nvPr>
            <p:ph type="body" sz="quarter" idx="21"/>
          </p:nvPr>
        </p:nvSpPr>
        <p:spPr>
          <a:xfrm>
            <a:off x="6268320" y="3988799"/>
            <a:ext cx="5603700" cy="1655700"/>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203"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210"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211"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212"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213"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214"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215"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216"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217"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ONLY">
    <p:spTree>
      <p:nvGrpSpPr>
        <p:cNvPr id="1" name=""/>
        <p:cNvGrpSpPr/>
        <p:nvPr/>
      </p:nvGrpSpPr>
      <p:grpSpPr>
        <a:xfrm>
          <a:off x="0" y="0"/>
          <a:ext cx="0" cy="0"/>
          <a:chOff x="0" y="0"/>
          <a:chExt cx="0" cy="0"/>
        </a:xfrm>
      </p:grpSpPr>
      <p:sp>
        <p:nvSpPr>
          <p:cNvPr id="224"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225"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226"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227"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228"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229"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230" name="Body Level One…"/>
          <p:cNvSpPr txBox="1"/>
          <p:nvPr>
            <p:ph type="body" idx="1"/>
          </p:nvPr>
        </p:nvSpPr>
        <p:spPr>
          <a:xfrm>
            <a:off x="609479" y="273599"/>
            <a:ext cx="10972502" cy="5307902"/>
          </a:xfrm>
          <a:prstGeom prst="rect">
            <a:avLst/>
          </a:prstGeom>
        </p:spPr>
        <p:txBody>
          <a:bodyPr lIns="0" tIns="0" rIns="0" bIns="0" anchor="ctr">
            <a:normAutofit fontScale="100000" lnSpcReduction="0"/>
          </a:bodyPr>
          <a:lstStyle>
            <a:lvl1pPr marL="457200" indent="-406400">
              <a:lnSpc>
                <a:spcPct val="90000"/>
              </a:lnSpc>
              <a:spcBef>
                <a:spcPts val="1000"/>
              </a:spcBef>
              <a:buClr>
                <a:srgbClr val="000000"/>
              </a:buClr>
              <a:buSzPts val="2800"/>
              <a:buFont typeface="Arial"/>
              <a:buChar char="•"/>
              <a:defRPr sz="2800"/>
            </a:lvl1pPr>
            <a:lvl2pPr marL="977900" indent="-444500">
              <a:lnSpc>
                <a:spcPct val="90000"/>
              </a:lnSpc>
              <a:spcBef>
                <a:spcPts val="1000"/>
              </a:spcBef>
              <a:buClr>
                <a:srgbClr val="000000"/>
              </a:buClr>
              <a:buSzPts val="2800"/>
              <a:buFont typeface="Arial"/>
              <a:buChar char="•"/>
              <a:defRPr sz="2800"/>
            </a:lvl2pPr>
            <a:lvl3pPr marL="1513839" indent="-497839">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231"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AND_OBJECT">
    <p:spTree>
      <p:nvGrpSpPr>
        <p:cNvPr id="1" name=""/>
        <p:cNvGrpSpPr/>
        <p:nvPr/>
      </p:nvGrpSpPr>
      <p:grpSpPr>
        <a:xfrm>
          <a:off x="0" y="0"/>
          <a:ext cx="0" cy="0"/>
          <a:chOff x="0" y="0"/>
          <a:chExt cx="0" cy="0"/>
        </a:xfrm>
      </p:grpSpPr>
      <p:sp>
        <p:nvSpPr>
          <p:cNvPr id="238"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239"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240"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241"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242"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243"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244"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245" name="Body Level One…"/>
          <p:cNvSpPr txBox="1"/>
          <p:nvPr>
            <p:ph type="body" sz="quarter" idx="1"/>
          </p:nvPr>
        </p:nvSpPr>
        <p:spPr>
          <a:xfrm>
            <a:off x="384119" y="3988799"/>
            <a:ext cx="5603701" cy="789601"/>
          </a:xfrm>
          <a:prstGeom prst="rect">
            <a:avLst/>
          </a:prstGeom>
        </p:spPr>
        <p:txBody>
          <a:bodyPr lIns="0" tIns="0" rIns="0" bIns="0">
            <a:normAutofit fontScale="100000" lnSpcReduction="0"/>
          </a:bodyPr>
          <a:lstStyle>
            <a:lvl1pPr marL="457200" indent="-342900">
              <a:lnSpc>
                <a:spcPct val="90000"/>
              </a:lnSpc>
              <a:spcBef>
                <a:spcPts val="1000"/>
              </a:spcBef>
              <a:buClr>
                <a:srgbClr val="000000"/>
              </a:buClr>
              <a:buSzPts val="2800"/>
              <a:buFont typeface="Arial"/>
              <a:buChar char="•"/>
              <a:defRPr sz="2800"/>
            </a:lvl1pPr>
            <a:lvl2pPr marL="971550" indent="-400050">
              <a:lnSpc>
                <a:spcPct val="90000"/>
              </a:lnSpc>
              <a:spcBef>
                <a:spcPts val="1000"/>
              </a:spcBef>
              <a:buClr>
                <a:srgbClr val="000000"/>
              </a:buClr>
              <a:buSzPts val="2800"/>
              <a:buFont typeface="Arial"/>
              <a:buChar char="•"/>
              <a:defRPr sz="2800"/>
            </a:lvl2pPr>
            <a:lvl3pPr marL="1508760" indent="-480060">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246" name="Google Shape;101;p22"/>
          <p:cNvSpPr txBox="1"/>
          <p:nvPr>
            <p:ph type="body" sz="quarter" idx="21"/>
          </p:nvPr>
        </p:nvSpPr>
        <p:spPr>
          <a:xfrm>
            <a:off x="6268320" y="3988799"/>
            <a:ext cx="5603700" cy="1655700"/>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247" name="Google Shape;102;p22"/>
          <p:cNvSpPr txBox="1"/>
          <p:nvPr>
            <p:ph type="body" sz="quarter" idx="22"/>
          </p:nvPr>
        </p:nvSpPr>
        <p:spPr>
          <a:xfrm>
            <a:off x="384120" y="4853520"/>
            <a:ext cx="56037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248"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AND_TWO_OBJECTS">
    <p:spTree>
      <p:nvGrpSpPr>
        <p:cNvPr id="1" name=""/>
        <p:cNvGrpSpPr/>
        <p:nvPr/>
      </p:nvGrpSpPr>
      <p:grpSpPr>
        <a:xfrm>
          <a:off x="0" y="0"/>
          <a:ext cx="0" cy="0"/>
          <a:chOff x="0" y="0"/>
          <a:chExt cx="0" cy="0"/>
        </a:xfrm>
      </p:grpSpPr>
      <p:sp>
        <p:nvSpPr>
          <p:cNvPr id="255"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256"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257"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258"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259"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260"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261"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262" name="Body Level One…"/>
          <p:cNvSpPr txBox="1"/>
          <p:nvPr>
            <p:ph type="body" sz="quarter" idx="1"/>
          </p:nvPr>
        </p:nvSpPr>
        <p:spPr>
          <a:xfrm>
            <a:off x="384119" y="3988799"/>
            <a:ext cx="5603701" cy="1655701"/>
          </a:xfrm>
          <a:prstGeom prst="rect">
            <a:avLst/>
          </a:prstGeom>
        </p:spPr>
        <p:txBody>
          <a:bodyPr lIns="0" tIns="0" rIns="0" bIns="0">
            <a:normAutofit fontScale="100000" lnSpcReduction="0"/>
          </a:bodyPr>
          <a:lstStyle>
            <a:lvl1pPr marL="457200" indent="-342900">
              <a:lnSpc>
                <a:spcPct val="90000"/>
              </a:lnSpc>
              <a:spcBef>
                <a:spcPts val="1000"/>
              </a:spcBef>
              <a:buClr>
                <a:srgbClr val="000000"/>
              </a:buClr>
              <a:buSzPts val="2800"/>
              <a:buFont typeface="Arial"/>
              <a:buChar char="•"/>
              <a:defRPr sz="2800"/>
            </a:lvl1pPr>
            <a:lvl2pPr marL="971550" indent="-400050">
              <a:lnSpc>
                <a:spcPct val="90000"/>
              </a:lnSpc>
              <a:spcBef>
                <a:spcPts val="1000"/>
              </a:spcBef>
              <a:buClr>
                <a:srgbClr val="000000"/>
              </a:buClr>
              <a:buSzPts val="2800"/>
              <a:buFont typeface="Arial"/>
              <a:buChar char="•"/>
              <a:defRPr sz="2800"/>
            </a:lvl2pPr>
            <a:lvl3pPr marL="1508760" indent="-480060">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263" name="Google Shape;106;p23"/>
          <p:cNvSpPr txBox="1"/>
          <p:nvPr>
            <p:ph type="body" sz="quarter" idx="21"/>
          </p:nvPr>
        </p:nvSpPr>
        <p:spPr>
          <a:xfrm>
            <a:off x="6268320" y="3988799"/>
            <a:ext cx="56037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264" name="Google Shape;107;p23"/>
          <p:cNvSpPr txBox="1"/>
          <p:nvPr>
            <p:ph type="body" sz="quarter" idx="22"/>
          </p:nvPr>
        </p:nvSpPr>
        <p:spPr>
          <a:xfrm>
            <a:off x="6268320" y="4853520"/>
            <a:ext cx="56037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265"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OVER_TEXT">
    <p:spTree>
      <p:nvGrpSpPr>
        <p:cNvPr id="1" name=""/>
        <p:cNvGrpSpPr/>
        <p:nvPr/>
      </p:nvGrpSpPr>
      <p:grpSpPr>
        <a:xfrm>
          <a:off x="0" y="0"/>
          <a:ext cx="0" cy="0"/>
          <a:chOff x="0" y="0"/>
          <a:chExt cx="0" cy="0"/>
        </a:xfrm>
      </p:grpSpPr>
      <p:sp>
        <p:nvSpPr>
          <p:cNvPr id="272"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273"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274"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275"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276"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277"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278"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279" name="Body Level One…"/>
          <p:cNvSpPr txBox="1"/>
          <p:nvPr>
            <p:ph type="body" sz="quarter" idx="1"/>
          </p:nvPr>
        </p:nvSpPr>
        <p:spPr>
          <a:xfrm>
            <a:off x="384119" y="3988799"/>
            <a:ext cx="5603701" cy="789601"/>
          </a:xfrm>
          <a:prstGeom prst="rect">
            <a:avLst/>
          </a:prstGeom>
        </p:spPr>
        <p:txBody>
          <a:bodyPr lIns="0" tIns="0" rIns="0" bIns="0">
            <a:normAutofit fontScale="100000" lnSpcReduction="0"/>
          </a:bodyPr>
          <a:lstStyle>
            <a:lvl1pPr marL="457200" indent="-342900">
              <a:lnSpc>
                <a:spcPct val="90000"/>
              </a:lnSpc>
              <a:spcBef>
                <a:spcPts val="1000"/>
              </a:spcBef>
              <a:buClr>
                <a:srgbClr val="000000"/>
              </a:buClr>
              <a:buSzPts val="2800"/>
              <a:buFont typeface="Arial"/>
              <a:buChar char="•"/>
              <a:defRPr sz="2800"/>
            </a:lvl1pPr>
            <a:lvl2pPr marL="971550" indent="-400050">
              <a:lnSpc>
                <a:spcPct val="90000"/>
              </a:lnSpc>
              <a:spcBef>
                <a:spcPts val="1000"/>
              </a:spcBef>
              <a:buClr>
                <a:srgbClr val="000000"/>
              </a:buClr>
              <a:buSzPts val="2800"/>
              <a:buFont typeface="Arial"/>
              <a:buChar char="•"/>
              <a:defRPr sz="2800"/>
            </a:lvl2pPr>
            <a:lvl3pPr marL="1508760" indent="-480060">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280" name="Google Shape;111;p24"/>
          <p:cNvSpPr txBox="1"/>
          <p:nvPr>
            <p:ph type="body" sz="quarter" idx="21"/>
          </p:nvPr>
        </p:nvSpPr>
        <p:spPr>
          <a:xfrm>
            <a:off x="6268320" y="3988799"/>
            <a:ext cx="56037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281" name="Google Shape;112;p24"/>
          <p:cNvSpPr txBox="1"/>
          <p:nvPr>
            <p:ph type="body" sz="quarter" idx="22"/>
          </p:nvPr>
        </p:nvSpPr>
        <p:spPr>
          <a:xfrm>
            <a:off x="384120" y="4853520"/>
            <a:ext cx="114837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282"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OVER_TEXT">
    <p:spTree>
      <p:nvGrpSpPr>
        <p:cNvPr id="1" name=""/>
        <p:cNvGrpSpPr/>
        <p:nvPr/>
      </p:nvGrpSpPr>
      <p:grpSpPr>
        <a:xfrm>
          <a:off x="0" y="0"/>
          <a:ext cx="0" cy="0"/>
          <a:chOff x="0" y="0"/>
          <a:chExt cx="0" cy="0"/>
        </a:xfrm>
      </p:grpSpPr>
      <p:sp>
        <p:nvSpPr>
          <p:cNvPr id="289"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290"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291"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292"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293"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294"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295"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296" name="Body Level One…"/>
          <p:cNvSpPr txBox="1"/>
          <p:nvPr>
            <p:ph type="body" sz="quarter" idx="1"/>
          </p:nvPr>
        </p:nvSpPr>
        <p:spPr>
          <a:xfrm>
            <a:off x="384119" y="3988799"/>
            <a:ext cx="11483701" cy="789601"/>
          </a:xfrm>
          <a:prstGeom prst="rect">
            <a:avLst/>
          </a:prstGeom>
        </p:spPr>
        <p:txBody>
          <a:bodyPr lIns="0" tIns="0" rIns="0" bIns="0">
            <a:normAutofit fontScale="100000" lnSpcReduction="0"/>
          </a:bodyPr>
          <a:lstStyle>
            <a:lvl1pPr marL="457200" indent="-342900">
              <a:lnSpc>
                <a:spcPct val="90000"/>
              </a:lnSpc>
              <a:spcBef>
                <a:spcPts val="1000"/>
              </a:spcBef>
              <a:buClr>
                <a:srgbClr val="000000"/>
              </a:buClr>
              <a:buSzPts val="2800"/>
              <a:buFont typeface="Arial"/>
              <a:buChar char="•"/>
              <a:defRPr sz="2800"/>
            </a:lvl1pPr>
            <a:lvl2pPr marL="971550" indent="-400050">
              <a:lnSpc>
                <a:spcPct val="90000"/>
              </a:lnSpc>
              <a:spcBef>
                <a:spcPts val="1000"/>
              </a:spcBef>
              <a:buClr>
                <a:srgbClr val="000000"/>
              </a:buClr>
              <a:buSzPts val="2800"/>
              <a:buFont typeface="Arial"/>
              <a:buChar char="•"/>
              <a:defRPr sz="2800"/>
            </a:lvl2pPr>
            <a:lvl3pPr marL="1508760" indent="-480060">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297" name="Google Shape;116;p25"/>
          <p:cNvSpPr txBox="1"/>
          <p:nvPr>
            <p:ph type="body" sz="quarter" idx="21"/>
          </p:nvPr>
        </p:nvSpPr>
        <p:spPr>
          <a:xfrm>
            <a:off x="384120" y="4853520"/>
            <a:ext cx="114837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298"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FOUR_OBJECTS">
    <p:spTree>
      <p:nvGrpSpPr>
        <p:cNvPr id="1" name=""/>
        <p:cNvGrpSpPr/>
        <p:nvPr/>
      </p:nvGrpSpPr>
      <p:grpSpPr>
        <a:xfrm>
          <a:off x="0" y="0"/>
          <a:ext cx="0" cy="0"/>
          <a:chOff x="0" y="0"/>
          <a:chExt cx="0" cy="0"/>
        </a:xfrm>
      </p:grpSpPr>
      <p:sp>
        <p:nvSpPr>
          <p:cNvPr id="305"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306"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307"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308"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309"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310"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311"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312" name="Body Level One…"/>
          <p:cNvSpPr txBox="1"/>
          <p:nvPr>
            <p:ph type="body" sz="quarter" idx="1"/>
          </p:nvPr>
        </p:nvSpPr>
        <p:spPr>
          <a:xfrm>
            <a:off x="384119" y="3988799"/>
            <a:ext cx="5603701" cy="789601"/>
          </a:xfrm>
          <a:prstGeom prst="rect">
            <a:avLst/>
          </a:prstGeom>
        </p:spPr>
        <p:txBody>
          <a:bodyPr lIns="0" tIns="0" rIns="0" bIns="0">
            <a:normAutofit fontScale="100000" lnSpcReduction="0"/>
          </a:bodyPr>
          <a:lstStyle>
            <a:lvl1pPr marL="457200" indent="-342900">
              <a:lnSpc>
                <a:spcPct val="90000"/>
              </a:lnSpc>
              <a:spcBef>
                <a:spcPts val="1000"/>
              </a:spcBef>
              <a:buClr>
                <a:srgbClr val="000000"/>
              </a:buClr>
              <a:buSzPts val="2800"/>
              <a:buFont typeface="Arial"/>
              <a:buChar char="•"/>
              <a:defRPr sz="2800"/>
            </a:lvl1pPr>
            <a:lvl2pPr marL="971550" indent="-400050">
              <a:lnSpc>
                <a:spcPct val="90000"/>
              </a:lnSpc>
              <a:spcBef>
                <a:spcPts val="1000"/>
              </a:spcBef>
              <a:buClr>
                <a:srgbClr val="000000"/>
              </a:buClr>
              <a:buSzPts val="2800"/>
              <a:buFont typeface="Arial"/>
              <a:buChar char="•"/>
              <a:defRPr sz="2800"/>
            </a:lvl2pPr>
            <a:lvl3pPr marL="1508760" indent="-480060">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313" name="Google Shape;120;p26"/>
          <p:cNvSpPr txBox="1"/>
          <p:nvPr>
            <p:ph type="body" sz="quarter" idx="21"/>
          </p:nvPr>
        </p:nvSpPr>
        <p:spPr>
          <a:xfrm>
            <a:off x="6268320" y="3988799"/>
            <a:ext cx="56037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314" name="Google Shape;121;p26"/>
          <p:cNvSpPr txBox="1"/>
          <p:nvPr>
            <p:ph type="body" sz="quarter" idx="22"/>
          </p:nvPr>
        </p:nvSpPr>
        <p:spPr>
          <a:xfrm>
            <a:off x="384120" y="4853520"/>
            <a:ext cx="56037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315" name="Google Shape;122;p26"/>
          <p:cNvSpPr txBox="1"/>
          <p:nvPr>
            <p:ph type="body" sz="quarter" idx="23"/>
          </p:nvPr>
        </p:nvSpPr>
        <p:spPr>
          <a:xfrm>
            <a:off x="6268320" y="4853520"/>
            <a:ext cx="56037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316"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6 Content">
    <p:spTree>
      <p:nvGrpSpPr>
        <p:cNvPr id="1" name=""/>
        <p:cNvGrpSpPr/>
        <p:nvPr/>
      </p:nvGrpSpPr>
      <p:grpSpPr>
        <a:xfrm>
          <a:off x="0" y="0"/>
          <a:ext cx="0" cy="0"/>
          <a:chOff x="0" y="0"/>
          <a:chExt cx="0" cy="0"/>
        </a:xfrm>
      </p:grpSpPr>
      <p:sp>
        <p:nvSpPr>
          <p:cNvPr id="323" name="Google Shape;75;p15"/>
          <p:cNvSpPr/>
          <p:nvPr/>
        </p:nvSpPr>
        <p:spPr>
          <a:xfrm>
            <a:off x="360360" y="814319"/>
            <a:ext cx="11483700" cy="1"/>
          </a:xfrm>
          <a:prstGeom prst="line">
            <a:avLst/>
          </a:prstGeom>
          <a:ln>
            <a:solidFill>
              <a:srgbClr val="000000"/>
            </a:solidFill>
            <a:miter lim="8000"/>
          </a:ln>
        </p:spPr>
        <p:txBody>
          <a:bodyPr lIns="0" tIns="0" rIns="0" bIns="0"/>
          <a:lstStyle/>
          <a:p>
            <a:pPr/>
          </a:p>
        </p:txBody>
      </p:sp>
      <p:sp>
        <p:nvSpPr>
          <p:cNvPr id="324" name="Google Shape;76;p15"/>
          <p:cNvSpPr/>
          <p:nvPr/>
        </p:nvSpPr>
        <p:spPr>
          <a:xfrm>
            <a:off x="360360" y="6040080"/>
            <a:ext cx="11483700" cy="1"/>
          </a:xfrm>
          <a:prstGeom prst="line">
            <a:avLst/>
          </a:prstGeom>
          <a:ln>
            <a:solidFill>
              <a:srgbClr val="000000"/>
            </a:solidFill>
            <a:miter lim="8000"/>
          </a:ln>
        </p:spPr>
        <p:txBody>
          <a:bodyPr lIns="0" tIns="0" rIns="0" bIns="0"/>
          <a:lstStyle/>
          <a:p>
            <a:pPr/>
          </a:p>
        </p:txBody>
      </p:sp>
      <p:pic>
        <p:nvPicPr>
          <p:cNvPr id="325" name="Google Shape;77;p15" descr="Google Shape;77;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pic>
        <p:nvPicPr>
          <p:cNvPr id="326" name="Google Shape;78;p15" descr="Google Shape;78;p15"/>
          <p:cNvPicPr>
            <a:picLocks noChangeAspect="1"/>
          </p:cNvPicPr>
          <p:nvPr/>
        </p:nvPicPr>
        <p:blipFill>
          <a:blip r:embed="rId3">
            <a:extLst/>
          </a:blip>
          <a:stretch>
            <a:fillRect/>
          </a:stretch>
        </p:blipFill>
        <p:spPr>
          <a:xfrm>
            <a:off x="0" y="1439"/>
            <a:ext cx="12191760" cy="2298241"/>
          </a:xfrm>
          <a:prstGeom prst="rect">
            <a:avLst/>
          </a:prstGeom>
          <a:ln w="12700">
            <a:miter lim="400000"/>
          </a:ln>
        </p:spPr>
      </p:pic>
      <p:sp>
        <p:nvSpPr>
          <p:cNvPr id="327" name="Google Shape;79;p15"/>
          <p:cNvSpPr txBox="1"/>
          <p:nvPr/>
        </p:nvSpPr>
        <p:spPr>
          <a:xfrm>
            <a:off x="-1658521" y="495359"/>
            <a:ext cx="1349701" cy="1343147"/>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b="1" sz="1000"/>
            </a:pPr>
            <a:r>
              <a:t>Bild zuschneiden unter:</a:t>
            </a:r>
          </a:p>
          <a:p>
            <a:pPr marL="171359" indent="-171000">
              <a:buClr>
                <a:srgbClr val="000000"/>
              </a:buClr>
              <a:buSzPts val="1000"/>
              <a:buFont typeface="Helvetica"/>
              <a:buChar char="-"/>
              <a:defRPr sz="1000"/>
            </a:pPr>
            <a:r>
              <a:t>Format</a:t>
            </a:r>
          </a:p>
          <a:p>
            <a:pPr marL="171359" indent="-171000">
              <a:buClr>
                <a:srgbClr val="000000"/>
              </a:buClr>
              <a:buSzPts val="1000"/>
              <a:buFont typeface="Helvetica"/>
              <a:buChar char="-"/>
              <a:defRPr sz="1000"/>
            </a:pPr>
            <a:r>
              <a:t>Zuschneiden</a:t>
            </a:r>
          </a:p>
          <a:p>
            <a:pPr marL="171359" indent="-171000">
              <a:buClr>
                <a:srgbClr val="000000"/>
              </a:buClr>
              <a:buSzPts val="1000"/>
              <a:buFont typeface="Helvetica"/>
              <a:buChar char="-"/>
              <a:defRPr sz="1000"/>
            </a:pPr>
            <a:r>
              <a:t>Zuschneidewerkzeug horizontal bis zur ersten oder zweiten Linie ziehen</a:t>
            </a:r>
          </a:p>
        </p:txBody>
      </p:sp>
      <p:pic>
        <p:nvPicPr>
          <p:cNvPr id="328" name="Google Shape;81;p15" descr="Google Shape;81;p15"/>
          <p:cNvPicPr>
            <a:picLocks noChangeAspect="1"/>
          </p:cNvPicPr>
          <p:nvPr/>
        </p:nvPicPr>
        <p:blipFill>
          <a:blip r:embed="rId2">
            <a:extLst/>
          </a:blip>
          <a:stretch>
            <a:fillRect/>
          </a:stretch>
        </p:blipFill>
        <p:spPr>
          <a:xfrm>
            <a:off x="8557200" y="6043679"/>
            <a:ext cx="3276722" cy="813961"/>
          </a:xfrm>
          <a:prstGeom prst="rect">
            <a:avLst/>
          </a:prstGeom>
          <a:ln w="12700">
            <a:miter lim="400000"/>
          </a:ln>
        </p:spPr>
      </p:pic>
      <p:sp>
        <p:nvSpPr>
          <p:cNvPr id="329"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defRPr sz="4400"/>
            </a:lvl1pPr>
          </a:lstStyle>
          <a:p>
            <a:pPr/>
            <a:r>
              <a:t>Title Text</a:t>
            </a:r>
          </a:p>
        </p:txBody>
      </p:sp>
      <p:sp>
        <p:nvSpPr>
          <p:cNvPr id="330" name="Body Level One…"/>
          <p:cNvSpPr txBox="1"/>
          <p:nvPr>
            <p:ph type="body" sz="quarter" idx="1"/>
          </p:nvPr>
        </p:nvSpPr>
        <p:spPr>
          <a:xfrm>
            <a:off x="384119" y="3988799"/>
            <a:ext cx="3697501" cy="789601"/>
          </a:xfrm>
          <a:prstGeom prst="rect">
            <a:avLst/>
          </a:prstGeom>
        </p:spPr>
        <p:txBody>
          <a:bodyPr lIns="0" tIns="0" rIns="0" bIns="0">
            <a:normAutofit fontScale="100000" lnSpcReduction="0"/>
          </a:bodyPr>
          <a:lstStyle>
            <a:lvl1pPr marL="457200" indent="-342900">
              <a:lnSpc>
                <a:spcPct val="90000"/>
              </a:lnSpc>
              <a:spcBef>
                <a:spcPts val="1000"/>
              </a:spcBef>
              <a:buClr>
                <a:srgbClr val="000000"/>
              </a:buClr>
              <a:buSzPts val="2800"/>
              <a:buFont typeface="Arial"/>
              <a:buChar char="•"/>
              <a:defRPr sz="2800"/>
            </a:lvl1pPr>
            <a:lvl2pPr marL="971550" indent="-400050">
              <a:lnSpc>
                <a:spcPct val="90000"/>
              </a:lnSpc>
              <a:spcBef>
                <a:spcPts val="1000"/>
              </a:spcBef>
              <a:buClr>
                <a:srgbClr val="000000"/>
              </a:buClr>
              <a:buSzPts val="2800"/>
              <a:buFont typeface="Arial"/>
              <a:buChar char="•"/>
              <a:defRPr sz="2800"/>
            </a:lvl2pPr>
            <a:lvl3pPr marL="1508760" indent="-480060">
              <a:lnSpc>
                <a:spcPct val="90000"/>
              </a:lnSpc>
              <a:spcBef>
                <a:spcPts val="1000"/>
              </a:spcBef>
              <a:buClr>
                <a:srgbClr val="000000"/>
              </a:buClr>
              <a:buSzPts val="2800"/>
              <a:buFont typeface="Arial"/>
              <a:buChar char="•"/>
              <a:defRPr sz="2800"/>
            </a:lvl3pPr>
            <a:lvl4pPr marL="2019300" indent="-533400">
              <a:lnSpc>
                <a:spcPct val="90000"/>
              </a:lnSpc>
              <a:spcBef>
                <a:spcPts val="1000"/>
              </a:spcBef>
              <a:buClr>
                <a:srgbClr val="000000"/>
              </a:buClr>
              <a:buSzPts val="2800"/>
              <a:buFont typeface="Arial"/>
              <a:buChar char="•"/>
              <a:defRPr sz="2800"/>
            </a:lvl4pPr>
            <a:lvl5pPr marL="2476500" indent="-533400">
              <a:lnSpc>
                <a:spcPct val="90000"/>
              </a:lnSpc>
              <a:spcBef>
                <a:spcPts val="1000"/>
              </a:spcBef>
              <a:buClr>
                <a:srgbClr val="000000"/>
              </a:buClr>
              <a:buSzPts val="2800"/>
              <a:buFont typeface="Arial"/>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331" name="Google Shape;126;p27"/>
          <p:cNvSpPr txBox="1"/>
          <p:nvPr>
            <p:ph type="body" sz="quarter" idx="21"/>
          </p:nvPr>
        </p:nvSpPr>
        <p:spPr>
          <a:xfrm>
            <a:off x="4267079" y="3988799"/>
            <a:ext cx="3697501"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332" name="Google Shape;127;p27"/>
          <p:cNvSpPr txBox="1"/>
          <p:nvPr>
            <p:ph type="body" sz="quarter" idx="22"/>
          </p:nvPr>
        </p:nvSpPr>
        <p:spPr>
          <a:xfrm>
            <a:off x="8149680" y="3988799"/>
            <a:ext cx="36975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333" name="Google Shape;128;p27"/>
          <p:cNvSpPr txBox="1"/>
          <p:nvPr>
            <p:ph type="body" sz="quarter" idx="23"/>
          </p:nvPr>
        </p:nvSpPr>
        <p:spPr>
          <a:xfrm>
            <a:off x="384120" y="4853520"/>
            <a:ext cx="36975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334" name="Google Shape;129;p27"/>
          <p:cNvSpPr txBox="1"/>
          <p:nvPr>
            <p:ph type="body" sz="quarter" idx="24"/>
          </p:nvPr>
        </p:nvSpPr>
        <p:spPr>
          <a:xfrm>
            <a:off x="4267079" y="4853520"/>
            <a:ext cx="3697501"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335" name="Google Shape;130;p27"/>
          <p:cNvSpPr txBox="1"/>
          <p:nvPr>
            <p:ph type="body" sz="quarter" idx="25"/>
          </p:nvPr>
        </p:nvSpPr>
        <p:spPr>
          <a:xfrm>
            <a:off x="8149680" y="4853520"/>
            <a:ext cx="3697500" cy="789601"/>
          </a:xfrm>
          <a:prstGeom prst="rect">
            <a:avLst/>
          </a:prstGeom>
        </p:spPr>
        <p:txBody>
          <a:bodyPr lIns="0" tIns="0" rIns="0" bIns="0">
            <a:normAutofit fontScale="100000" lnSpcReduction="0"/>
          </a:bodyPr>
          <a:lstStyle/>
          <a:p>
            <a:pPr marL="457200" indent="-342900">
              <a:lnSpc>
                <a:spcPct val="90000"/>
              </a:lnSpc>
              <a:spcBef>
                <a:spcPts val="1000"/>
              </a:spcBef>
              <a:buClr>
                <a:srgbClr val="000000"/>
              </a:buClr>
              <a:buSzPts val="2800"/>
              <a:buFont typeface="Arial"/>
              <a:buChar char="•"/>
              <a:defRPr sz="2800"/>
            </a:pPr>
          </a:p>
        </p:txBody>
      </p:sp>
      <p:sp>
        <p:nvSpPr>
          <p:cNvPr id="336"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_1/3 Farbe">
    <p:spTree>
      <p:nvGrpSpPr>
        <p:cNvPr id="1" name=""/>
        <p:cNvGrpSpPr/>
        <p:nvPr/>
      </p:nvGrpSpPr>
      <p:grpSpPr>
        <a:xfrm>
          <a:off x="0" y="0"/>
          <a:ext cx="0" cy="0"/>
          <a:chOff x="0" y="0"/>
          <a:chExt cx="0" cy="0"/>
        </a:xfrm>
      </p:grpSpPr>
      <p:sp>
        <p:nvSpPr>
          <p:cNvPr id="343" name="Google Shape;139;p29"/>
          <p:cNvSpPr/>
          <p:nvPr/>
        </p:nvSpPr>
        <p:spPr>
          <a:xfrm>
            <a:off x="0" y="-1"/>
            <a:ext cx="12192000" cy="2313002"/>
          </a:xfrm>
          <a:prstGeom prst="rect">
            <a:avLst/>
          </a:prstGeom>
          <a:solidFill>
            <a:srgbClr val="00549F"/>
          </a:solidFill>
          <a:ln w="12700">
            <a:miter lim="400000"/>
          </a:ln>
        </p:spPr>
        <p:txBody>
          <a:bodyPr lIns="0" tIns="0" rIns="0" bIns="0" anchor="ctr"/>
          <a:lstStyle/>
          <a:p>
            <a:pPr algn="ctr">
              <a:defRPr sz="1800">
                <a:solidFill>
                  <a:srgbClr val="FFFFFF"/>
                </a:solidFill>
              </a:defRPr>
            </a:pPr>
          </a:p>
        </p:txBody>
      </p:sp>
      <p:sp>
        <p:nvSpPr>
          <p:cNvPr id="344" name="Google Shape;140;p29"/>
          <p:cNvSpPr txBox="1"/>
          <p:nvPr/>
        </p:nvSpPr>
        <p:spPr>
          <a:xfrm>
            <a:off x="-1730689" y="479425"/>
            <a:ext cx="1485051" cy="12048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Institutslogo:</a:t>
            </a:r>
          </a:p>
          <a:p>
            <a:pPr indent="-63500">
              <a:buClr>
                <a:srgbClr val="000000"/>
              </a:buClr>
              <a:buSzPts val="1000"/>
              <a:buFont typeface="Arial"/>
              <a:buChar char="-"/>
              <a:defRPr sz="1000"/>
            </a:pPr>
            <a:r>
              <a:t>Dateiformat: PNG in RGB</a:t>
            </a:r>
          </a:p>
          <a:p>
            <a:pPr indent="-63500">
              <a:buClr>
                <a:srgbClr val="000000"/>
              </a:buClr>
              <a:buSzPts val="1000"/>
              <a:buFont typeface="Arial"/>
              <a:buChar char="-"/>
              <a:defRPr sz="1000"/>
            </a:pPr>
            <a:r>
              <a:t>Skalieren auf</a:t>
            </a:r>
          </a:p>
          <a:p>
            <a:pPr>
              <a:defRPr sz="1000"/>
            </a:pPr>
            <a:r>
              <a:t>     Höhe: 2,26 cm</a:t>
            </a:r>
          </a:p>
          <a:p>
            <a:pPr>
              <a:defRPr sz="1000"/>
            </a:pPr>
            <a:r>
              <a:t>     (Breite variiert je nach   </a:t>
            </a:r>
          </a:p>
          <a:p>
            <a:pPr>
              <a:defRPr sz="1000"/>
            </a:pPr>
            <a:r>
              <a:t>     Schutzraum)</a:t>
            </a:r>
          </a:p>
        </p:txBody>
      </p:sp>
      <p:sp>
        <p:nvSpPr>
          <p:cNvPr id="345" name="Title Text"/>
          <p:cNvSpPr txBox="1"/>
          <p:nvPr>
            <p:ph type="title"/>
          </p:nvPr>
        </p:nvSpPr>
        <p:spPr>
          <a:xfrm>
            <a:off x="385200" y="248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346" name="Body Level One…"/>
          <p:cNvSpPr txBox="1"/>
          <p:nvPr>
            <p:ph type="body" sz="half" idx="1"/>
          </p:nvPr>
        </p:nvSpPr>
        <p:spPr>
          <a:xfrm>
            <a:off x="384000" y="2980800"/>
            <a:ext cx="11484000" cy="1655700"/>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347" name="Google Shape;143;p29" descr="Google Shape;143;p29"/>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sp>
        <p:nvSpPr>
          <p:cNvPr id="348"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_1/3 Foto">
    <p:spTree>
      <p:nvGrpSpPr>
        <p:cNvPr id="1" name=""/>
        <p:cNvGrpSpPr/>
        <p:nvPr/>
      </p:nvGrpSpPr>
      <p:grpSpPr>
        <a:xfrm>
          <a:off x="0" y="0"/>
          <a:ext cx="0" cy="0"/>
          <a:chOff x="0" y="0"/>
          <a:chExt cx="0" cy="0"/>
        </a:xfrm>
      </p:grpSpPr>
      <p:pic>
        <p:nvPicPr>
          <p:cNvPr id="355" name="Google Shape;145;p30" descr="Google Shape;145;p30"/>
          <p:cNvPicPr>
            <a:picLocks noChangeAspect="1"/>
          </p:cNvPicPr>
          <p:nvPr/>
        </p:nvPicPr>
        <p:blipFill>
          <a:blip r:embed="rId2">
            <a:extLst/>
          </a:blip>
          <a:stretch>
            <a:fillRect/>
          </a:stretch>
        </p:blipFill>
        <p:spPr>
          <a:xfrm>
            <a:off x="0" y="1587"/>
            <a:ext cx="12192000" cy="2298701"/>
          </a:xfrm>
          <a:prstGeom prst="rect">
            <a:avLst/>
          </a:prstGeom>
          <a:ln w="12700">
            <a:miter lim="400000"/>
          </a:ln>
        </p:spPr>
      </p:pic>
      <p:sp>
        <p:nvSpPr>
          <p:cNvPr id="356" name="Google Shape;146;p30"/>
          <p:cNvSpPr txBox="1"/>
          <p:nvPr/>
        </p:nvSpPr>
        <p:spPr>
          <a:xfrm>
            <a:off x="-1657664" y="495300"/>
            <a:ext cx="1348551" cy="13445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Bild zuschneiden unter:</a:t>
            </a:r>
          </a:p>
          <a:p>
            <a:pPr marL="171450" indent="-171450">
              <a:buClr>
                <a:srgbClr val="000000"/>
              </a:buClr>
              <a:buSzPts val="1000"/>
              <a:buFont typeface="Arial"/>
              <a:buChar char="-"/>
              <a:defRPr sz="1000"/>
            </a:pPr>
            <a:r>
              <a:t>Format</a:t>
            </a:r>
          </a:p>
          <a:p>
            <a:pPr marL="171450" indent="-171450">
              <a:buClr>
                <a:srgbClr val="000000"/>
              </a:buClr>
              <a:buSzPts val="1000"/>
              <a:buFont typeface="Arial"/>
              <a:buChar char="-"/>
              <a:defRPr sz="1000"/>
            </a:pPr>
            <a:r>
              <a:t>Zuschneiden</a:t>
            </a:r>
          </a:p>
          <a:p>
            <a:pPr marL="171450" indent="-171450">
              <a:buClr>
                <a:srgbClr val="000000"/>
              </a:buClr>
              <a:buSzPts val="1000"/>
              <a:buFont typeface="Arial"/>
              <a:buChar char="-"/>
              <a:defRPr sz="1000"/>
            </a:pPr>
            <a:r>
              <a:t>Zuschneidewerkzeug horizontal bis zur ersten oder zweiten Linie ziehen</a:t>
            </a:r>
          </a:p>
        </p:txBody>
      </p:sp>
      <p:sp>
        <p:nvSpPr>
          <p:cNvPr id="357" name="Title Text"/>
          <p:cNvSpPr txBox="1"/>
          <p:nvPr>
            <p:ph type="title"/>
          </p:nvPr>
        </p:nvSpPr>
        <p:spPr>
          <a:xfrm>
            <a:off x="384000" y="248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358" name="Body Level One…"/>
          <p:cNvSpPr txBox="1"/>
          <p:nvPr>
            <p:ph type="body" sz="half" idx="1"/>
          </p:nvPr>
        </p:nvSpPr>
        <p:spPr>
          <a:xfrm>
            <a:off x="384000" y="2980800"/>
            <a:ext cx="11484000" cy="1655700"/>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359" name="Google Shape;149;p30" descr="Google Shape;149;p30"/>
          <p:cNvPicPr>
            <a:picLocks noChangeAspect="1"/>
          </p:cNvPicPr>
          <p:nvPr/>
        </p:nvPicPr>
        <p:blipFill>
          <a:blip r:embed="rId3">
            <a:extLst/>
          </a:blip>
          <a:stretch>
            <a:fillRect/>
          </a:stretch>
        </p:blipFill>
        <p:spPr>
          <a:xfrm>
            <a:off x="8557249" y="6043612"/>
            <a:ext cx="3276938" cy="814388"/>
          </a:xfrm>
          <a:prstGeom prst="rect">
            <a:avLst/>
          </a:prstGeom>
          <a:ln w="12700">
            <a:miter lim="400000"/>
          </a:ln>
        </p:spPr>
      </p:pic>
      <p:sp>
        <p:nvSpPr>
          <p:cNvPr id="360"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_2/3 Foto">
    <p:spTree>
      <p:nvGrpSpPr>
        <p:cNvPr id="1" name=""/>
        <p:cNvGrpSpPr/>
        <p:nvPr/>
      </p:nvGrpSpPr>
      <p:grpSpPr>
        <a:xfrm>
          <a:off x="0" y="0"/>
          <a:ext cx="0" cy="0"/>
          <a:chOff x="0" y="0"/>
          <a:chExt cx="0" cy="0"/>
        </a:xfrm>
      </p:grpSpPr>
      <p:sp>
        <p:nvSpPr>
          <p:cNvPr id="367" name="Google Shape;151;p31"/>
          <p:cNvSpPr txBox="1"/>
          <p:nvPr/>
        </p:nvSpPr>
        <p:spPr>
          <a:xfrm>
            <a:off x="-1657664" y="495300"/>
            <a:ext cx="1348551" cy="13445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Bild zuschneiden unter:</a:t>
            </a:r>
          </a:p>
          <a:p>
            <a:pPr marL="171450" indent="-171450">
              <a:buClr>
                <a:srgbClr val="000000"/>
              </a:buClr>
              <a:buSzPts val="1000"/>
              <a:buFont typeface="Arial"/>
              <a:buChar char="-"/>
              <a:defRPr sz="1000"/>
            </a:pPr>
            <a:r>
              <a:t>Format</a:t>
            </a:r>
          </a:p>
          <a:p>
            <a:pPr marL="171450" indent="-171450">
              <a:buClr>
                <a:srgbClr val="000000"/>
              </a:buClr>
              <a:buSzPts val="1000"/>
              <a:buFont typeface="Arial"/>
              <a:buChar char="-"/>
              <a:defRPr sz="1000"/>
            </a:pPr>
            <a:r>
              <a:t>Zuschneiden</a:t>
            </a:r>
          </a:p>
          <a:p>
            <a:pPr marL="171450" indent="-171450">
              <a:buClr>
                <a:srgbClr val="000000"/>
              </a:buClr>
              <a:buSzPts val="1000"/>
              <a:buFont typeface="Arial"/>
              <a:buChar char="-"/>
              <a:defRPr sz="1000"/>
            </a:pPr>
            <a:r>
              <a:t>Zuschneidewerkzeug horizontal bis zur ersten oder zweiten Linie ziehen</a:t>
            </a:r>
          </a:p>
        </p:txBody>
      </p:sp>
      <p:pic>
        <p:nvPicPr>
          <p:cNvPr id="368" name="Google Shape;152;p31" descr="Google Shape;152;p31"/>
          <p:cNvPicPr>
            <a:picLocks noChangeAspect="1"/>
          </p:cNvPicPr>
          <p:nvPr/>
        </p:nvPicPr>
        <p:blipFill>
          <a:blip r:embed="rId2">
            <a:extLst/>
          </a:blip>
          <a:stretch>
            <a:fillRect/>
          </a:stretch>
        </p:blipFill>
        <p:spPr>
          <a:xfrm>
            <a:off x="0" y="0"/>
            <a:ext cx="12192000" cy="4533900"/>
          </a:xfrm>
          <a:prstGeom prst="rect">
            <a:avLst/>
          </a:prstGeom>
          <a:ln w="12700">
            <a:miter lim="400000"/>
          </a:ln>
        </p:spPr>
      </p:pic>
      <p:sp>
        <p:nvSpPr>
          <p:cNvPr id="369" name="Title Text"/>
          <p:cNvSpPr txBox="1"/>
          <p:nvPr>
            <p:ph type="title"/>
          </p:nvPr>
        </p:nvSpPr>
        <p:spPr>
          <a:xfrm>
            <a:off x="384000" y="473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370" name="Body Level One…"/>
          <p:cNvSpPr txBox="1"/>
          <p:nvPr>
            <p:ph type="body" sz="quarter" idx="1"/>
          </p:nvPr>
        </p:nvSpPr>
        <p:spPr>
          <a:xfrm>
            <a:off x="384000" y="5230800"/>
            <a:ext cx="11484000" cy="812701"/>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371" name="Google Shape;155;p31" descr="Google Shape;155;p31"/>
          <p:cNvPicPr>
            <a:picLocks noChangeAspect="1"/>
          </p:cNvPicPr>
          <p:nvPr/>
        </p:nvPicPr>
        <p:blipFill>
          <a:blip r:embed="rId3">
            <a:extLst/>
          </a:blip>
          <a:stretch>
            <a:fillRect/>
          </a:stretch>
        </p:blipFill>
        <p:spPr>
          <a:xfrm>
            <a:off x="8557249" y="6043612"/>
            <a:ext cx="3276938" cy="814388"/>
          </a:xfrm>
          <a:prstGeom prst="rect">
            <a:avLst/>
          </a:prstGeom>
          <a:ln w="12700">
            <a:miter lim="400000"/>
          </a:ln>
        </p:spPr>
      </p:pic>
      <p:sp>
        <p:nvSpPr>
          <p:cNvPr id="372"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_Text">
    <p:spTree>
      <p:nvGrpSpPr>
        <p:cNvPr id="1" name=""/>
        <p:cNvGrpSpPr/>
        <p:nvPr/>
      </p:nvGrpSpPr>
      <p:grpSpPr>
        <a:xfrm>
          <a:off x="0" y="0"/>
          <a:ext cx="0" cy="0"/>
          <a:chOff x="0" y="0"/>
          <a:chExt cx="0" cy="0"/>
        </a:xfrm>
      </p:grpSpPr>
      <p:sp>
        <p:nvSpPr>
          <p:cNvPr id="379" name="Google Shape;157;p32"/>
          <p:cNvSpPr/>
          <p:nvPr/>
        </p:nvSpPr>
        <p:spPr>
          <a:xfrm>
            <a:off x="360363" y="6040437"/>
            <a:ext cx="11484000" cy="1"/>
          </a:xfrm>
          <a:prstGeom prst="line">
            <a:avLst/>
          </a:prstGeom>
          <a:ln>
            <a:solidFill>
              <a:srgbClr val="000000"/>
            </a:solidFill>
            <a:miter/>
          </a:ln>
        </p:spPr>
        <p:txBody>
          <a:bodyPr lIns="0" tIns="0" rIns="0" bIns="0"/>
          <a:lstStyle/>
          <a:p>
            <a:pPr/>
          </a:p>
        </p:txBody>
      </p:sp>
      <p:sp>
        <p:nvSpPr>
          <p:cNvPr id="380" name="Title Text"/>
          <p:cNvSpPr txBox="1"/>
          <p:nvPr>
            <p:ph type="title"/>
          </p:nvPr>
        </p:nvSpPr>
        <p:spPr>
          <a:xfrm>
            <a:off x="384000" y="248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381" name="Body Level One…"/>
          <p:cNvSpPr txBox="1"/>
          <p:nvPr>
            <p:ph type="body" sz="half" idx="1"/>
          </p:nvPr>
        </p:nvSpPr>
        <p:spPr>
          <a:xfrm>
            <a:off x="384000" y="2980800"/>
            <a:ext cx="11484000" cy="1655700"/>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382" name="Google Shape;160;p32" descr="Google Shape;160;p32"/>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sp>
        <p:nvSpPr>
          <p:cNvPr id="383"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_mittig, horizontale Linie">
    <p:spTree>
      <p:nvGrpSpPr>
        <p:cNvPr id="1" name=""/>
        <p:cNvGrpSpPr/>
        <p:nvPr/>
      </p:nvGrpSpPr>
      <p:grpSpPr>
        <a:xfrm>
          <a:off x="0" y="0"/>
          <a:ext cx="0" cy="0"/>
          <a:chOff x="0" y="0"/>
          <a:chExt cx="0" cy="0"/>
        </a:xfrm>
      </p:grpSpPr>
      <p:sp>
        <p:nvSpPr>
          <p:cNvPr id="390" name="Google Shape;162;p33"/>
          <p:cNvSpPr/>
          <p:nvPr/>
        </p:nvSpPr>
        <p:spPr>
          <a:xfrm>
            <a:off x="392113" y="3036888"/>
            <a:ext cx="11484000" cy="1"/>
          </a:xfrm>
          <a:prstGeom prst="line">
            <a:avLst/>
          </a:prstGeom>
          <a:ln>
            <a:solidFill>
              <a:srgbClr val="000000"/>
            </a:solidFill>
            <a:miter/>
          </a:ln>
        </p:spPr>
        <p:txBody>
          <a:bodyPr lIns="0" tIns="0" rIns="0" bIns="0"/>
          <a:lstStyle/>
          <a:p>
            <a:pPr/>
          </a:p>
        </p:txBody>
      </p:sp>
      <p:sp>
        <p:nvSpPr>
          <p:cNvPr id="391" name="Title Text"/>
          <p:cNvSpPr txBox="1"/>
          <p:nvPr>
            <p:ph type="title"/>
          </p:nvPr>
        </p:nvSpPr>
        <p:spPr>
          <a:xfrm>
            <a:off x="384000" y="2487599"/>
            <a:ext cx="11484000" cy="540001"/>
          </a:xfrm>
          <a:prstGeom prst="rect">
            <a:avLst/>
          </a:prstGeom>
        </p:spPr>
        <p:txBody>
          <a:bodyPr lIns="0" tIns="0" rIns="0" bIns="0" anchor="t">
            <a:normAutofit fontScale="100000" lnSpcReduction="0"/>
          </a:bodyPr>
          <a:lstStyle>
            <a:lvl1pPr>
              <a:lnSpc>
                <a:spcPct val="90000"/>
              </a:lnSpc>
              <a:defRPr b="1" sz="3200">
                <a:solidFill>
                  <a:srgbClr val="00549F"/>
                </a:solidFill>
              </a:defRPr>
            </a:lvl1pPr>
          </a:lstStyle>
          <a:p>
            <a:pPr/>
            <a:r>
              <a:t>Title Text</a:t>
            </a:r>
          </a:p>
        </p:txBody>
      </p:sp>
      <p:sp>
        <p:nvSpPr>
          <p:cNvPr id="392" name="Body Level One…"/>
          <p:cNvSpPr txBox="1"/>
          <p:nvPr>
            <p:ph type="body" sz="half" idx="1"/>
          </p:nvPr>
        </p:nvSpPr>
        <p:spPr>
          <a:xfrm>
            <a:off x="384000" y="3196800"/>
            <a:ext cx="11484000" cy="1655700"/>
          </a:xfrm>
          <a:prstGeom prst="rect">
            <a:avLst/>
          </a:prstGeom>
        </p:spPr>
        <p:txBody>
          <a:bodyPr lIns="0" tIns="0" rIns="0" bIns="0">
            <a:normAutofit fontScale="100000" lnSpcReduction="0"/>
          </a:bodyPr>
          <a:lstStyle>
            <a:lvl1pPr>
              <a:defRPr sz="2000"/>
            </a:lvl1pPr>
            <a:lvl2pPr>
              <a:defRPr sz="2000"/>
            </a:lvl2pPr>
            <a:lvl3pPr>
              <a:defRPr sz="2000"/>
            </a:lvl3pPr>
            <a:lvl4pPr>
              <a:defRPr sz="2000"/>
            </a:lvl4pPr>
            <a:lvl5pPr>
              <a:defRPr sz="2000"/>
            </a:lvl5pPr>
          </a:lstStyle>
          <a:p>
            <a:pPr/>
            <a:r>
              <a:t>Body Level One</a:t>
            </a:r>
          </a:p>
          <a:p>
            <a:pPr lvl="1"/>
            <a:r>
              <a:t>Body Level Two</a:t>
            </a:r>
          </a:p>
          <a:p>
            <a:pPr lvl="2"/>
            <a:r>
              <a:t>Body Level Three</a:t>
            </a:r>
          </a:p>
          <a:p>
            <a:pPr lvl="3"/>
            <a:r>
              <a:t>Body Level Four</a:t>
            </a:r>
          </a:p>
          <a:p>
            <a:pPr lvl="4"/>
            <a:r>
              <a:t>Body Level Five</a:t>
            </a:r>
          </a:p>
        </p:txBody>
      </p:sp>
      <p:pic>
        <p:nvPicPr>
          <p:cNvPr id="393" name="Google Shape;165;p33" descr="Google Shape;165;p33"/>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sp>
        <p:nvSpPr>
          <p:cNvPr id="394"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_Aufzählung">
    <p:spTree>
      <p:nvGrpSpPr>
        <p:cNvPr id="1" name=""/>
        <p:cNvGrpSpPr/>
        <p:nvPr/>
      </p:nvGrpSpPr>
      <p:grpSpPr>
        <a:xfrm>
          <a:off x="0" y="0"/>
          <a:ext cx="0" cy="0"/>
          <a:chOff x="0" y="0"/>
          <a:chExt cx="0" cy="0"/>
        </a:xfrm>
      </p:grpSpPr>
      <p:sp>
        <p:nvSpPr>
          <p:cNvPr id="401" name="Google Shape;132;p28"/>
          <p:cNvSpPr txBox="1"/>
          <p:nvPr/>
        </p:nvSpPr>
        <p:spPr>
          <a:xfrm>
            <a:off x="1195387" y="6227762"/>
            <a:ext cx="7002600" cy="324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0549F"/>
                </a:solidFill>
              </a:defRPr>
            </a:lvl1pPr>
          </a:lstStyle>
          <a:p>
            <a:pPr/>
            <a:r>
              <a:t>WILLM: A System for Academic Writing Improvement based on LLMs |  Ben Thillen  |  DBIS |  12.11.2024</a:t>
            </a:r>
          </a:p>
        </p:txBody>
      </p:sp>
      <p:sp>
        <p:nvSpPr>
          <p:cNvPr id="402" name="Google Shape;133;p28"/>
          <p:cNvSpPr/>
          <p:nvPr/>
        </p:nvSpPr>
        <p:spPr>
          <a:xfrm>
            <a:off x="360363" y="814387"/>
            <a:ext cx="11484000" cy="1"/>
          </a:xfrm>
          <a:prstGeom prst="line">
            <a:avLst/>
          </a:prstGeom>
          <a:ln>
            <a:solidFill>
              <a:srgbClr val="000000"/>
            </a:solidFill>
            <a:miter/>
          </a:ln>
        </p:spPr>
        <p:txBody>
          <a:bodyPr lIns="0" tIns="0" rIns="0" bIns="0"/>
          <a:lstStyle/>
          <a:p>
            <a:pPr/>
          </a:p>
        </p:txBody>
      </p:sp>
      <p:sp>
        <p:nvSpPr>
          <p:cNvPr id="403" name="Google Shape;134;p28"/>
          <p:cNvSpPr/>
          <p:nvPr/>
        </p:nvSpPr>
        <p:spPr>
          <a:xfrm>
            <a:off x="360363" y="6040437"/>
            <a:ext cx="11484000" cy="1"/>
          </a:xfrm>
          <a:prstGeom prst="line">
            <a:avLst/>
          </a:prstGeom>
          <a:ln>
            <a:solidFill>
              <a:srgbClr val="000000"/>
            </a:solidFill>
            <a:miter/>
          </a:ln>
        </p:spPr>
        <p:txBody>
          <a:bodyPr lIns="0" tIns="0" rIns="0" bIns="0"/>
          <a:lstStyle/>
          <a:p>
            <a:pPr/>
          </a:p>
        </p:txBody>
      </p:sp>
      <p:sp>
        <p:nvSpPr>
          <p:cNvPr id="404" name="Google Shape;135;p28"/>
          <p:cNvSpPr txBox="1"/>
          <p:nvPr/>
        </p:nvSpPr>
        <p:spPr>
          <a:xfrm>
            <a:off x="-1738626" y="5073650"/>
            <a:ext cx="1577151" cy="16239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Fußzeile anpassen:</a:t>
            </a:r>
          </a:p>
          <a:p>
            <a:pPr>
              <a:defRPr sz="1000"/>
            </a:pPr>
            <a:r>
              <a:t>Zum Anpassen der Fußzeile unter Karteireiter Ansicht &gt; auf Folienmaster klicken. Links in der Übersicht auf die oberste Folie scrollen und dort in die Fußzeile klicken. So wird der Text automatisch auf allen Seiten angepasst.</a:t>
            </a:r>
          </a:p>
        </p:txBody>
      </p:sp>
      <p:sp>
        <p:nvSpPr>
          <p:cNvPr id="405" name="Slide Number"/>
          <p:cNvSpPr txBox="1"/>
          <p:nvPr>
            <p:ph type="sldNum" sz="quarter" idx="2"/>
          </p:nvPr>
        </p:nvSpPr>
        <p:spPr>
          <a:prstGeom prst="rect">
            <a:avLst/>
          </a:prstGeom>
        </p:spPr>
        <p:txBody>
          <a:bodyPr/>
          <a:lstStyle/>
          <a:p>
            <a:pPr/>
            <a:fld id="{86CB4B4D-7CA3-9044-876B-883B54F8677D}" type="slidenum"/>
          </a:p>
        </p:txBody>
      </p:sp>
      <p:pic>
        <p:nvPicPr>
          <p:cNvPr id="406" name="Google Shape;137;p28" descr="Google Shape;137;p28"/>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sp>
        <p:nvSpPr>
          <p:cNvPr id="407" name="Body Level One…"/>
          <p:cNvSpPr txBox="1"/>
          <p:nvPr>
            <p:ph type="body" idx="1"/>
          </p:nvPr>
        </p:nvSpPr>
        <p:spPr>
          <a:xfrm>
            <a:off x="373038" y="1684800"/>
            <a:ext cx="11484000" cy="3193201"/>
          </a:xfrm>
          <a:prstGeom prst="rect">
            <a:avLst/>
          </a:prstGeom>
        </p:spPr>
        <p:txBody>
          <a:bodyPr lIns="0" tIns="0" rIns="0" bIns="0">
            <a:normAutofit fontScale="100000" lnSpcReduction="0"/>
          </a:bodyPr>
          <a:lstStyle>
            <a:lvl1pPr marL="457200" indent="-342900">
              <a:buClr>
                <a:srgbClr val="00549F"/>
              </a:buClr>
              <a:buSzPts val="1800"/>
              <a:buFont typeface="Arial"/>
              <a:buChar char="•"/>
              <a:defRPr sz="1800"/>
            </a:lvl1pPr>
            <a:lvl2pPr marL="955675" indent="-371475">
              <a:buClr>
                <a:srgbClr val="00549F"/>
              </a:buClr>
              <a:buSzPts val="1800"/>
              <a:buFont typeface="Arial"/>
              <a:buChar char="−"/>
              <a:defRPr sz="1800"/>
            </a:lvl2pPr>
            <a:lvl3pPr marL="1410335" indent="-348615">
              <a:buClr>
                <a:srgbClr val="00549F"/>
              </a:buClr>
              <a:buSzPts val="1800"/>
              <a:buFont typeface="Arial"/>
              <a:buChar char="▪"/>
              <a:defRPr sz="1800"/>
            </a:lvl3pPr>
            <a:lvl4pPr marL="1870075" indent="-371475">
              <a:buClr>
                <a:srgbClr val="00549F"/>
              </a:buClr>
              <a:buSzPts val="1800"/>
              <a:buFont typeface="Arial"/>
              <a:buChar char="-"/>
              <a:defRPr sz="1800"/>
            </a:lvl4pPr>
            <a:lvl5pPr marL="2327275" indent="-371475">
              <a:buClr>
                <a:srgbClr val="00549F"/>
              </a:buClr>
              <a:buSzPts val="1800"/>
              <a:buFont typeface="Arial"/>
              <a:buChar char="-"/>
              <a:defRPr sz="1800"/>
            </a:lvl5pPr>
          </a:lstStyle>
          <a:p>
            <a:pPr/>
            <a:r>
              <a:t>Body Level One</a:t>
            </a:r>
          </a:p>
          <a:p>
            <a:pPr lvl="1"/>
            <a:r>
              <a:t>Body Level Two</a:t>
            </a:r>
          </a:p>
          <a:p>
            <a:pPr lvl="2"/>
            <a:r>
              <a:t>Body Level Three</a:t>
            </a:r>
          </a:p>
          <a:p>
            <a:pPr lvl="3"/>
            <a:r>
              <a:t>Body Level Four</a:t>
            </a:r>
          </a:p>
          <a:p>
            <a:pPr lvl="4"/>
            <a:r>
              <a:t>Body Level Five</a:t>
            </a:r>
          </a:p>
        </p:txBody>
      </p:sp>
      <p:sp>
        <p:nvSpPr>
          <p:cNvPr id="408"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
        <p:nvSpPr>
          <p:cNvPr id="409" name="Google Shape;169;p34"/>
          <p:cNvSpPr txBox="1"/>
          <p:nvPr>
            <p:ph type="body" sz="quarter" idx="21"/>
          </p:nvPr>
        </p:nvSpPr>
        <p:spPr>
          <a:xfrm>
            <a:off x="384000" y="1152000"/>
            <a:ext cx="11484000" cy="252001"/>
          </a:xfrm>
          <a:prstGeom prst="rect">
            <a:avLst/>
          </a:prstGeom>
        </p:spPr>
        <p:txBody>
          <a:bodyPr lIns="0" tIns="0" rIns="0" bIns="0">
            <a:normAutofit fontScale="100000" lnSpcReduction="0"/>
          </a:bodyPr>
          <a:lstStyle/>
          <a:p>
            <a:pPr marL="228600">
              <a:defRPr b="1" sz="2000"/>
            </a:pPr>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_Text">
    <p:spTree>
      <p:nvGrpSpPr>
        <p:cNvPr id="1" name=""/>
        <p:cNvGrpSpPr/>
        <p:nvPr/>
      </p:nvGrpSpPr>
      <p:grpSpPr>
        <a:xfrm>
          <a:off x="0" y="0"/>
          <a:ext cx="0" cy="0"/>
          <a:chOff x="0" y="0"/>
          <a:chExt cx="0" cy="0"/>
        </a:xfrm>
      </p:grpSpPr>
      <p:sp>
        <p:nvSpPr>
          <p:cNvPr id="416" name="Google Shape;132;p28"/>
          <p:cNvSpPr txBox="1"/>
          <p:nvPr/>
        </p:nvSpPr>
        <p:spPr>
          <a:xfrm>
            <a:off x="1195387" y="6227762"/>
            <a:ext cx="7002600" cy="324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0549F"/>
                </a:solidFill>
              </a:defRPr>
            </a:lvl1pPr>
          </a:lstStyle>
          <a:p>
            <a:pPr/>
            <a:r>
              <a:t>WILLM: A System for Academic Writing Improvement based on LLMs |  Ben Thillen  |  DBIS |  12.11.2024</a:t>
            </a:r>
          </a:p>
        </p:txBody>
      </p:sp>
      <p:sp>
        <p:nvSpPr>
          <p:cNvPr id="417" name="Google Shape;133;p28"/>
          <p:cNvSpPr/>
          <p:nvPr/>
        </p:nvSpPr>
        <p:spPr>
          <a:xfrm>
            <a:off x="360363" y="814387"/>
            <a:ext cx="11484000" cy="1"/>
          </a:xfrm>
          <a:prstGeom prst="line">
            <a:avLst/>
          </a:prstGeom>
          <a:ln>
            <a:solidFill>
              <a:srgbClr val="000000"/>
            </a:solidFill>
            <a:miter/>
          </a:ln>
        </p:spPr>
        <p:txBody>
          <a:bodyPr lIns="0" tIns="0" rIns="0" bIns="0"/>
          <a:lstStyle/>
          <a:p>
            <a:pPr/>
          </a:p>
        </p:txBody>
      </p:sp>
      <p:sp>
        <p:nvSpPr>
          <p:cNvPr id="418" name="Google Shape;134;p28"/>
          <p:cNvSpPr/>
          <p:nvPr/>
        </p:nvSpPr>
        <p:spPr>
          <a:xfrm>
            <a:off x="360363" y="6040437"/>
            <a:ext cx="11484000" cy="1"/>
          </a:xfrm>
          <a:prstGeom prst="line">
            <a:avLst/>
          </a:prstGeom>
          <a:ln>
            <a:solidFill>
              <a:srgbClr val="000000"/>
            </a:solidFill>
            <a:miter/>
          </a:ln>
        </p:spPr>
        <p:txBody>
          <a:bodyPr lIns="0" tIns="0" rIns="0" bIns="0"/>
          <a:lstStyle/>
          <a:p>
            <a:pPr/>
          </a:p>
        </p:txBody>
      </p:sp>
      <p:sp>
        <p:nvSpPr>
          <p:cNvPr id="419" name="Google Shape;135;p28"/>
          <p:cNvSpPr txBox="1"/>
          <p:nvPr/>
        </p:nvSpPr>
        <p:spPr>
          <a:xfrm>
            <a:off x="-1738626" y="5073650"/>
            <a:ext cx="1577151" cy="16239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Fußzeile anpassen:</a:t>
            </a:r>
          </a:p>
          <a:p>
            <a:pPr>
              <a:defRPr sz="1000"/>
            </a:pPr>
            <a:r>
              <a:t>Zum Anpassen der Fußzeile unter Karteireiter Ansicht &gt; auf Folienmaster klicken. Links in der Übersicht auf die oberste Folie scrollen und dort in die Fußzeile klicken. So wird der Text automatisch auf allen Seiten angepasst.</a:t>
            </a:r>
          </a:p>
        </p:txBody>
      </p:sp>
      <p:sp>
        <p:nvSpPr>
          <p:cNvPr id="420" name="Slide Number"/>
          <p:cNvSpPr txBox="1"/>
          <p:nvPr>
            <p:ph type="sldNum" sz="quarter" idx="2"/>
          </p:nvPr>
        </p:nvSpPr>
        <p:spPr>
          <a:prstGeom prst="rect">
            <a:avLst/>
          </a:prstGeom>
        </p:spPr>
        <p:txBody>
          <a:bodyPr/>
          <a:lstStyle/>
          <a:p>
            <a:pPr/>
            <a:fld id="{86CB4B4D-7CA3-9044-876B-883B54F8677D}" type="slidenum"/>
          </a:p>
        </p:txBody>
      </p:sp>
      <p:pic>
        <p:nvPicPr>
          <p:cNvPr id="421" name="Google Shape;137;p28" descr="Google Shape;137;p28"/>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sp>
        <p:nvSpPr>
          <p:cNvPr id="422"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
        <p:nvSpPr>
          <p:cNvPr id="423" name="Body Level One…"/>
          <p:cNvSpPr txBox="1"/>
          <p:nvPr>
            <p:ph type="body" sz="quarter" idx="1"/>
          </p:nvPr>
        </p:nvSpPr>
        <p:spPr>
          <a:xfrm>
            <a:off x="384000" y="1152000"/>
            <a:ext cx="11484000" cy="252001"/>
          </a:xfrm>
          <a:prstGeom prst="rect">
            <a:avLst/>
          </a:prstGeom>
        </p:spPr>
        <p:txBody>
          <a:bodyPr lIns="0" tIns="0" rIns="0" bIns="0">
            <a:normAutofit fontScale="100000" lnSpcReduction="0"/>
          </a:bodyPr>
          <a:lstStyle>
            <a:lvl1pPr marL="228600">
              <a:defRPr b="1" sz="2000"/>
            </a:lvl1pPr>
            <a:lvl2pPr marL="952500" indent="-381000">
              <a:buSzPts val="2000"/>
              <a:buChar char="−"/>
              <a:defRPr b="1" sz="2000"/>
            </a:lvl2pPr>
            <a:lvl3pPr marL="1449069" indent="-387350">
              <a:buSzPts val="2000"/>
              <a:buChar char="−"/>
              <a:defRPr b="1" sz="2000"/>
            </a:lvl3pPr>
            <a:lvl4pPr marL="1911350" indent="-412750">
              <a:buSzPts val="2000"/>
              <a:buChar char="▪"/>
              <a:defRPr b="1" sz="2000"/>
            </a:lvl4pPr>
            <a:lvl5pPr marL="2368550" indent="-412750">
              <a:buSzPts val="2000"/>
              <a:buChar char="-"/>
              <a:defRPr b="1" sz="2000"/>
            </a:lvl5pPr>
          </a:lstStyle>
          <a:p>
            <a:pPr/>
            <a:r>
              <a:t>Body Level One</a:t>
            </a:r>
          </a:p>
          <a:p>
            <a:pPr lvl="1"/>
            <a:r>
              <a:t>Body Level Two</a:t>
            </a:r>
          </a:p>
          <a:p>
            <a:pPr lvl="2"/>
            <a:r>
              <a:t>Body Level Three</a:t>
            </a:r>
          </a:p>
          <a:p>
            <a:pPr lvl="3"/>
            <a:r>
              <a:t>Body Level Four</a:t>
            </a:r>
          </a:p>
          <a:p>
            <a:pPr lvl="4"/>
            <a:r>
              <a:t>Body Level Five</a:t>
            </a:r>
          </a:p>
        </p:txBody>
      </p:sp>
      <p:sp>
        <p:nvSpPr>
          <p:cNvPr id="424" name="Google Shape;173;p35"/>
          <p:cNvSpPr txBox="1"/>
          <p:nvPr>
            <p:ph type="body" idx="21"/>
          </p:nvPr>
        </p:nvSpPr>
        <p:spPr>
          <a:xfrm>
            <a:off x="383117" y="1684801"/>
            <a:ext cx="11484000" cy="3751201"/>
          </a:xfrm>
          <a:prstGeom prst="rect">
            <a:avLst/>
          </a:prstGeom>
        </p:spPr>
        <p:txBody>
          <a:bodyPr lIns="0" tIns="0" rIns="0" bIns="0">
            <a:normAutofit fontScale="100000" lnSpcReduction="0"/>
          </a:bodyPr>
          <a:lstStyle/>
          <a:p>
            <a:pPr marL="228600">
              <a:defRPr sz="1800"/>
            </a:pPr>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_Text_Bild">
    <p:spTree>
      <p:nvGrpSpPr>
        <p:cNvPr id="1" name=""/>
        <p:cNvGrpSpPr/>
        <p:nvPr/>
      </p:nvGrpSpPr>
      <p:grpSpPr>
        <a:xfrm>
          <a:off x="0" y="0"/>
          <a:ext cx="0" cy="0"/>
          <a:chOff x="0" y="0"/>
          <a:chExt cx="0" cy="0"/>
        </a:xfrm>
      </p:grpSpPr>
      <p:sp>
        <p:nvSpPr>
          <p:cNvPr id="431" name="Google Shape;132;p28"/>
          <p:cNvSpPr txBox="1"/>
          <p:nvPr/>
        </p:nvSpPr>
        <p:spPr>
          <a:xfrm>
            <a:off x="1195387" y="6227762"/>
            <a:ext cx="7002600" cy="324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0549F"/>
                </a:solidFill>
              </a:defRPr>
            </a:lvl1pPr>
          </a:lstStyle>
          <a:p>
            <a:pPr/>
            <a:r>
              <a:t>WILLM: A System for Academic Writing Improvement based on LLMs |  Ben Thillen  |  DBIS |  12.11.2024</a:t>
            </a:r>
          </a:p>
        </p:txBody>
      </p:sp>
      <p:sp>
        <p:nvSpPr>
          <p:cNvPr id="432" name="Google Shape;133;p28"/>
          <p:cNvSpPr/>
          <p:nvPr/>
        </p:nvSpPr>
        <p:spPr>
          <a:xfrm>
            <a:off x="360363" y="814387"/>
            <a:ext cx="11484000" cy="1"/>
          </a:xfrm>
          <a:prstGeom prst="line">
            <a:avLst/>
          </a:prstGeom>
          <a:ln>
            <a:solidFill>
              <a:srgbClr val="000000"/>
            </a:solidFill>
            <a:miter/>
          </a:ln>
        </p:spPr>
        <p:txBody>
          <a:bodyPr lIns="0" tIns="0" rIns="0" bIns="0"/>
          <a:lstStyle/>
          <a:p>
            <a:pPr/>
          </a:p>
        </p:txBody>
      </p:sp>
      <p:sp>
        <p:nvSpPr>
          <p:cNvPr id="433" name="Google Shape;134;p28"/>
          <p:cNvSpPr/>
          <p:nvPr/>
        </p:nvSpPr>
        <p:spPr>
          <a:xfrm>
            <a:off x="360363" y="6040437"/>
            <a:ext cx="11484000" cy="1"/>
          </a:xfrm>
          <a:prstGeom prst="line">
            <a:avLst/>
          </a:prstGeom>
          <a:ln>
            <a:solidFill>
              <a:srgbClr val="000000"/>
            </a:solidFill>
            <a:miter/>
          </a:ln>
        </p:spPr>
        <p:txBody>
          <a:bodyPr lIns="0" tIns="0" rIns="0" bIns="0"/>
          <a:lstStyle/>
          <a:p>
            <a:pPr/>
          </a:p>
        </p:txBody>
      </p:sp>
      <p:sp>
        <p:nvSpPr>
          <p:cNvPr id="434" name="Google Shape;135;p28"/>
          <p:cNvSpPr txBox="1"/>
          <p:nvPr/>
        </p:nvSpPr>
        <p:spPr>
          <a:xfrm>
            <a:off x="-1738626" y="5073650"/>
            <a:ext cx="1577151" cy="16239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Fußzeile anpassen:</a:t>
            </a:r>
          </a:p>
          <a:p>
            <a:pPr>
              <a:defRPr sz="1000"/>
            </a:pPr>
            <a:r>
              <a:t>Zum Anpassen der Fußzeile unter Karteireiter Ansicht &gt; auf Folienmaster klicken. Links in der Übersicht auf die oberste Folie scrollen und dort in die Fußzeile klicken. So wird der Text automatisch auf allen Seiten angepasst.</a:t>
            </a:r>
          </a:p>
        </p:txBody>
      </p:sp>
      <p:sp>
        <p:nvSpPr>
          <p:cNvPr id="435" name="Slide Number"/>
          <p:cNvSpPr txBox="1"/>
          <p:nvPr>
            <p:ph type="sldNum" sz="quarter" idx="2"/>
          </p:nvPr>
        </p:nvSpPr>
        <p:spPr>
          <a:prstGeom prst="rect">
            <a:avLst/>
          </a:prstGeom>
        </p:spPr>
        <p:txBody>
          <a:bodyPr/>
          <a:lstStyle/>
          <a:p>
            <a:pPr/>
            <a:fld id="{86CB4B4D-7CA3-9044-876B-883B54F8677D}" type="slidenum"/>
          </a:p>
        </p:txBody>
      </p:sp>
      <p:pic>
        <p:nvPicPr>
          <p:cNvPr id="436" name="Google Shape;137;p28" descr="Google Shape;137;p28"/>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pic>
        <p:nvPicPr>
          <p:cNvPr id="437" name="Google Shape;175;p36" descr="Google Shape;175;p36"/>
          <p:cNvPicPr>
            <a:picLocks noChangeAspect="1"/>
          </p:cNvPicPr>
          <p:nvPr/>
        </p:nvPicPr>
        <p:blipFill>
          <a:blip r:embed="rId3">
            <a:extLst/>
          </a:blip>
          <a:stretch>
            <a:fillRect/>
          </a:stretch>
        </p:blipFill>
        <p:spPr>
          <a:xfrm>
            <a:off x="8207375" y="1684338"/>
            <a:ext cx="3635375" cy="3989388"/>
          </a:xfrm>
          <a:prstGeom prst="rect">
            <a:avLst/>
          </a:prstGeom>
          <a:ln w="12700">
            <a:miter lim="400000"/>
          </a:ln>
        </p:spPr>
      </p:pic>
      <p:sp>
        <p:nvSpPr>
          <p:cNvPr id="438" name="Body Level One…"/>
          <p:cNvSpPr txBox="1"/>
          <p:nvPr>
            <p:ph type="body" sz="half" idx="1"/>
          </p:nvPr>
        </p:nvSpPr>
        <p:spPr>
          <a:xfrm>
            <a:off x="383116" y="1684800"/>
            <a:ext cx="7560001" cy="3986101"/>
          </a:xfrm>
          <a:prstGeom prst="rect">
            <a:avLst/>
          </a:prstGeom>
        </p:spPr>
        <p:txBody>
          <a:bodyPr lIns="0" tIns="0" rIns="0" bIns="0">
            <a:normAutofit fontScale="100000" lnSpcReduction="0"/>
          </a:bodyPr>
          <a:lstStyle>
            <a:lvl1pPr marL="457200" indent="-342900">
              <a:buClr>
                <a:srgbClr val="00549F"/>
              </a:buClr>
              <a:buSzPts val="1800"/>
              <a:buFont typeface="Arial"/>
              <a:buChar char="•"/>
              <a:defRPr sz="1800"/>
            </a:lvl1pPr>
            <a:lvl2pPr marL="955675" indent="-371475">
              <a:buClr>
                <a:srgbClr val="00549F"/>
              </a:buClr>
              <a:buSzPts val="1800"/>
              <a:buFont typeface="Arial"/>
              <a:buChar char="−"/>
              <a:defRPr sz="1800"/>
            </a:lvl2pPr>
            <a:lvl3pPr marL="1410335" indent="-348615">
              <a:buClr>
                <a:srgbClr val="00549F"/>
              </a:buClr>
              <a:buSzPts val="1800"/>
              <a:buFont typeface="Arial"/>
              <a:buChar char="▪"/>
              <a:defRPr sz="1800"/>
            </a:lvl3pPr>
            <a:lvl4pPr marL="1870075" indent="-371475">
              <a:buClr>
                <a:srgbClr val="00549F"/>
              </a:buClr>
              <a:buSzPts val="1800"/>
              <a:buFont typeface="Arial"/>
              <a:buChar char="-"/>
              <a:defRPr sz="1800"/>
            </a:lvl4pPr>
            <a:lvl5pPr marL="2327275" indent="-371475">
              <a:buClr>
                <a:srgbClr val="00549F"/>
              </a:buClr>
              <a:buSzPts val="1800"/>
              <a:buFont typeface="Arial"/>
              <a:buChar char="-"/>
              <a:defRPr sz="1800"/>
            </a:lvl5pPr>
          </a:lstStyle>
          <a:p>
            <a:pPr/>
            <a:r>
              <a:t>Body Level One</a:t>
            </a:r>
          </a:p>
          <a:p>
            <a:pPr lvl="1"/>
            <a:r>
              <a:t>Body Level Two</a:t>
            </a:r>
          </a:p>
          <a:p>
            <a:pPr lvl="2"/>
            <a:r>
              <a:t>Body Level Three</a:t>
            </a:r>
          </a:p>
          <a:p>
            <a:pPr lvl="3"/>
            <a:r>
              <a:t>Body Level Four</a:t>
            </a:r>
          </a:p>
          <a:p>
            <a:pPr lvl="4"/>
            <a:r>
              <a:t>Body Level Five</a:t>
            </a:r>
          </a:p>
        </p:txBody>
      </p:sp>
      <p:sp>
        <p:nvSpPr>
          <p:cNvPr id="439"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
        <p:nvSpPr>
          <p:cNvPr id="440" name="Google Shape;178;p36"/>
          <p:cNvSpPr txBox="1"/>
          <p:nvPr>
            <p:ph type="body" sz="quarter" idx="21"/>
          </p:nvPr>
        </p:nvSpPr>
        <p:spPr>
          <a:xfrm>
            <a:off x="384000" y="1152000"/>
            <a:ext cx="11484000" cy="252001"/>
          </a:xfrm>
          <a:prstGeom prst="rect">
            <a:avLst/>
          </a:prstGeom>
        </p:spPr>
        <p:txBody>
          <a:bodyPr lIns="0" tIns="0" rIns="0" bIns="0">
            <a:normAutofit fontScale="100000" lnSpcReduction="0"/>
          </a:bodyPr>
          <a:lstStyle/>
          <a:p>
            <a:pPr marL="228600">
              <a:defRPr b="1" sz="2000"/>
            </a:pPr>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_Bild">
    <p:spTree>
      <p:nvGrpSpPr>
        <p:cNvPr id="1" name=""/>
        <p:cNvGrpSpPr/>
        <p:nvPr/>
      </p:nvGrpSpPr>
      <p:grpSpPr>
        <a:xfrm>
          <a:off x="0" y="0"/>
          <a:ext cx="0" cy="0"/>
          <a:chOff x="0" y="0"/>
          <a:chExt cx="0" cy="0"/>
        </a:xfrm>
      </p:grpSpPr>
      <p:sp>
        <p:nvSpPr>
          <p:cNvPr id="447" name="Google Shape;132;p28"/>
          <p:cNvSpPr txBox="1"/>
          <p:nvPr/>
        </p:nvSpPr>
        <p:spPr>
          <a:xfrm>
            <a:off x="1195387" y="6227762"/>
            <a:ext cx="7002600" cy="324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0549F"/>
                </a:solidFill>
              </a:defRPr>
            </a:lvl1pPr>
          </a:lstStyle>
          <a:p>
            <a:pPr/>
            <a:r>
              <a:t>WILLM: A System for Academic Writing Improvement based on LLMs |  Ben Thillen  |  DBIS |  12.11.2024</a:t>
            </a:r>
          </a:p>
        </p:txBody>
      </p:sp>
      <p:sp>
        <p:nvSpPr>
          <p:cNvPr id="448" name="Google Shape;133;p28"/>
          <p:cNvSpPr/>
          <p:nvPr/>
        </p:nvSpPr>
        <p:spPr>
          <a:xfrm>
            <a:off x="360363" y="814387"/>
            <a:ext cx="11484000" cy="1"/>
          </a:xfrm>
          <a:prstGeom prst="line">
            <a:avLst/>
          </a:prstGeom>
          <a:ln>
            <a:solidFill>
              <a:srgbClr val="000000"/>
            </a:solidFill>
            <a:miter/>
          </a:ln>
        </p:spPr>
        <p:txBody>
          <a:bodyPr lIns="0" tIns="0" rIns="0" bIns="0"/>
          <a:lstStyle/>
          <a:p>
            <a:pPr/>
          </a:p>
        </p:txBody>
      </p:sp>
      <p:sp>
        <p:nvSpPr>
          <p:cNvPr id="449" name="Google Shape;134;p28"/>
          <p:cNvSpPr/>
          <p:nvPr/>
        </p:nvSpPr>
        <p:spPr>
          <a:xfrm>
            <a:off x="360363" y="6040437"/>
            <a:ext cx="11484000" cy="1"/>
          </a:xfrm>
          <a:prstGeom prst="line">
            <a:avLst/>
          </a:prstGeom>
          <a:ln>
            <a:solidFill>
              <a:srgbClr val="000000"/>
            </a:solidFill>
            <a:miter/>
          </a:ln>
        </p:spPr>
        <p:txBody>
          <a:bodyPr lIns="0" tIns="0" rIns="0" bIns="0"/>
          <a:lstStyle/>
          <a:p>
            <a:pPr/>
          </a:p>
        </p:txBody>
      </p:sp>
      <p:sp>
        <p:nvSpPr>
          <p:cNvPr id="450" name="Google Shape;135;p28"/>
          <p:cNvSpPr txBox="1"/>
          <p:nvPr/>
        </p:nvSpPr>
        <p:spPr>
          <a:xfrm>
            <a:off x="-1738626" y="5073650"/>
            <a:ext cx="1577151" cy="16239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Fußzeile anpassen:</a:t>
            </a:r>
          </a:p>
          <a:p>
            <a:pPr>
              <a:defRPr sz="1000"/>
            </a:pPr>
            <a:r>
              <a:t>Zum Anpassen der Fußzeile unter Karteireiter Ansicht &gt; auf Folienmaster klicken. Links in der Übersicht auf die oberste Folie scrollen und dort in die Fußzeile klicken. So wird der Text automatisch auf allen Seiten angepasst.</a:t>
            </a:r>
          </a:p>
        </p:txBody>
      </p:sp>
      <p:sp>
        <p:nvSpPr>
          <p:cNvPr id="451" name="Slide Number"/>
          <p:cNvSpPr txBox="1"/>
          <p:nvPr>
            <p:ph type="sldNum" sz="quarter" idx="2"/>
          </p:nvPr>
        </p:nvSpPr>
        <p:spPr>
          <a:prstGeom prst="rect">
            <a:avLst/>
          </a:prstGeom>
        </p:spPr>
        <p:txBody>
          <a:bodyPr/>
          <a:lstStyle/>
          <a:p>
            <a:pPr/>
            <a:fld id="{86CB4B4D-7CA3-9044-876B-883B54F8677D}" type="slidenum"/>
          </a:p>
        </p:txBody>
      </p:sp>
      <p:pic>
        <p:nvPicPr>
          <p:cNvPr id="452" name="Google Shape;137;p28" descr="Google Shape;137;p28"/>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pic>
        <p:nvPicPr>
          <p:cNvPr id="453" name="Google Shape;180;p37" descr="Google Shape;180;p37"/>
          <p:cNvPicPr>
            <a:picLocks noChangeAspect="1"/>
          </p:cNvPicPr>
          <p:nvPr/>
        </p:nvPicPr>
        <p:blipFill>
          <a:blip r:embed="rId3">
            <a:extLst/>
          </a:blip>
          <a:stretch>
            <a:fillRect/>
          </a:stretch>
        </p:blipFill>
        <p:spPr>
          <a:xfrm>
            <a:off x="385763" y="1152525"/>
            <a:ext cx="11480801" cy="3987800"/>
          </a:xfrm>
          <a:prstGeom prst="rect">
            <a:avLst/>
          </a:prstGeom>
          <a:ln w="12700">
            <a:miter lim="400000"/>
          </a:ln>
        </p:spPr>
      </p:pic>
      <p:sp>
        <p:nvSpPr>
          <p:cNvPr id="454" name="Body Level One…"/>
          <p:cNvSpPr txBox="1"/>
          <p:nvPr>
            <p:ph type="body" sz="quarter" idx="1"/>
          </p:nvPr>
        </p:nvSpPr>
        <p:spPr>
          <a:xfrm>
            <a:off x="383116" y="5359401"/>
            <a:ext cx="11484001" cy="499501"/>
          </a:xfrm>
          <a:prstGeom prst="rect">
            <a:avLst/>
          </a:prstGeom>
        </p:spPr>
        <p:txBody>
          <a:bodyPr lIns="45699" tIns="45699" rIns="45699" bIns="45699">
            <a:normAutofit fontScale="100000" lnSpcReduction="0"/>
          </a:bodyPr>
          <a:lstStyle>
            <a:lvl1pPr marL="228600" algn="r">
              <a:defRPr sz="900"/>
            </a:lvl1pPr>
            <a:lvl2pPr marL="769937" indent="-185737" algn="r">
              <a:buSzPts val="900"/>
              <a:buChar char="−"/>
              <a:defRPr sz="900"/>
            </a:lvl2pPr>
            <a:lvl3pPr marL="1236027" indent="-174307" algn="r">
              <a:buSzPts val="900"/>
              <a:buChar char="▪"/>
              <a:defRPr sz="900"/>
            </a:lvl3pPr>
            <a:lvl4pPr marL="1684337" indent="-185737" algn="r">
              <a:buSzPts val="900"/>
              <a:buChar char="-"/>
              <a:defRPr sz="900"/>
            </a:lvl4pPr>
            <a:lvl5pPr marL="2141537" indent="-185737" algn="r">
              <a:buSzPts val="900"/>
              <a:buChar char="-"/>
              <a:defRPr sz="900"/>
            </a:lvl5pPr>
          </a:lstStyle>
          <a:p>
            <a:pPr/>
            <a:r>
              <a:t>Body Level One</a:t>
            </a:r>
          </a:p>
          <a:p>
            <a:pPr lvl="1"/>
            <a:r>
              <a:t>Body Level Two</a:t>
            </a:r>
          </a:p>
          <a:p>
            <a:pPr lvl="2"/>
            <a:r>
              <a:t>Body Level Three</a:t>
            </a:r>
          </a:p>
          <a:p>
            <a:pPr lvl="3"/>
            <a:r>
              <a:t>Body Level Four</a:t>
            </a:r>
          </a:p>
          <a:p>
            <a:pPr lvl="4"/>
            <a:r>
              <a:t>Body Level Five</a:t>
            </a:r>
          </a:p>
        </p:txBody>
      </p:sp>
      <p:sp>
        <p:nvSpPr>
          <p:cNvPr id="455"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_Diagramm">
    <p:spTree>
      <p:nvGrpSpPr>
        <p:cNvPr id="1" name=""/>
        <p:cNvGrpSpPr/>
        <p:nvPr/>
      </p:nvGrpSpPr>
      <p:grpSpPr>
        <a:xfrm>
          <a:off x="0" y="0"/>
          <a:ext cx="0" cy="0"/>
          <a:chOff x="0" y="0"/>
          <a:chExt cx="0" cy="0"/>
        </a:xfrm>
      </p:grpSpPr>
      <p:sp>
        <p:nvSpPr>
          <p:cNvPr id="462" name="Google Shape;132;p28"/>
          <p:cNvSpPr txBox="1"/>
          <p:nvPr/>
        </p:nvSpPr>
        <p:spPr>
          <a:xfrm>
            <a:off x="1195387" y="6227762"/>
            <a:ext cx="7002600" cy="324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0549F"/>
                </a:solidFill>
              </a:defRPr>
            </a:lvl1pPr>
          </a:lstStyle>
          <a:p>
            <a:pPr/>
            <a:r>
              <a:t>WILLM: A System for Academic Writing Improvement based on LLMs |  Ben Thillen  |  DBIS |  12.11.2024</a:t>
            </a:r>
          </a:p>
        </p:txBody>
      </p:sp>
      <p:sp>
        <p:nvSpPr>
          <p:cNvPr id="463" name="Google Shape;133;p28"/>
          <p:cNvSpPr/>
          <p:nvPr/>
        </p:nvSpPr>
        <p:spPr>
          <a:xfrm>
            <a:off x="360363" y="814387"/>
            <a:ext cx="11484000" cy="1"/>
          </a:xfrm>
          <a:prstGeom prst="line">
            <a:avLst/>
          </a:prstGeom>
          <a:ln>
            <a:solidFill>
              <a:srgbClr val="000000"/>
            </a:solidFill>
            <a:miter/>
          </a:ln>
        </p:spPr>
        <p:txBody>
          <a:bodyPr lIns="0" tIns="0" rIns="0" bIns="0"/>
          <a:lstStyle/>
          <a:p>
            <a:pPr/>
          </a:p>
        </p:txBody>
      </p:sp>
      <p:sp>
        <p:nvSpPr>
          <p:cNvPr id="464" name="Google Shape;134;p28"/>
          <p:cNvSpPr/>
          <p:nvPr/>
        </p:nvSpPr>
        <p:spPr>
          <a:xfrm>
            <a:off x="360363" y="6040437"/>
            <a:ext cx="11484000" cy="1"/>
          </a:xfrm>
          <a:prstGeom prst="line">
            <a:avLst/>
          </a:prstGeom>
          <a:ln>
            <a:solidFill>
              <a:srgbClr val="000000"/>
            </a:solidFill>
            <a:miter/>
          </a:ln>
        </p:spPr>
        <p:txBody>
          <a:bodyPr lIns="0" tIns="0" rIns="0" bIns="0"/>
          <a:lstStyle/>
          <a:p>
            <a:pPr/>
          </a:p>
        </p:txBody>
      </p:sp>
      <p:sp>
        <p:nvSpPr>
          <p:cNvPr id="465" name="Google Shape;135;p28"/>
          <p:cNvSpPr txBox="1"/>
          <p:nvPr/>
        </p:nvSpPr>
        <p:spPr>
          <a:xfrm>
            <a:off x="-1738626" y="5073650"/>
            <a:ext cx="1577151" cy="16239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Fußzeile anpassen:</a:t>
            </a:r>
          </a:p>
          <a:p>
            <a:pPr>
              <a:defRPr sz="1000"/>
            </a:pPr>
            <a:r>
              <a:t>Zum Anpassen der Fußzeile unter Karteireiter Ansicht &gt; auf Folienmaster klicken. Links in der Übersicht auf die oberste Folie scrollen und dort in die Fußzeile klicken. So wird der Text automatisch auf allen Seiten angepasst.</a:t>
            </a:r>
          </a:p>
        </p:txBody>
      </p:sp>
      <p:sp>
        <p:nvSpPr>
          <p:cNvPr id="466" name="Slide Number"/>
          <p:cNvSpPr txBox="1"/>
          <p:nvPr>
            <p:ph type="sldNum" sz="quarter" idx="2"/>
          </p:nvPr>
        </p:nvSpPr>
        <p:spPr>
          <a:prstGeom prst="rect">
            <a:avLst/>
          </a:prstGeom>
        </p:spPr>
        <p:txBody>
          <a:bodyPr/>
          <a:lstStyle/>
          <a:p>
            <a:pPr/>
            <a:fld id="{86CB4B4D-7CA3-9044-876B-883B54F8677D}" type="slidenum"/>
          </a:p>
        </p:txBody>
      </p:sp>
      <p:pic>
        <p:nvPicPr>
          <p:cNvPr id="467" name="Google Shape;137;p28" descr="Google Shape;137;p28"/>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sp>
        <p:nvSpPr>
          <p:cNvPr id="468" name="Body Level One…"/>
          <p:cNvSpPr txBox="1"/>
          <p:nvPr>
            <p:ph type="body" sz="quarter" idx="1"/>
          </p:nvPr>
        </p:nvSpPr>
        <p:spPr>
          <a:xfrm>
            <a:off x="384000" y="1152000"/>
            <a:ext cx="11484000" cy="252001"/>
          </a:xfrm>
          <a:prstGeom prst="rect">
            <a:avLst/>
          </a:prstGeom>
        </p:spPr>
        <p:txBody>
          <a:bodyPr lIns="0" tIns="0" rIns="0" bIns="0">
            <a:normAutofit fontScale="100000" lnSpcReduction="0"/>
          </a:bodyPr>
          <a:lstStyle>
            <a:lvl1pPr marL="228600">
              <a:defRPr b="1" sz="2000"/>
            </a:lvl1pPr>
            <a:lvl2pPr marL="228600" indent="457200">
              <a:defRPr b="1" sz="2000"/>
            </a:lvl2pPr>
            <a:lvl3pPr marL="228600" indent="914400">
              <a:defRPr b="1" sz="2000"/>
            </a:lvl3pPr>
            <a:lvl4pPr marL="228600" indent="1371600">
              <a:defRPr b="1" sz="2000"/>
            </a:lvl4pPr>
            <a:lvl5pPr marL="228600" indent="1828800">
              <a:defRPr b="1" sz="2000"/>
            </a:lvl5pPr>
          </a:lstStyle>
          <a:p>
            <a:pPr/>
            <a:r>
              <a:t>Body Level One</a:t>
            </a:r>
          </a:p>
          <a:p>
            <a:pPr lvl="1"/>
            <a:r>
              <a:t>Body Level Two</a:t>
            </a:r>
          </a:p>
          <a:p>
            <a:pPr lvl="2"/>
            <a:r>
              <a:t>Body Level Three</a:t>
            </a:r>
          </a:p>
          <a:p>
            <a:pPr lvl="3"/>
            <a:r>
              <a:t>Body Level Four</a:t>
            </a:r>
          </a:p>
          <a:p>
            <a:pPr lvl="4"/>
            <a:r>
              <a:t>Body Level Five</a:t>
            </a:r>
          </a:p>
        </p:txBody>
      </p:sp>
      <p:sp>
        <p:nvSpPr>
          <p:cNvPr id="469" name="Title Text"/>
          <p:cNvSpPr txBox="1"/>
          <p:nvPr>
            <p:ph type="title"/>
          </p:nvPr>
        </p:nvSpPr>
        <p:spPr>
          <a:xfrm>
            <a:off x="384000" y="201600"/>
            <a:ext cx="11484000" cy="543601"/>
          </a:xfrm>
          <a:prstGeom prst="rect">
            <a:avLst/>
          </a:prstGeom>
        </p:spPr>
        <p:txBody>
          <a:bodyPr lIns="0" tIns="0" rIns="0" bIns="0" anchor="b">
            <a:normAutofit fontScale="100000" lnSpcReduction="0"/>
          </a:bodyPr>
          <a:lstStyle>
            <a:lvl1pPr>
              <a:lnSpc>
                <a:spcPct val="90000"/>
              </a:lnSpc>
              <a:defRPr b="1" sz="2000">
                <a:solidFill>
                  <a:srgbClr val="00549F"/>
                </a:solidFill>
              </a:defRPr>
            </a:lvl1pPr>
          </a:lstStyle>
          <a:p>
            <a:pPr/>
            <a:r>
              <a:t>Title Text</a:t>
            </a:r>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bschlussfolie">
    <p:spTree>
      <p:nvGrpSpPr>
        <p:cNvPr id="1" name=""/>
        <p:cNvGrpSpPr/>
        <p:nvPr/>
      </p:nvGrpSpPr>
      <p:grpSpPr>
        <a:xfrm>
          <a:off x="0" y="0"/>
          <a:ext cx="0" cy="0"/>
          <a:chOff x="0" y="0"/>
          <a:chExt cx="0" cy="0"/>
        </a:xfrm>
      </p:grpSpPr>
      <p:sp>
        <p:nvSpPr>
          <p:cNvPr id="476" name="Google Shape;188;p39"/>
          <p:cNvSpPr txBox="1"/>
          <p:nvPr/>
        </p:nvSpPr>
        <p:spPr>
          <a:xfrm>
            <a:off x="382588" y="2487613"/>
            <a:ext cx="11484000" cy="45660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0000"/>
              </a:lnSpc>
              <a:defRPr b="1" sz="3200">
                <a:solidFill>
                  <a:srgbClr val="00549F"/>
                </a:solidFill>
              </a:defRPr>
            </a:lvl1pPr>
          </a:lstStyle>
          <a:p>
            <a:pPr/>
            <a:r>
              <a:t>Thank you for your attention</a:t>
            </a:r>
          </a:p>
        </p:txBody>
      </p:sp>
      <p:sp>
        <p:nvSpPr>
          <p:cNvPr id="477" name="Google Shape;189;p39"/>
          <p:cNvSpPr/>
          <p:nvPr/>
        </p:nvSpPr>
        <p:spPr>
          <a:xfrm>
            <a:off x="360363" y="6040437"/>
            <a:ext cx="11484000" cy="1"/>
          </a:xfrm>
          <a:prstGeom prst="line">
            <a:avLst/>
          </a:prstGeom>
          <a:ln>
            <a:solidFill>
              <a:srgbClr val="000000"/>
            </a:solidFill>
            <a:miter/>
          </a:ln>
        </p:spPr>
        <p:txBody>
          <a:bodyPr lIns="0" tIns="0" rIns="0" bIns="0"/>
          <a:lstStyle/>
          <a:p>
            <a:pPr/>
          </a:p>
        </p:txBody>
      </p:sp>
      <p:sp>
        <p:nvSpPr>
          <p:cNvPr id="478" name="Body Level One…"/>
          <p:cNvSpPr txBox="1"/>
          <p:nvPr>
            <p:ph type="body" sz="half" idx="1"/>
          </p:nvPr>
        </p:nvSpPr>
        <p:spPr>
          <a:xfrm>
            <a:off x="384000" y="3988799"/>
            <a:ext cx="11484000" cy="1656002"/>
          </a:xfrm>
          <a:prstGeom prst="rect">
            <a:avLst/>
          </a:prstGeom>
        </p:spPr>
        <p:txBody>
          <a:bodyPr lIns="0" tIns="0" rIns="0" bIns="0">
            <a:normAutofit fontScale="100000" lnSpcReduction="0"/>
          </a:bodyPr>
          <a:lstStyle>
            <a:lvl1pPr marL="228600">
              <a:defRPr sz="1600"/>
            </a:lvl1pPr>
            <a:lvl2pPr marL="228600" indent="457200">
              <a:defRPr sz="1600"/>
            </a:lvl2pPr>
            <a:lvl3pPr marL="228600" indent="914400">
              <a:defRPr sz="1600"/>
            </a:lvl3pPr>
            <a:lvl4pPr marL="228600" indent="1371600">
              <a:defRPr sz="1600"/>
            </a:lvl4pPr>
            <a:lvl5pPr marL="228600" indent="1828800">
              <a:defRPr sz="1600"/>
            </a:lvl5pPr>
          </a:lstStyle>
          <a:p>
            <a:pPr/>
            <a:r>
              <a:t>Body Level One</a:t>
            </a:r>
          </a:p>
          <a:p>
            <a:pPr lvl="1"/>
            <a:r>
              <a:t>Body Level Two</a:t>
            </a:r>
          </a:p>
          <a:p>
            <a:pPr lvl="2"/>
            <a:r>
              <a:t>Body Level Three</a:t>
            </a:r>
          </a:p>
          <a:p>
            <a:pPr lvl="3"/>
            <a:r>
              <a:t>Body Level Four</a:t>
            </a:r>
          </a:p>
          <a:p>
            <a:pPr lvl="4"/>
            <a:r>
              <a:t>Body Level Five</a:t>
            </a:r>
          </a:p>
        </p:txBody>
      </p:sp>
      <p:pic>
        <p:nvPicPr>
          <p:cNvPr id="479" name="Google Shape;191;p39" descr="Google Shape;191;p39"/>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sp>
        <p:nvSpPr>
          <p:cNvPr id="480" name="Slide Number"/>
          <p:cNvSpPr txBox="1"/>
          <p:nvPr>
            <p:ph type="sldNum" sz="quarter" idx="2"/>
          </p:nvPr>
        </p:nvSpPr>
        <p:spPr>
          <a:xfrm>
            <a:off x="5892800" y="6172200"/>
            <a:ext cx="2844800" cy="368301"/>
          </a:xfrm>
          <a:prstGeom prst="rect">
            <a:avLst/>
          </a:prstGeom>
        </p:spPr>
        <p:txBody>
          <a:bodyPr lIns="45719" tIns="45719" rIns="45719" bIns="45719" anchor="ctr"/>
          <a:lstStyle>
            <a:lvl1pPr algn="r">
              <a:defRPr sz="1200">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sp>
        <p:nvSpPr>
          <p:cNvPr id="487" name="Google Shape;132;p28"/>
          <p:cNvSpPr txBox="1"/>
          <p:nvPr/>
        </p:nvSpPr>
        <p:spPr>
          <a:xfrm>
            <a:off x="1195387" y="6227762"/>
            <a:ext cx="7002600" cy="324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0549F"/>
                </a:solidFill>
              </a:defRPr>
            </a:lvl1pPr>
          </a:lstStyle>
          <a:p>
            <a:pPr/>
            <a:r>
              <a:t>WILLM: A System for Academic Writing Improvement based on LLMs |  Ben Thillen  |  DBIS |  12.11.2024</a:t>
            </a:r>
          </a:p>
        </p:txBody>
      </p:sp>
      <p:sp>
        <p:nvSpPr>
          <p:cNvPr id="488" name="Google Shape;133;p28"/>
          <p:cNvSpPr/>
          <p:nvPr/>
        </p:nvSpPr>
        <p:spPr>
          <a:xfrm>
            <a:off x="360363" y="814387"/>
            <a:ext cx="11484000" cy="1"/>
          </a:xfrm>
          <a:prstGeom prst="line">
            <a:avLst/>
          </a:prstGeom>
          <a:ln>
            <a:solidFill>
              <a:srgbClr val="000000"/>
            </a:solidFill>
            <a:miter/>
          </a:ln>
        </p:spPr>
        <p:txBody>
          <a:bodyPr lIns="0" tIns="0" rIns="0" bIns="0"/>
          <a:lstStyle/>
          <a:p>
            <a:pPr/>
          </a:p>
        </p:txBody>
      </p:sp>
      <p:sp>
        <p:nvSpPr>
          <p:cNvPr id="489" name="Google Shape;134;p28"/>
          <p:cNvSpPr/>
          <p:nvPr/>
        </p:nvSpPr>
        <p:spPr>
          <a:xfrm>
            <a:off x="360363" y="6040437"/>
            <a:ext cx="11484000" cy="1"/>
          </a:xfrm>
          <a:prstGeom prst="line">
            <a:avLst/>
          </a:prstGeom>
          <a:ln>
            <a:solidFill>
              <a:srgbClr val="000000"/>
            </a:solidFill>
            <a:miter/>
          </a:ln>
        </p:spPr>
        <p:txBody>
          <a:bodyPr lIns="0" tIns="0" rIns="0" bIns="0"/>
          <a:lstStyle/>
          <a:p>
            <a:pPr/>
          </a:p>
        </p:txBody>
      </p:sp>
      <p:sp>
        <p:nvSpPr>
          <p:cNvPr id="490" name="Google Shape;135;p28"/>
          <p:cNvSpPr txBox="1"/>
          <p:nvPr/>
        </p:nvSpPr>
        <p:spPr>
          <a:xfrm>
            <a:off x="-1738626" y="5073650"/>
            <a:ext cx="1577151" cy="16239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Fußzeile anpassen:</a:t>
            </a:r>
          </a:p>
          <a:p>
            <a:pPr>
              <a:defRPr sz="1000"/>
            </a:pPr>
            <a:r>
              <a:t>Zum Anpassen der Fußzeile unter Karteireiter Ansicht &gt; auf Folienmaster klicken. Links in der Übersicht auf die oberste Folie scrollen und dort in die Fußzeile klicken. So wird der Text automatisch auf allen Seiten angepasst.</a:t>
            </a:r>
          </a:p>
        </p:txBody>
      </p:sp>
      <p:sp>
        <p:nvSpPr>
          <p:cNvPr id="491" name="Slide Number"/>
          <p:cNvSpPr txBox="1"/>
          <p:nvPr>
            <p:ph type="sldNum" sz="quarter" idx="2"/>
          </p:nvPr>
        </p:nvSpPr>
        <p:spPr>
          <a:prstGeom prst="rect">
            <a:avLst/>
          </a:prstGeom>
        </p:spPr>
        <p:txBody>
          <a:bodyPr/>
          <a:lstStyle/>
          <a:p>
            <a:pPr/>
            <a:fld id="{86CB4B4D-7CA3-9044-876B-883B54F8677D}" type="slidenum"/>
          </a:p>
        </p:txBody>
      </p:sp>
      <p:pic>
        <p:nvPicPr>
          <p:cNvPr id="492" name="Google Shape;137;p28" descr="Google Shape;137;p28"/>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sp>
        <p:nvSpPr>
          <p:cNvPr id="493" name="Title Text"/>
          <p:cNvSpPr txBox="1"/>
          <p:nvPr>
            <p:ph type="title"/>
          </p:nvPr>
        </p:nvSpPr>
        <p:spPr>
          <a:xfrm>
            <a:off x="609479" y="273599"/>
            <a:ext cx="10972502" cy="1144801"/>
          </a:xfrm>
          <a:prstGeom prst="rect">
            <a:avLst/>
          </a:prstGeom>
        </p:spPr>
        <p:txBody>
          <a:bodyPr lIns="0" tIns="0" rIns="0" bIns="0">
            <a:normAutofit fontScale="100000" lnSpcReduction="0"/>
          </a:bodyPr>
          <a:lstStyle>
            <a:lvl1pPr>
              <a:lnSpc>
                <a:spcPct val="90000"/>
              </a:lnSpc>
              <a:buClr>
                <a:srgbClr val="000000"/>
              </a:buClr>
              <a:buSzPts val="1400"/>
              <a:buFont typeface="Arial"/>
              <a:buChar char="●"/>
            </a:lvl1pPr>
          </a:lstStyle>
          <a:p>
            <a:pPr/>
            <a:r>
              <a:t>Title Text</a:t>
            </a:r>
          </a:p>
        </p:txBody>
      </p:sp>
      <p:sp>
        <p:nvSpPr>
          <p:cNvPr id="494" name="Body Level One…"/>
          <p:cNvSpPr txBox="1"/>
          <p:nvPr>
            <p:ph type="body" sz="half" idx="1"/>
          </p:nvPr>
        </p:nvSpPr>
        <p:spPr>
          <a:xfrm>
            <a:off x="384119" y="3988799"/>
            <a:ext cx="11483701" cy="1655701"/>
          </a:xfrm>
          <a:prstGeom prst="rect">
            <a:avLst/>
          </a:prstGeom>
        </p:spPr>
        <p:txBody>
          <a:bodyPr lIns="0" tIns="0" rIns="0" bIns="0" anchor="ctr">
            <a:normAutofit fontScale="100000" lnSpcReduction="0"/>
          </a:bodyPr>
          <a:lstStyle>
            <a:lvl1pPr>
              <a:lnSpc>
                <a:spcPct val="90000"/>
              </a:lnSpc>
              <a:spcBef>
                <a:spcPts val="1000"/>
              </a:spcBef>
              <a:buClr>
                <a:srgbClr val="000000"/>
              </a:buClr>
              <a:buSzPts val="1400"/>
              <a:buFont typeface="Arial"/>
              <a:buChar char="●"/>
            </a:lvl1pPr>
            <a:lvl2pPr>
              <a:lnSpc>
                <a:spcPct val="90000"/>
              </a:lnSpc>
              <a:spcBef>
                <a:spcPts val="1000"/>
              </a:spcBef>
              <a:buClr>
                <a:srgbClr val="000000"/>
              </a:buClr>
              <a:buSzPts val="1400"/>
              <a:buFont typeface="Arial"/>
              <a:buChar char="○"/>
            </a:lvl2pPr>
            <a:lvl3pPr>
              <a:lnSpc>
                <a:spcPct val="90000"/>
              </a:lnSpc>
              <a:spcBef>
                <a:spcPts val="1000"/>
              </a:spcBef>
              <a:buClr>
                <a:srgbClr val="000000"/>
              </a:buClr>
              <a:buSzPts val="1400"/>
              <a:buFont typeface="Arial"/>
              <a:buChar char="■"/>
            </a:lvl3pPr>
            <a:lvl4pPr>
              <a:lnSpc>
                <a:spcPct val="90000"/>
              </a:lnSpc>
              <a:spcBef>
                <a:spcPts val="1000"/>
              </a:spcBef>
              <a:buClr>
                <a:srgbClr val="000000"/>
              </a:buClr>
              <a:buSzPts val="1400"/>
              <a:buFont typeface="Arial"/>
              <a:buChar char="●"/>
            </a:lvl4pPr>
            <a:lvl5pPr>
              <a:lnSpc>
                <a:spcPct val="90000"/>
              </a:lnSpc>
              <a:spcBef>
                <a:spcPts val="1000"/>
              </a:spcBef>
              <a:buClr>
                <a:srgbClr val="000000"/>
              </a:buClr>
              <a:buSzPts val="1400"/>
              <a:buFont typeface="Arial"/>
              <a:buChar char="○"/>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501" name="Google Shape;132;p28"/>
          <p:cNvSpPr txBox="1"/>
          <p:nvPr/>
        </p:nvSpPr>
        <p:spPr>
          <a:xfrm>
            <a:off x="1195387" y="6227762"/>
            <a:ext cx="7002600" cy="324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0549F"/>
                </a:solidFill>
              </a:defRPr>
            </a:lvl1pPr>
          </a:lstStyle>
          <a:p>
            <a:pPr/>
            <a:r>
              <a:t>WILLM: A System for Academic Writing Improvement based on LLMs |  Ben Thillen  |  DBIS |  12.11.2024</a:t>
            </a:r>
          </a:p>
        </p:txBody>
      </p:sp>
      <p:sp>
        <p:nvSpPr>
          <p:cNvPr id="502" name="Google Shape;133;p28"/>
          <p:cNvSpPr/>
          <p:nvPr/>
        </p:nvSpPr>
        <p:spPr>
          <a:xfrm>
            <a:off x="360363" y="814387"/>
            <a:ext cx="11484000" cy="1"/>
          </a:xfrm>
          <a:prstGeom prst="line">
            <a:avLst/>
          </a:prstGeom>
          <a:ln>
            <a:solidFill>
              <a:srgbClr val="000000"/>
            </a:solidFill>
            <a:miter/>
          </a:ln>
        </p:spPr>
        <p:txBody>
          <a:bodyPr lIns="0" tIns="0" rIns="0" bIns="0"/>
          <a:lstStyle/>
          <a:p>
            <a:pPr/>
          </a:p>
        </p:txBody>
      </p:sp>
      <p:sp>
        <p:nvSpPr>
          <p:cNvPr id="503" name="Google Shape;134;p28"/>
          <p:cNvSpPr/>
          <p:nvPr/>
        </p:nvSpPr>
        <p:spPr>
          <a:xfrm>
            <a:off x="360363" y="6040437"/>
            <a:ext cx="11484000" cy="1"/>
          </a:xfrm>
          <a:prstGeom prst="line">
            <a:avLst/>
          </a:prstGeom>
          <a:ln>
            <a:solidFill>
              <a:srgbClr val="000000"/>
            </a:solidFill>
            <a:miter/>
          </a:ln>
        </p:spPr>
        <p:txBody>
          <a:bodyPr lIns="0" tIns="0" rIns="0" bIns="0"/>
          <a:lstStyle/>
          <a:p>
            <a:pPr/>
          </a:p>
        </p:txBody>
      </p:sp>
      <p:sp>
        <p:nvSpPr>
          <p:cNvPr id="504" name="Google Shape;135;p28"/>
          <p:cNvSpPr txBox="1"/>
          <p:nvPr/>
        </p:nvSpPr>
        <p:spPr>
          <a:xfrm>
            <a:off x="-1738626" y="5073650"/>
            <a:ext cx="1577151" cy="16239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Fußzeile anpassen:</a:t>
            </a:r>
          </a:p>
          <a:p>
            <a:pPr>
              <a:defRPr sz="1000"/>
            </a:pPr>
            <a:r>
              <a:t>Zum Anpassen der Fußzeile unter Karteireiter Ansicht &gt; auf Folienmaster klicken. Links in der Übersicht auf die oberste Folie scrollen und dort in die Fußzeile klicken. So wird der Text automatisch auf allen Seiten angepasst.</a:t>
            </a:r>
          </a:p>
        </p:txBody>
      </p:sp>
      <p:sp>
        <p:nvSpPr>
          <p:cNvPr id="505" name="Slide Number"/>
          <p:cNvSpPr txBox="1"/>
          <p:nvPr>
            <p:ph type="sldNum" sz="quarter" idx="2"/>
          </p:nvPr>
        </p:nvSpPr>
        <p:spPr>
          <a:prstGeom prst="rect">
            <a:avLst/>
          </a:prstGeom>
        </p:spPr>
        <p:txBody>
          <a:bodyPr/>
          <a:lstStyle/>
          <a:p>
            <a:pPr/>
            <a:fld id="{86CB4B4D-7CA3-9044-876B-883B54F8677D}" type="slidenum"/>
          </a:p>
        </p:txBody>
      </p:sp>
      <p:pic>
        <p:nvPicPr>
          <p:cNvPr id="506" name="Google Shape;137;p28" descr="Google Shape;137;p28"/>
          <p:cNvPicPr>
            <a:picLocks noChangeAspect="1"/>
          </p:cNvPicPr>
          <p:nvPr/>
        </p:nvPicPr>
        <p:blipFill>
          <a:blip r:embed="rId2">
            <a:extLst/>
          </a:blip>
          <a:stretch>
            <a:fillRect/>
          </a:stretch>
        </p:blipFill>
        <p:spPr>
          <a:xfrm>
            <a:off x="8557249" y="6043612"/>
            <a:ext cx="3276938" cy="814388"/>
          </a:xfrm>
          <a:prstGeom prst="rect">
            <a:avLst/>
          </a:prstGeom>
          <a:ln w="12700">
            <a:miter lim="400000"/>
          </a:ln>
        </p:spPr>
      </p:pic>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 Id="rId30" Type="http://schemas.openxmlformats.org/officeDocument/2006/relationships/slideLayout" Target="../slideLayouts/slideLayout28.xml"/><Relationship Id="rId31" Type="http://schemas.openxmlformats.org/officeDocument/2006/relationships/slideLayout" Target="../slideLayouts/slideLayout29.xml"/><Relationship Id="rId32" Type="http://schemas.openxmlformats.org/officeDocument/2006/relationships/slideLayout" Target="../slideLayouts/slideLayout30.xml"/><Relationship Id="rId33" Type="http://schemas.openxmlformats.org/officeDocument/2006/relationships/slideLayout" Target="../slideLayouts/slideLayout31.xml"/><Relationship Id="rId34" Type="http://schemas.openxmlformats.org/officeDocument/2006/relationships/slideLayout" Target="../slideLayouts/slideLayout32.xml"/><Relationship Id="rId35" Type="http://schemas.openxmlformats.org/officeDocument/2006/relationships/slideLayout" Target="../slideLayouts/slideLayout33.xml"/><Relationship Id="rId36" Type="http://schemas.openxmlformats.org/officeDocument/2006/relationships/slideLayout" Target="../slideLayouts/slideLayout34.xml"/><Relationship Id="rId37" Type="http://schemas.openxmlformats.org/officeDocument/2006/relationships/slideLayout" Target="../slideLayouts/slideLayout35.xml"/><Relationship Id="rId38" Type="http://schemas.openxmlformats.org/officeDocument/2006/relationships/slideLayout" Target="../slideLayouts/slideLayout36.xml"/><Relationship Id="rId39" Type="http://schemas.openxmlformats.org/officeDocument/2006/relationships/slideLayout" Target="../slideLayouts/slideLayout37.xml"/><Relationship Id="rId40"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0;p1"/>
          <p:cNvSpPr txBox="1"/>
          <p:nvPr/>
        </p:nvSpPr>
        <p:spPr>
          <a:xfrm>
            <a:off x="1195387" y="6227762"/>
            <a:ext cx="7002462" cy="324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0549F"/>
                </a:solidFill>
              </a:defRPr>
            </a:lvl1pPr>
          </a:lstStyle>
          <a:p>
            <a:pPr/>
            <a:r>
              <a:t>WILLM: A system for Academic Writing Improvement based on LLMs |  Ben Thillen  |  DBIS |  17.05.2024</a:t>
            </a:r>
          </a:p>
        </p:txBody>
      </p:sp>
      <p:sp>
        <p:nvSpPr>
          <p:cNvPr id="3" name="Google Shape;11;p1"/>
          <p:cNvSpPr/>
          <p:nvPr/>
        </p:nvSpPr>
        <p:spPr>
          <a:xfrm>
            <a:off x="360363" y="814387"/>
            <a:ext cx="11483976" cy="1"/>
          </a:xfrm>
          <a:prstGeom prst="line">
            <a:avLst/>
          </a:prstGeom>
          <a:ln>
            <a:solidFill>
              <a:srgbClr val="000000"/>
            </a:solidFill>
            <a:miter/>
          </a:ln>
        </p:spPr>
        <p:txBody>
          <a:bodyPr lIns="0" tIns="0" rIns="0" bIns="0"/>
          <a:lstStyle/>
          <a:p>
            <a:pPr/>
          </a:p>
        </p:txBody>
      </p:sp>
      <p:sp>
        <p:nvSpPr>
          <p:cNvPr id="4" name="Google Shape;12;p1"/>
          <p:cNvSpPr/>
          <p:nvPr/>
        </p:nvSpPr>
        <p:spPr>
          <a:xfrm>
            <a:off x="360363" y="6040437"/>
            <a:ext cx="11483976" cy="1"/>
          </a:xfrm>
          <a:prstGeom prst="line">
            <a:avLst/>
          </a:prstGeom>
          <a:ln>
            <a:solidFill>
              <a:srgbClr val="000000"/>
            </a:solidFill>
            <a:miter/>
          </a:ln>
        </p:spPr>
        <p:txBody>
          <a:bodyPr lIns="0" tIns="0" rIns="0" bIns="0"/>
          <a:lstStyle/>
          <a:p>
            <a:pPr/>
          </a:p>
        </p:txBody>
      </p:sp>
      <p:sp>
        <p:nvSpPr>
          <p:cNvPr id="5" name="Google Shape;13;p1"/>
          <p:cNvSpPr txBox="1"/>
          <p:nvPr/>
        </p:nvSpPr>
        <p:spPr>
          <a:xfrm>
            <a:off x="-1738625" y="5073650"/>
            <a:ext cx="1577012" cy="162394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1000"/>
            </a:pPr>
            <a:r>
              <a:t>Fußzeile anpassen:</a:t>
            </a:r>
          </a:p>
          <a:p>
            <a:pPr>
              <a:defRPr sz="1000"/>
            </a:pPr>
            <a:r>
              <a:t>Zum Anpassen der Fußzeile unter Karteireiter Ansicht &gt; auf Folienmaster klicken. Links in der Übersicht auf die oberste Folie scrollen und dort in die Fußzeile klicken. So wird der Text automatisch auf allen Seiten angepasst.</a:t>
            </a:r>
          </a:p>
        </p:txBody>
      </p:sp>
      <p:sp>
        <p:nvSpPr>
          <p:cNvPr id="6" name="Slide Number"/>
          <p:cNvSpPr txBox="1"/>
          <p:nvPr>
            <p:ph type="sldNum" sz="quarter" idx="2"/>
          </p:nvPr>
        </p:nvSpPr>
        <p:spPr>
          <a:xfrm>
            <a:off x="360363" y="6227762"/>
            <a:ext cx="139837" cy="127001"/>
          </a:xfrm>
          <a:prstGeom prst="rect">
            <a:avLst/>
          </a:prstGeom>
          <a:ln w="12700">
            <a:miter lim="400000"/>
          </a:ln>
        </p:spPr>
        <p:txBody>
          <a:bodyPr wrap="none" lIns="0" tIns="0" rIns="0" bIns="0">
            <a:spAutoFit/>
          </a:bodyPr>
          <a:lstStyle>
            <a:lvl1pPr>
              <a:defRPr sz="900">
                <a:solidFill>
                  <a:srgbClr val="00549F"/>
                </a:solidFill>
              </a:defRPr>
            </a:lvl1pPr>
          </a:lstStyle>
          <a:p>
            <a:pPr/>
            <a:fld id="{86CB4B4D-7CA3-9044-876B-883B54F8677D}" type="slidenum"/>
          </a:p>
        </p:txBody>
      </p:sp>
      <p:pic>
        <p:nvPicPr>
          <p:cNvPr id="7" name="Google Shape;15;p1" descr="Google Shape;15;p1"/>
          <p:cNvPicPr>
            <a:picLocks noChangeAspect="1"/>
          </p:cNvPicPr>
          <p:nvPr/>
        </p:nvPicPr>
        <p:blipFill>
          <a:blip r:embed="rId2">
            <a:extLst/>
          </a:blip>
          <a:stretch>
            <a:fillRect/>
          </a:stretch>
        </p:blipFill>
        <p:spPr>
          <a:xfrm>
            <a:off x="8557249" y="6043612"/>
            <a:ext cx="3276939" cy="814388"/>
          </a:xfrm>
          <a:prstGeom prst="rect">
            <a:avLst/>
          </a:prstGeom>
          <a:ln w="12700">
            <a:miter lim="400000"/>
          </a:ln>
        </p:spPr>
      </p:pic>
      <p:sp>
        <p:nvSpPr>
          <p:cNvPr id="8"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9"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9pPr>
    </p:titleStyle>
    <p:bodyStyle>
      <a:lvl1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mj-lt"/>
          <a:ea typeface="+mj-ea"/>
          <a:cs typeface="+mj-cs"/>
          <a:sym typeface="Arial"/>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hyperlink" Target="https://www.ets.org/toefl/test-takers/ibt/about.html" TargetMode="External"/><Relationship Id="rId3" Type="http://schemas.openxmlformats.org/officeDocument/2006/relationships/hyperlink" Target="https://ielts.org/organisations/ielts-for-organisations/understanding-ielts-scoring"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hyperlink" Target="https://www.grammarly.com" TargetMode="External"/><Relationship Id="rId6" Type="http://schemas.openxmlformats.org/officeDocument/2006/relationships/hyperlink" Target="https://quillbot.com/" TargetMode="External"/><Relationship Id="rId7" Type="http://schemas.openxmlformats.org/officeDocument/2006/relationships/hyperlink" Target="https://www.wordtune.com/" TargetMode="External"/></Relationships>

</file>

<file path=ppt/slides/_rels/slide6.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hyperlink" Target="https://ielts.org/organisations/ielts-for-organisations/understanding-ielts-scoring" TargetMode="External"/><Relationship Id="rId3" Type="http://schemas.openxmlformats.org/officeDocument/2006/relationships/hyperlink" Target="https://www.ets.org/toefl/test-takers/ibt/about.html" TargetMode="External"/><Relationship Id="rId4" Type="http://schemas.openxmlformats.org/officeDocument/2006/relationships/hyperlink" Target="https://www.pearsonpte.com/pte-academic/scoring" TargetMode="External"/><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4.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6.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hyperlink" Target="http://willm.corinth.informatik.rwth-aachen.de" TargetMode="External"/><Relationship Id="rId3" Type="http://schemas.openxmlformats.org/officeDocument/2006/relationships/image" Target="../media/image27.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36.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8.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9.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0.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1.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2.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3.png"/><Relationship Id="rId3" Type="http://schemas.openxmlformats.org/officeDocument/2006/relationships/image" Target="../media/image34.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5.png"/><Relationship Id="rId3" Type="http://schemas.openxmlformats.org/officeDocument/2006/relationships/image" Target="../media/image36.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7.png"/><Relationship Id="rId3" Type="http://schemas.openxmlformats.org/officeDocument/2006/relationships/image" Target="../media/image38.png"/></Relationships>

</file>

<file path=ppt/slides/_rels/slide44.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9.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40.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31.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5" name="Google Shape;200;p42"/>
          <p:cNvSpPr txBox="1"/>
          <p:nvPr/>
        </p:nvSpPr>
        <p:spPr>
          <a:xfrm>
            <a:off x="384120" y="2487599"/>
            <a:ext cx="11483700" cy="12432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90000"/>
              </a:lnSpc>
              <a:defRPr b="1" sz="3200">
                <a:solidFill>
                  <a:srgbClr val="00549F"/>
                </a:solidFill>
              </a:defRPr>
            </a:pPr>
            <a:r>
              <a:t>WILLM: A System for Academic Writing Improvement based on Large Language Models</a:t>
            </a:r>
            <a:br/>
            <a:r>
              <a:rPr b="0" sz="2800"/>
              <a:t>Bachelor Thesis Final Presentation</a:t>
            </a:r>
          </a:p>
        </p:txBody>
      </p:sp>
      <p:sp>
        <p:nvSpPr>
          <p:cNvPr id="516" name="Google Shape;201;p42"/>
          <p:cNvSpPr txBox="1"/>
          <p:nvPr/>
        </p:nvSpPr>
        <p:spPr>
          <a:xfrm>
            <a:off x="354150" y="3942422"/>
            <a:ext cx="11483700" cy="9712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2000"/>
            </a:pPr>
            <a:r>
              <a:t>Ben Thillen</a:t>
            </a:r>
          </a:p>
          <a:p>
            <a:pPr algn="ctr">
              <a:defRPr sz="1600"/>
            </a:pPr>
            <a:r>
              <a:t>Study Program: Bachelor Computer Science   Matr.-Nr.: 409574</a:t>
            </a:r>
          </a:p>
          <a:p>
            <a:pPr algn="ctr">
              <a:defRPr sz="1600"/>
            </a:pPr>
            <a:r>
              <a:t>Chair of Computer Science 5 Information Systems &amp; Databases</a:t>
            </a:r>
          </a:p>
        </p:txBody>
      </p:sp>
      <p:sp>
        <p:nvSpPr>
          <p:cNvPr id="517" name="Google Shape;202;p42"/>
          <p:cNvSpPr txBox="1"/>
          <p:nvPr/>
        </p:nvSpPr>
        <p:spPr>
          <a:xfrm>
            <a:off x="4667749" y="4902127"/>
            <a:ext cx="1332001" cy="845354"/>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sz="1600"/>
            </a:pPr>
            <a:r>
              <a:t>Supervisors:</a:t>
            </a:r>
          </a:p>
          <a:p>
            <a:pPr>
              <a:spcBef>
                <a:spcPts val="600"/>
              </a:spcBef>
              <a:defRPr sz="1600"/>
            </a:pPr>
            <a:br/>
            <a:r>
              <a:t>Advisors:</a:t>
            </a:r>
          </a:p>
        </p:txBody>
      </p:sp>
      <p:sp>
        <p:nvSpPr>
          <p:cNvPr id="518" name="Google Shape;203;p42"/>
          <p:cNvSpPr txBox="1"/>
          <p:nvPr/>
        </p:nvSpPr>
        <p:spPr>
          <a:xfrm>
            <a:off x="6045849" y="4902125"/>
            <a:ext cx="4330801" cy="1073954"/>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a:defRPr sz="1600"/>
            </a:pPr>
            <a:r>
              <a:t>Prof. Dr. Stefan Decker</a:t>
            </a:r>
          </a:p>
          <a:p>
            <a:pPr>
              <a:defRPr sz="1600"/>
            </a:pPr>
            <a:r>
              <a:t>Prof. Dr. Bernhard Rumpe</a:t>
            </a:r>
          </a:p>
          <a:p>
            <a:pPr>
              <a:spcBef>
                <a:spcPts val="600"/>
              </a:spcBef>
              <a:defRPr sz="1600"/>
            </a:pPr>
            <a:r>
              <a:t>Yongli Mou</a:t>
            </a:r>
          </a:p>
          <a:p>
            <a:pPr>
              <a:defRPr sz="1600"/>
            </a:pPr>
            <a:r>
              <a:t>Fatemeh Fathi</a:t>
            </a:r>
          </a:p>
        </p:txBody>
      </p:sp>
      <p:sp>
        <p:nvSpPr>
          <p:cNvPr id="519" name="Google Shape;204;p42"/>
          <p:cNvSpPr txBox="1"/>
          <p:nvPr/>
        </p:nvSpPr>
        <p:spPr>
          <a:xfrm>
            <a:off x="4921920" y="6088679"/>
            <a:ext cx="2157601" cy="349223"/>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lvl1pPr>
              <a:defRPr sz="1800"/>
            </a:lvl1pPr>
          </a:lstStyle>
          <a:p>
            <a:pPr/>
            <a:r>
              <a:t>November 12, 2024</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1" name="Google Shape;136;p28"/>
          <p:cNvSpPr txBox="1"/>
          <p:nvPr>
            <p:ph type="sldNum" sz="quarter" idx="2"/>
          </p:nvPr>
        </p:nvSpPr>
        <p:spPr>
          <a:xfrm>
            <a:off x="360363" y="6227762"/>
            <a:ext cx="127001" cy="1270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22" name="Google Shape;210;p43"/>
          <p:cNvSpPr txBox="1"/>
          <p:nvPr>
            <p:ph type="title"/>
          </p:nvPr>
        </p:nvSpPr>
        <p:spPr>
          <a:xfrm>
            <a:off x="384000" y="201600"/>
            <a:ext cx="11484000" cy="543601"/>
          </a:xfrm>
          <a:prstGeom prst="rect">
            <a:avLst/>
          </a:prstGeom>
        </p:spPr>
        <p:txBody>
          <a:bodyPr/>
          <a:lstStyle/>
          <a:p>
            <a:pPr/>
            <a:r>
              <a:t>Introduction</a:t>
            </a:r>
          </a:p>
        </p:txBody>
      </p:sp>
      <p:sp>
        <p:nvSpPr>
          <p:cNvPr id="523" name="Google Shape;211;p43"/>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Motivation</a:t>
            </a:r>
          </a:p>
        </p:txBody>
      </p:sp>
      <p:pic>
        <p:nvPicPr>
          <p:cNvPr id="524" name="Google Shape;212;p43" descr="Google Shape;212;p43"/>
          <p:cNvPicPr>
            <a:picLocks noChangeAspect="1"/>
          </p:cNvPicPr>
          <p:nvPr/>
        </p:nvPicPr>
        <p:blipFill>
          <a:blip r:embed="rId2">
            <a:extLst/>
          </a:blip>
          <a:stretch>
            <a:fillRect/>
          </a:stretch>
        </p:blipFill>
        <p:spPr>
          <a:xfrm>
            <a:off x="7237849" y="3442594"/>
            <a:ext cx="1845030" cy="1771306"/>
          </a:xfrm>
          <a:prstGeom prst="rect">
            <a:avLst/>
          </a:prstGeom>
          <a:ln w="12700">
            <a:miter lim="400000"/>
          </a:ln>
        </p:spPr>
      </p:pic>
      <p:pic>
        <p:nvPicPr>
          <p:cNvPr id="525" name="Google Shape;213;p43" descr="Google Shape;213;p43"/>
          <p:cNvPicPr>
            <a:picLocks noChangeAspect="1"/>
          </p:cNvPicPr>
          <p:nvPr/>
        </p:nvPicPr>
        <p:blipFill>
          <a:blip r:embed="rId3">
            <a:extLst/>
          </a:blip>
          <a:stretch>
            <a:fillRect/>
          </a:stretch>
        </p:blipFill>
        <p:spPr>
          <a:xfrm>
            <a:off x="8606663" y="1644075"/>
            <a:ext cx="2275087" cy="2184180"/>
          </a:xfrm>
          <a:prstGeom prst="rect">
            <a:avLst/>
          </a:prstGeom>
          <a:ln w="12700">
            <a:miter lim="400000"/>
          </a:ln>
        </p:spPr>
      </p:pic>
      <p:sp>
        <p:nvSpPr>
          <p:cNvPr id="526" name="Google Shape;214;p43"/>
          <p:cNvSpPr txBox="1"/>
          <p:nvPr/>
        </p:nvSpPr>
        <p:spPr>
          <a:xfrm>
            <a:off x="9171599" y="2213274"/>
            <a:ext cx="1406701" cy="73375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900"/>
            </a:lvl1pPr>
          </a:lstStyle>
          <a:p>
            <a:pPr/>
            <a:r>
              <a:t>Improve coherence</a:t>
            </a:r>
          </a:p>
        </p:txBody>
      </p:sp>
      <p:sp>
        <p:nvSpPr>
          <p:cNvPr id="527" name="Google Shape;215;p43"/>
          <p:cNvSpPr txBox="1"/>
          <p:nvPr/>
        </p:nvSpPr>
        <p:spPr>
          <a:xfrm>
            <a:off x="383999" y="1675875"/>
            <a:ext cx="5673902" cy="254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5900" indent="-215900">
              <a:lnSpc>
                <a:spcPct val="150000"/>
              </a:lnSpc>
              <a:buClr>
                <a:srgbClr val="00549F"/>
              </a:buClr>
              <a:buSzPts val="1800"/>
              <a:buFont typeface="Arial"/>
              <a:buChar char="•"/>
              <a:defRPr b="1" sz="1800"/>
            </a:pPr>
            <a:r>
              <a:t>Unclear feedback:</a:t>
            </a:r>
            <a:r>
              <a:rPr b="0"/>
              <a:t> “Improve coherence”, “Bad organization”</a:t>
            </a:r>
          </a:p>
          <a:p>
            <a:pPr marL="215900" indent="-215900">
              <a:lnSpc>
                <a:spcPct val="150000"/>
              </a:lnSpc>
              <a:buClr>
                <a:srgbClr val="00549F"/>
              </a:buClr>
              <a:buSzPts val="1800"/>
              <a:buFont typeface="Arial"/>
              <a:buChar char="•"/>
              <a:defRPr b="1" sz="1800"/>
            </a:pPr>
            <a:r>
              <a:t>Grammarly, Quillbot</a:t>
            </a:r>
          </a:p>
          <a:p>
            <a:pPr lvl="1" marL="431800" indent="-215900">
              <a:lnSpc>
                <a:spcPct val="150000"/>
              </a:lnSpc>
              <a:buClr>
                <a:srgbClr val="00549F"/>
              </a:buClr>
              <a:buSzPts val="1600"/>
              <a:buFont typeface="Helvetica"/>
              <a:buChar char="−"/>
              <a:defRPr sz="1600"/>
            </a:pPr>
            <a:r>
              <a:t>Grammar</a:t>
            </a:r>
          </a:p>
          <a:p>
            <a:pPr lvl="1" marL="431800" indent="-215900">
              <a:lnSpc>
                <a:spcPct val="150000"/>
              </a:lnSpc>
              <a:buClr>
                <a:srgbClr val="00549F"/>
              </a:buClr>
              <a:buSzPts val="1600"/>
              <a:buFont typeface="Helvetica"/>
              <a:buChar char="−"/>
              <a:defRPr sz="1600"/>
            </a:pPr>
            <a:r>
              <a:t>Paraphrasing</a:t>
            </a:r>
          </a:p>
          <a:p>
            <a:pPr lvl="1" marL="431800" indent="-215900">
              <a:lnSpc>
                <a:spcPct val="150000"/>
              </a:lnSpc>
              <a:buClr>
                <a:srgbClr val="00549F"/>
              </a:buClr>
              <a:buSzPts val="1600"/>
              <a:buFont typeface="Helvetica"/>
              <a:buChar char="−"/>
              <a:defRPr sz="1600"/>
            </a:pPr>
            <a:r>
              <a:t>Deeper, complex issues</a:t>
            </a:r>
          </a:p>
        </p:txBody>
      </p:sp>
      <p:pic>
        <p:nvPicPr>
          <p:cNvPr id="528" name="Google Shape;216;p43" descr="Google Shape;216;p43"/>
          <p:cNvPicPr>
            <a:picLocks noChangeAspect="1"/>
          </p:cNvPicPr>
          <p:nvPr/>
        </p:nvPicPr>
        <p:blipFill>
          <a:blip r:embed="rId4">
            <a:extLst/>
          </a:blip>
          <a:stretch>
            <a:fillRect/>
          </a:stretch>
        </p:blipFill>
        <p:spPr>
          <a:xfrm>
            <a:off x="3054797" y="3509078"/>
            <a:ext cx="332316" cy="331200"/>
          </a:xfrm>
          <a:prstGeom prst="rect">
            <a:avLst/>
          </a:prstGeom>
          <a:ln w="12700">
            <a:miter lim="400000"/>
          </a:ln>
        </p:spPr>
      </p:pic>
      <p:pic>
        <p:nvPicPr>
          <p:cNvPr id="529" name="Google Shape;217;p43" descr="Google Shape;217;p43"/>
          <p:cNvPicPr>
            <a:picLocks noChangeAspect="1"/>
          </p:cNvPicPr>
          <p:nvPr/>
        </p:nvPicPr>
        <p:blipFill>
          <a:blip r:embed="rId5">
            <a:extLst/>
          </a:blip>
          <a:stretch>
            <a:fillRect/>
          </a:stretch>
        </p:blipFill>
        <p:spPr>
          <a:xfrm>
            <a:off x="1766099" y="2839485"/>
            <a:ext cx="283972" cy="283019"/>
          </a:xfrm>
          <a:prstGeom prst="rect">
            <a:avLst/>
          </a:prstGeom>
          <a:ln w="12700">
            <a:miter lim="400000"/>
          </a:ln>
        </p:spPr>
      </p:pic>
      <p:pic>
        <p:nvPicPr>
          <p:cNvPr id="530" name="Google Shape;218;p43" descr="Google Shape;218;p43"/>
          <p:cNvPicPr>
            <a:picLocks noChangeAspect="1"/>
          </p:cNvPicPr>
          <p:nvPr/>
        </p:nvPicPr>
        <p:blipFill>
          <a:blip r:embed="rId5">
            <a:extLst/>
          </a:blip>
          <a:stretch>
            <a:fillRect/>
          </a:stretch>
        </p:blipFill>
        <p:spPr>
          <a:xfrm>
            <a:off x="2131299" y="3178026"/>
            <a:ext cx="283972" cy="283019"/>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2" name="Google Shape;136;p28"/>
          <p:cNvSpPr txBox="1"/>
          <p:nvPr>
            <p:ph type="sldNum" sz="quarter" idx="2"/>
          </p:nvPr>
        </p:nvSpPr>
        <p:spPr>
          <a:xfrm>
            <a:off x="360363" y="6227762"/>
            <a:ext cx="127001" cy="1270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33" name="Google Shape;224;p44"/>
          <p:cNvSpPr txBox="1"/>
          <p:nvPr>
            <p:ph type="title"/>
          </p:nvPr>
        </p:nvSpPr>
        <p:spPr>
          <a:xfrm>
            <a:off x="384000" y="201600"/>
            <a:ext cx="11484000" cy="543601"/>
          </a:xfrm>
          <a:prstGeom prst="rect">
            <a:avLst/>
          </a:prstGeom>
        </p:spPr>
        <p:txBody>
          <a:bodyPr/>
          <a:lstStyle/>
          <a:p>
            <a:pPr/>
            <a:r>
              <a:t>Introduction</a:t>
            </a:r>
          </a:p>
        </p:txBody>
      </p:sp>
      <p:sp>
        <p:nvSpPr>
          <p:cNvPr id="534" name="Google Shape;225;p44"/>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Thesis Goals</a:t>
            </a:r>
          </a:p>
        </p:txBody>
      </p:sp>
      <p:sp>
        <p:nvSpPr>
          <p:cNvPr id="535" name="Google Shape;226;p44"/>
          <p:cNvSpPr/>
          <p:nvPr/>
        </p:nvSpPr>
        <p:spPr>
          <a:xfrm>
            <a:off x="330924" y="1953785"/>
            <a:ext cx="11590502" cy="1690200"/>
          </a:xfrm>
          <a:prstGeom prst="rect">
            <a:avLst/>
          </a:prstGeom>
          <a:solidFill>
            <a:srgbClr val="E8F1FA"/>
          </a:solidFill>
          <a:ln>
            <a:solidFill>
              <a:srgbClr val="E8F1FA"/>
            </a:solidFill>
          </a:ln>
        </p:spPr>
        <p:txBody>
          <a:bodyPr lIns="0" tIns="0" rIns="0" bIns="0" anchor="ctr"/>
          <a:lstStyle/>
          <a:p>
            <a:pPr algn="ctr"/>
          </a:p>
        </p:txBody>
      </p:sp>
      <p:sp>
        <p:nvSpPr>
          <p:cNvPr id="536" name="Google Shape;227;p44"/>
          <p:cNvSpPr/>
          <p:nvPr/>
        </p:nvSpPr>
        <p:spPr>
          <a:xfrm>
            <a:off x="330924" y="1600085"/>
            <a:ext cx="11590502" cy="353701"/>
          </a:xfrm>
          <a:prstGeom prst="rect">
            <a:avLst/>
          </a:prstGeom>
          <a:solidFill>
            <a:srgbClr val="C7DDF2"/>
          </a:solidFill>
          <a:ln>
            <a:solidFill>
              <a:srgbClr val="C7DDF2"/>
            </a:solidFill>
          </a:ln>
        </p:spPr>
        <p:txBody>
          <a:bodyPr lIns="0" tIns="0" rIns="0" bIns="0" anchor="ctr"/>
          <a:lstStyle/>
          <a:p>
            <a:pPr algn="ctr"/>
          </a:p>
        </p:txBody>
      </p:sp>
      <p:sp>
        <p:nvSpPr>
          <p:cNvPr id="537" name="Google Shape;228;p44"/>
          <p:cNvSpPr txBox="1"/>
          <p:nvPr/>
        </p:nvSpPr>
        <p:spPr>
          <a:xfrm>
            <a:off x="422275" y="1640460"/>
            <a:ext cx="11201700" cy="3194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ct val="150000"/>
              </a:lnSpc>
              <a:defRPr sz="1800">
                <a:solidFill>
                  <a:srgbClr val="00549F"/>
                </a:solidFill>
              </a:defRPr>
            </a:pPr>
            <a:r>
              <a:t>Research Questions:</a:t>
            </a:r>
          </a:p>
          <a:p>
            <a:pPr marL="215900" indent="-215900">
              <a:lnSpc>
                <a:spcPct val="150000"/>
              </a:lnSpc>
              <a:buClr>
                <a:srgbClr val="00549F"/>
              </a:buClr>
              <a:buSzPts val="1800"/>
              <a:buFont typeface="Arial"/>
              <a:buChar char="•"/>
              <a:defRPr b="1" sz="1800"/>
            </a:pPr>
            <a:r>
              <a:t>Does</a:t>
            </a:r>
            <a:r>
              <a:rPr b="0"/>
              <a:t> continuous written </a:t>
            </a:r>
            <a:r>
              <a:t>feedback</a:t>
            </a:r>
            <a:r>
              <a:rPr b="0"/>
              <a:t> on grammar, vocabulary, organization, coherence, and writing style along </a:t>
            </a:r>
            <a:r>
              <a:t>with</a:t>
            </a:r>
            <a:r>
              <a:rPr b="0"/>
              <a:t> </a:t>
            </a:r>
            <a:r>
              <a:t>automated scoring</a:t>
            </a:r>
            <a:r>
              <a:rPr b="0"/>
              <a:t> </a:t>
            </a:r>
            <a:r>
              <a:t>from</a:t>
            </a:r>
            <a:r>
              <a:rPr b="0"/>
              <a:t> Large Language Models (</a:t>
            </a:r>
            <a:r>
              <a:t>LLM</a:t>
            </a:r>
            <a:r>
              <a:rPr b="0"/>
              <a:t>) </a:t>
            </a:r>
            <a:r>
              <a:t>improve academic writing</a:t>
            </a:r>
            <a:r>
              <a:rPr b="0"/>
              <a:t> over time?</a:t>
            </a:r>
          </a:p>
          <a:p>
            <a:pPr marL="215900" indent="-215900">
              <a:lnSpc>
                <a:spcPct val="150000"/>
              </a:lnSpc>
              <a:buClr>
                <a:srgbClr val="00549F"/>
              </a:buClr>
              <a:buSzPts val="1800"/>
              <a:buFont typeface="Arial"/>
              <a:buChar char="•"/>
              <a:defRPr sz="1800"/>
            </a:pPr>
            <a:r>
              <a:t>How effective are </a:t>
            </a:r>
            <a:r>
              <a:rPr b="1"/>
              <a:t>active recall</a:t>
            </a:r>
            <a:r>
              <a:t> </a:t>
            </a:r>
            <a:r>
              <a:rPr b="1"/>
              <a:t>quizzes from LLMs</a:t>
            </a:r>
            <a:r>
              <a:t> in </a:t>
            </a:r>
            <a:r>
              <a:rPr b="1"/>
              <a:t>improving writing</a:t>
            </a:r>
            <a:r>
              <a:t> skills over </a:t>
            </a:r>
            <a:r>
              <a:rPr b="1"/>
              <a:t>long-term</a:t>
            </a:r>
            <a:r>
              <a:t>?</a:t>
            </a:r>
          </a:p>
          <a:p>
            <a:pPr marL="215900" indent="-215900">
              <a:lnSpc>
                <a:spcPct val="150000"/>
              </a:lnSpc>
              <a:buClr>
                <a:srgbClr val="00549F"/>
              </a:buClr>
              <a:buSzPts val="1800"/>
              <a:buFont typeface="Arial"/>
              <a:buChar char="•"/>
              <a:defRPr sz="1800"/>
            </a:pPr>
            <a:r>
              <a:t>How effective are </a:t>
            </a:r>
            <a:r>
              <a:rPr b="1"/>
              <a:t>personalized reviews from LLMs</a:t>
            </a:r>
            <a:r>
              <a:t> in </a:t>
            </a:r>
            <a:r>
              <a:rPr b="1"/>
              <a:t>improving writing</a:t>
            </a:r>
            <a:r>
              <a:t> skills over </a:t>
            </a:r>
            <a:r>
              <a:rPr b="1"/>
              <a:t>long-term</a:t>
            </a:r>
            <a:r>
              <a:t>?</a:t>
            </a:r>
          </a:p>
        </p:txBody>
      </p:sp>
      <p:sp>
        <p:nvSpPr>
          <p:cNvPr id="538" name="Google Shape;229;p44"/>
          <p:cNvSpPr/>
          <p:nvPr/>
        </p:nvSpPr>
        <p:spPr>
          <a:xfrm>
            <a:off x="330924" y="4177324"/>
            <a:ext cx="11590502" cy="1690200"/>
          </a:xfrm>
          <a:prstGeom prst="rect">
            <a:avLst/>
          </a:prstGeom>
          <a:solidFill>
            <a:srgbClr val="E8F1FA"/>
          </a:solidFill>
          <a:ln>
            <a:solidFill>
              <a:srgbClr val="E8F1FA"/>
            </a:solidFill>
          </a:ln>
        </p:spPr>
        <p:txBody>
          <a:bodyPr lIns="0" tIns="0" rIns="0" bIns="0" anchor="ctr"/>
          <a:lstStyle/>
          <a:p>
            <a:pPr algn="ctr"/>
          </a:p>
        </p:txBody>
      </p:sp>
      <p:sp>
        <p:nvSpPr>
          <p:cNvPr id="539" name="Google Shape;230;p44"/>
          <p:cNvSpPr/>
          <p:nvPr/>
        </p:nvSpPr>
        <p:spPr>
          <a:xfrm>
            <a:off x="330924" y="3823635"/>
            <a:ext cx="11590502" cy="353701"/>
          </a:xfrm>
          <a:prstGeom prst="rect">
            <a:avLst/>
          </a:prstGeom>
          <a:solidFill>
            <a:srgbClr val="C7DDF2"/>
          </a:solidFill>
          <a:ln>
            <a:solidFill>
              <a:srgbClr val="C7DDF2"/>
            </a:solidFill>
          </a:ln>
        </p:spPr>
        <p:txBody>
          <a:bodyPr lIns="0" tIns="0" rIns="0" bIns="0" anchor="ctr"/>
          <a:lstStyle/>
          <a:p>
            <a:pPr algn="ctr"/>
          </a:p>
        </p:txBody>
      </p:sp>
      <p:sp>
        <p:nvSpPr>
          <p:cNvPr id="540" name="Google Shape;231;p44"/>
          <p:cNvSpPr txBox="1"/>
          <p:nvPr/>
        </p:nvSpPr>
        <p:spPr>
          <a:xfrm>
            <a:off x="422275" y="3864000"/>
            <a:ext cx="11201700" cy="2003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ct val="150000"/>
              </a:lnSpc>
              <a:defRPr sz="1800">
                <a:solidFill>
                  <a:srgbClr val="00549F"/>
                </a:solidFill>
              </a:defRPr>
            </a:pPr>
            <a:r>
              <a:t>Concrete Requirements:</a:t>
            </a:r>
          </a:p>
          <a:p>
            <a:pPr marL="215900" indent="-215900">
              <a:lnSpc>
                <a:spcPct val="150000"/>
              </a:lnSpc>
              <a:buClr>
                <a:srgbClr val="00549F"/>
              </a:buClr>
              <a:buSzPts val="1800"/>
              <a:buFont typeface="Arial"/>
              <a:buChar char="•"/>
              <a:defRPr b="1" sz="1800"/>
            </a:pPr>
            <a:r>
              <a:t>Immediate Feedback: </a:t>
            </a:r>
            <a:r>
              <a:rPr b="0"/>
              <a:t>Continuous, automated feedback on grammar, vocabulary, organization, coherence, and writing style.</a:t>
            </a:r>
          </a:p>
          <a:p>
            <a:pPr marL="215900" indent="-215900">
              <a:lnSpc>
                <a:spcPct val="150000"/>
              </a:lnSpc>
              <a:buClr>
                <a:srgbClr val="00549F"/>
              </a:buClr>
              <a:buSzPts val="1800"/>
              <a:buFont typeface="Arial"/>
              <a:buChar char="•"/>
              <a:defRPr b="1" sz="1800"/>
            </a:pPr>
            <a:r>
              <a:t>Long-Term Enhancement: </a:t>
            </a:r>
            <a:r>
              <a:rPr b="0"/>
              <a:t>Active recall quizzes combined with spaced repetition and personalized reviews.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Google Shape;136;p28"/>
          <p:cNvSpPr txBox="1"/>
          <p:nvPr>
            <p:ph type="sldNum" sz="quarter" idx="2"/>
          </p:nvPr>
        </p:nvSpPr>
        <p:spPr>
          <a:xfrm>
            <a:off x="360363" y="6227762"/>
            <a:ext cx="127001" cy="1270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43" name="Google Shape;237;p45"/>
          <p:cNvSpPr txBox="1"/>
          <p:nvPr>
            <p:ph type="title"/>
          </p:nvPr>
        </p:nvSpPr>
        <p:spPr>
          <a:xfrm>
            <a:off x="384000" y="201600"/>
            <a:ext cx="11484000" cy="543601"/>
          </a:xfrm>
          <a:prstGeom prst="rect">
            <a:avLst/>
          </a:prstGeom>
        </p:spPr>
        <p:txBody>
          <a:bodyPr/>
          <a:lstStyle/>
          <a:p>
            <a:pPr/>
            <a:r>
              <a:t>Related Work</a:t>
            </a:r>
          </a:p>
        </p:txBody>
      </p:sp>
      <p:sp>
        <p:nvSpPr>
          <p:cNvPr id="544" name="Google Shape;238;p45"/>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Writing Assessment</a:t>
            </a:r>
          </a:p>
        </p:txBody>
      </p:sp>
      <p:graphicFrame>
        <p:nvGraphicFramePr>
          <p:cNvPr id="545" name="Google Shape;239;p45"/>
          <p:cNvGraphicFramePr/>
          <p:nvPr/>
        </p:nvGraphicFramePr>
        <p:xfrm>
          <a:off x="1404325" y="2238674"/>
          <a:ext cx="9383350" cy="1905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571750"/>
                <a:gridCol w="2571750"/>
                <a:gridCol w="1383325"/>
                <a:gridCol w="2856525"/>
              </a:tblGrid>
              <a:tr h="381000">
                <a:tc>
                  <a:txBody>
                    <a:bodyPr/>
                    <a:lstStyle/>
                    <a:p>
                      <a:pPr>
                        <a:defRPr sz="1800"/>
                      </a:pPr>
                      <a:r>
                        <a:rPr b="1" sz="1400"/>
                        <a:t>Authors</a:t>
                      </a:r>
                    </a:p>
                  </a:txBody>
                  <a:tcPr marL="90000" marR="90000" marT="90000" marB="90000" anchor="ctr" anchorCtr="0" horzOverflow="overflow"/>
                </a:tc>
                <a:tc>
                  <a:txBody>
                    <a:bodyPr/>
                    <a:lstStyle/>
                    <a:p>
                      <a:pPr>
                        <a:defRPr sz="1800"/>
                      </a:pPr>
                      <a:r>
                        <a:rPr b="1" sz="1400"/>
                        <a:t>Methodology</a:t>
                      </a:r>
                    </a:p>
                  </a:txBody>
                  <a:tcPr marL="90000" marR="90000" marT="90000" marB="90000" anchor="ctr" anchorCtr="0" horzOverflow="overflow"/>
                </a:tc>
                <a:tc>
                  <a:txBody>
                    <a:bodyPr/>
                    <a:lstStyle/>
                    <a:p>
                      <a:pPr>
                        <a:defRPr sz="1800"/>
                      </a:pPr>
                      <a:r>
                        <a:rPr b="1" sz="1400"/>
                        <a:t>AI Tools Used</a:t>
                      </a:r>
                    </a:p>
                  </a:txBody>
                  <a:tcPr marL="90000" marR="90000" marT="90000" marB="90000" anchor="ctr" anchorCtr="0" horzOverflow="overflow"/>
                </a:tc>
                <a:tc>
                  <a:txBody>
                    <a:bodyPr/>
                    <a:lstStyle/>
                    <a:p>
                      <a:pPr>
                        <a:defRPr sz="1800"/>
                      </a:pPr>
                      <a:r>
                        <a:rPr b="1" sz="1400"/>
                        <a:t>Findings</a:t>
                      </a:r>
                    </a:p>
                  </a:txBody>
                  <a:tcPr marL="90000" marR="90000" marT="90000" marB="90000" anchor="ctr" anchorCtr="0" horzOverflow="overflow"/>
                </a:tc>
              </a:tr>
              <a:tr h="381000">
                <a:tc>
                  <a:txBody>
                    <a:bodyPr/>
                    <a:lstStyle/>
                    <a:p>
                      <a:pPr>
                        <a:defRPr sz="1800"/>
                      </a:pPr>
                      <a:r>
                        <a:rPr sz="1400"/>
                        <a:t>[Tran et al., 2023]</a:t>
                      </a:r>
                    </a:p>
                  </a:txBody>
                  <a:tcPr marL="90000" marR="90000" marT="90000" marB="90000" anchor="t" anchorCtr="0" horzOverflow="overflow"/>
                </a:tc>
                <a:tc>
                  <a:txBody>
                    <a:bodyPr/>
                    <a:lstStyle/>
                    <a:p>
                      <a:pPr>
                        <a:defRPr sz="1400"/>
                      </a:pPr>
                      <a:r>
                        <a:t>Assessment with TOEFL iBT</a:t>
                      </a:r>
                      <a:r>
                        <a:rPr baseline="30000"/>
                        <a:t>1</a:t>
                      </a:r>
                      <a:r>
                        <a:t>, pre- and post-test design</a:t>
                      </a:r>
                    </a:p>
                  </a:txBody>
                  <a:tcPr marL="90000" marR="90000" marT="90000" marB="90000" anchor="t" anchorCtr="0" horzOverflow="overflow"/>
                </a:tc>
                <a:tc>
                  <a:txBody>
                    <a:bodyPr/>
                    <a:lstStyle/>
                    <a:p>
                      <a:pPr>
                        <a:defRPr sz="1400"/>
                      </a:pPr>
                    </a:p>
                  </a:txBody>
                  <a:tcPr marL="90000" marR="90000" marT="90000" marB="90000" anchor="t" anchorCtr="0" horzOverflow="overflow"/>
                </a:tc>
                <a:tc>
                  <a:txBody>
                    <a:bodyPr/>
                    <a:lstStyle/>
                    <a:p>
                      <a:pPr>
                        <a:defRPr sz="1800"/>
                      </a:pPr>
                      <a:r>
                        <a:rPr sz="1400"/>
                        <a:t>AI Tools are beneficial</a:t>
                      </a:r>
                    </a:p>
                  </a:txBody>
                  <a:tcPr marL="90000" marR="90000" marT="90000" marB="90000" anchor="t" anchorCtr="0" horzOverflow="overflow"/>
                </a:tc>
              </a:tr>
              <a:tr h="381000">
                <a:tc>
                  <a:txBody>
                    <a:bodyPr/>
                    <a:lstStyle/>
                    <a:p>
                      <a:pPr>
                        <a:defRPr sz="1800"/>
                      </a:pPr>
                      <a:r>
                        <a:rPr sz="1400"/>
                        <a:t>[Song et al., 2023]</a:t>
                      </a:r>
                    </a:p>
                  </a:txBody>
                  <a:tcPr marL="90000" marR="90000" marT="90000" marB="90000" anchor="t" anchorCtr="0" horzOverflow="overflow"/>
                </a:tc>
                <a:tc>
                  <a:txBody>
                    <a:bodyPr/>
                    <a:lstStyle/>
                    <a:p>
                      <a:pPr>
                        <a:defRPr sz="1400"/>
                      </a:pPr>
                      <a:r>
                        <a:t>Assessment with IELTS</a:t>
                      </a:r>
                      <a:r>
                        <a:rPr baseline="30000"/>
                        <a:t>2</a:t>
                      </a:r>
                      <a:r>
                        <a:t>, pre- and post-test design</a:t>
                      </a:r>
                    </a:p>
                  </a:txBody>
                  <a:tcPr marL="90000" marR="90000" marT="90000" marB="90000" anchor="t" anchorCtr="0" horzOverflow="overflow"/>
                </a:tc>
                <a:tc>
                  <a:txBody>
                    <a:bodyPr/>
                    <a:lstStyle/>
                    <a:p>
                      <a:pPr>
                        <a:defRPr sz="1400"/>
                      </a:pPr>
                    </a:p>
                  </a:txBody>
                  <a:tcPr marL="90000" marR="90000" marT="90000" marB="90000" anchor="t" anchorCtr="0" horzOverflow="overflow"/>
                </a:tc>
                <a:tc>
                  <a:txBody>
                    <a:bodyPr/>
                    <a:lstStyle/>
                    <a:p>
                      <a:pPr>
                        <a:defRPr sz="1800"/>
                      </a:pPr>
                      <a:r>
                        <a:rPr sz="1400"/>
                        <a:t>AI-assisted instruction improved writing skills</a:t>
                      </a:r>
                    </a:p>
                  </a:txBody>
                  <a:tcPr marL="90000" marR="90000" marT="90000" marB="90000" anchor="t" anchorCtr="0" horzOverflow="overflow"/>
                </a:tc>
              </a:tr>
              <a:tr h="381000">
                <a:tc>
                  <a:txBody>
                    <a:bodyPr/>
                    <a:lstStyle/>
                    <a:p>
                      <a:pPr>
                        <a:defRPr sz="1800"/>
                      </a:pPr>
                      <a:r>
                        <a:rPr sz="1400"/>
                        <a:t>[Mizumoto et al., 2023]</a:t>
                      </a:r>
                    </a:p>
                  </a:txBody>
                  <a:tcPr marL="90000" marR="90000" marT="90000" marB="90000" anchor="t" anchorCtr="0" horzOverflow="overflow"/>
                </a:tc>
                <a:tc>
                  <a:txBody>
                    <a:bodyPr/>
                    <a:lstStyle/>
                    <a:p>
                      <a:pPr>
                        <a:defRPr sz="1800"/>
                      </a:pPr>
                      <a:r>
                        <a:rPr sz="1400"/>
                        <a:t>Essay scoring</a:t>
                      </a:r>
                    </a:p>
                  </a:txBody>
                  <a:tcPr marL="90000" marR="90000" marT="90000" marB="90000" anchor="t" anchorCtr="0" horzOverflow="overflow"/>
                </a:tc>
                <a:tc>
                  <a:txBody>
                    <a:bodyPr/>
                    <a:lstStyle/>
                    <a:p>
                      <a:pPr>
                        <a:defRPr sz="1400"/>
                      </a:pPr>
                    </a:p>
                  </a:txBody>
                  <a:tcPr marL="90000" marR="90000" marT="90000" marB="90000" anchor="t" anchorCtr="0" horzOverflow="overflow"/>
                </a:tc>
                <a:tc>
                  <a:txBody>
                    <a:bodyPr/>
                    <a:lstStyle/>
                    <a:p>
                      <a:pPr>
                        <a:defRPr sz="1800"/>
                      </a:pPr>
                      <a:r>
                        <a:rPr sz="1400"/>
                        <a:t>Promising, with additional feedback</a:t>
                      </a:r>
                    </a:p>
                  </a:txBody>
                  <a:tcPr marL="90000" marR="90000" marT="90000" marB="90000" anchor="t" anchorCtr="0" horzOverflow="overflow"/>
                </a:tc>
              </a:tr>
              <a:tr h="381000">
                <a:tc>
                  <a:txBody>
                    <a:bodyPr/>
                    <a:lstStyle/>
                    <a:p>
                      <a:pPr>
                        <a:defRPr sz="1800"/>
                      </a:pPr>
                      <a:r>
                        <a:rPr sz="1400"/>
                        <a:t>[Mansour et al., 2024]</a:t>
                      </a:r>
                    </a:p>
                  </a:txBody>
                  <a:tcPr marL="90000" marR="90000" marT="90000" marB="90000" anchor="t" anchorCtr="0" horzOverflow="overflow"/>
                </a:tc>
                <a:tc>
                  <a:txBody>
                    <a:bodyPr/>
                    <a:lstStyle/>
                    <a:p>
                      <a:pPr>
                        <a:defRPr sz="1800"/>
                      </a:pPr>
                      <a:r>
                        <a:rPr sz="1400"/>
                        <a:t>Essay scoring</a:t>
                      </a:r>
                    </a:p>
                  </a:txBody>
                  <a:tcPr marL="90000" marR="90000" marT="90000" marB="90000" anchor="t" anchorCtr="0" horzOverflow="overflow"/>
                </a:tc>
                <a:tc>
                  <a:txBody>
                    <a:bodyPr/>
                    <a:lstStyle/>
                    <a:p>
                      <a:pPr>
                        <a:defRPr sz="1400"/>
                      </a:pPr>
                    </a:p>
                  </a:txBody>
                  <a:tcPr marL="90000" marR="90000" marT="90000" marB="90000" anchor="t" anchorCtr="0" horzOverflow="overflow"/>
                </a:tc>
                <a:tc>
                  <a:txBody>
                    <a:bodyPr/>
                    <a:lstStyle/>
                    <a:p>
                      <a:pPr>
                        <a:defRPr sz="1800"/>
                      </a:pPr>
                      <a:r>
                        <a:rPr sz="1400"/>
                        <a:t>Average performance, with additional feedback</a:t>
                      </a:r>
                    </a:p>
                  </a:txBody>
                  <a:tcPr marL="90000" marR="90000" marT="90000" marB="90000" anchor="t" anchorCtr="0" horzOverflow="overflow"/>
                </a:tc>
              </a:tr>
            </a:tbl>
          </a:graphicData>
        </a:graphic>
      </p:graphicFrame>
      <p:sp>
        <p:nvSpPr>
          <p:cNvPr id="546" name="Google Shape;240;p45"/>
          <p:cNvSpPr txBox="1"/>
          <p:nvPr/>
        </p:nvSpPr>
        <p:spPr>
          <a:xfrm>
            <a:off x="449300" y="5623459"/>
            <a:ext cx="5456100" cy="408128"/>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aseline="30000" sz="800"/>
            </a:pPr>
            <a:r>
              <a:t>1</a:t>
            </a:r>
            <a:r>
              <a:rPr baseline="0" u="sng">
                <a:solidFill>
                  <a:srgbClr val="612158"/>
                </a:solidFill>
                <a:uFill>
                  <a:solidFill>
                    <a:srgbClr val="612158"/>
                  </a:solidFill>
                </a:uFill>
                <a:hlinkClick r:id="rId2" invalidUrl="" action="" tgtFrame="" tooltip="" history="1" highlightClick="0" endSnd="0"/>
              </a:rPr>
              <a:t>https://www.ets.org/toefl/test-takers/ibt/about.html</a:t>
            </a:r>
          </a:p>
          <a:p>
            <a:pPr>
              <a:defRPr baseline="30000" sz="800"/>
            </a:pPr>
            <a:r>
              <a:t>2</a:t>
            </a:r>
            <a:r>
              <a:rPr baseline="0" u="sng">
                <a:solidFill>
                  <a:srgbClr val="612158"/>
                </a:solidFill>
                <a:uFill>
                  <a:solidFill>
                    <a:srgbClr val="612158"/>
                  </a:solidFill>
                </a:uFill>
                <a:hlinkClick r:id="rId3" invalidUrl="" action="" tgtFrame="" tooltip="" history="1" highlightClick="0" endSnd="0"/>
              </a:rPr>
              <a:t>https://ielts.org/organisations/ielts-for-organisations/understanding-ielts-scoring</a:t>
            </a:r>
          </a:p>
        </p:txBody>
      </p:sp>
      <p:pic>
        <p:nvPicPr>
          <p:cNvPr id="547" name="Google Shape;241;p45" descr="Google Shape;241;p45"/>
          <p:cNvPicPr>
            <a:picLocks noChangeAspect="1"/>
          </p:cNvPicPr>
          <p:nvPr/>
        </p:nvPicPr>
        <p:blipFill>
          <a:blip r:embed="rId4">
            <a:extLst/>
          </a:blip>
          <a:stretch>
            <a:fillRect/>
          </a:stretch>
        </p:blipFill>
        <p:spPr>
          <a:xfrm>
            <a:off x="7050599" y="4515832"/>
            <a:ext cx="360001" cy="360001"/>
          </a:xfrm>
          <a:prstGeom prst="rect">
            <a:avLst/>
          </a:prstGeom>
          <a:ln w="12700">
            <a:miter lim="400000"/>
          </a:ln>
        </p:spPr>
      </p:pic>
      <p:pic>
        <p:nvPicPr>
          <p:cNvPr id="548" name="Google Shape;242;p45" descr="Google Shape;242;p45"/>
          <p:cNvPicPr>
            <a:picLocks noChangeAspect="1"/>
          </p:cNvPicPr>
          <p:nvPr/>
        </p:nvPicPr>
        <p:blipFill>
          <a:blip r:embed="rId4">
            <a:extLst/>
          </a:blip>
          <a:stretch>
            <a:fillRect/>
          </a:stretch>
        </p:blipFill>
        <p:spPr>
          <a:xfrm>
            <a:off x="7050599" y="3915733"/>
            <a:ext cx="360001" cy="360001"/>
          </a:xfrm>
          <a:prstGeom prst="rect">
            <a:avLst/>
          </a:prstGeom>
          <a:ln w="12700">
            <a:miter lim="400000"/>
          </a:ln>
        </p:spPr>
      </p:pic>
      <p:pic>
        <p:nvPicPr>
          <p:cNvPr id="549" name="Google Shape;243;p45" descr="Google Shape;243;p45"/>
          <p:cNvPicPr>
            <a:picLocks noChangeAspect="1"/>
          </p:cNvPicPr>
          <p:nvPr/>
        </p:nvPicPr>
        <p:blipFill>
          <a:blip r:embed="rId4">
            <a:extLst/>
          </a:blip>
          <a:stretch>
            <a:fillRect/>
          </a:stretch>
        </p:blipFill>
        <p:spPr>
          <a:xfrm>
            <a:off x="7050599" y="3315615"/>
            <a:ext cx="360001" cy="360001"/>
          </a:xfrm>
          <a:prstGeom prst="rect">
            <a:avLst/>
          </a:prstGeom>
          <a:ln w="12700">
            <a:miter lim="400000"/>
          </a:ln>
        </p:spPr>
      </p:pic>
      <p:sp>
        <p:nvSpPr>
          <p:cNvPr id="550" name="Google Shape;244;p45"/>
          <p:cNvSpPr txBox="1"/>
          <p:nvPr/>
        </p:nvSpPr>
        <p:spPr>
          <a:xfrm>
            <a:off x="3403050" y="1799179"/>
            <a:ext cx="5385900"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a:t>
            </a:r>
            <a:r>
              <a:rPr>
                <a:solidFill>
                  <a:srgbClr val="000000"/>
                </a:solidFill>
              </a:rPr>
              <a:t> Writing assessment with AI tools</a:t>
            </a:r>
          </a:p>
        </p:txBody>
      </p:sp>
      <p:pic>
        <p:nvPicPr>
          <p:cNvPr id="551" name="Google Shape;245;p45" descr="Google Shape;245;p45"/>
          <p:cNvPicPr>
            <a:picLocks noChangeAspect="1"/>
          </p:cNvPicPr>
          <p:nvPr/>
        </p:nvPicPr>
        <p:blipFill>
          <a:blip r:embed="rId5">
            <a:extLst/>
          </a:blip>
          <a:stretch>
            <a:fillRect/>
          </a:stretch>
        </p:blipFill>
        <p:spPr>
          <a:xfrm>
            <a:off x="6690600" y="2668602"/>
            <a:ext cx="1080001" cy="237601"/>
          </a:xfrm>
          <a:prstGeom prst="rect">
            <a:avLst/>
          </a:prstGeom>
          <a:ln w="12700">
            <a:miter lim="400000"/>
          </a:ln>
        </p:spPr>
      </p:pic>
      <p:pic>
        <p:nvPicPr>
          <p:cNvPr id="552" name="Google Shape;246;p45" descr="Google Shape;246;p45"/>
          <p:cNvPicPr>
            <a:picLocks noChangeAspect="1"/>
          </p:cNvPicPr>
          <p:nvPr/>
        </p:nvPicPr>
        <p:blipFill>
          <a:blip r:embed="rId6">
            <a:extLst/>
          </a:blip>
          <a:stretch>
            <a:fillRect/>
          </a:stretch>
        </p:blipFill>
        <p:spPr>
          <a:xfrm>
            <a:off x="6690600" y="2902260"/>
            <a:ext cx="1080000" cy="337176"/>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4" name="Google Shape;136;p28"/>
          <p:cNvSpPr txBox="1"/>
          <p:nvPr>
            <p:ph type="sldNum" sz="quarter" idx="2"/>
          </p:nvPr>
        </p:nvSpPr>
        <p:spPr>
          <a:xfrm>
            <a:off x="360363" y="6227762"/>
            <a:ext cx="127001" cy="1270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55" name="Google Shape;252;p46"/>
          <p:cNvSpPr txBox="1"/>
          <p:nvPr>
            <p:ph type="title"/>
          </p:nvPr>
        </p:nvSpPr>
        <p:spPr>
          <a:xfrm>
            <a:off x="384000" y="201600"/>
            <a:ext cx="11484000" cy="543601"/>
          </a:xfrm>
          <a:prstGeom prst="rect">
            <a:avLst/>
          </a:prstGeom>
        </p:spPr>
        <p:txBody>
          <a:bodyPr/>
          <a:lstStyle/>
          <a:p>
            <a:pPr/>
            <a:r>
              <a:t>Related Work</a:t>
            </a:r>
          </a:p>
        </p:txBody>
      </p:sp>
      <p:sp>
        <p:nvSpPr>
          <p:cNvPr id="556" name="Google Shape;253;p46"/>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Writing Improvement Tools</a:t>
            </a:r>
          </a:p>
        </p:txBody>
      </p:sp>
      <p:graphicFrame>
        <p:nvGraphicFramePr>
          <p:cNvPr id="557" name="Google Shape;254;p46"/>
          <p:cNvGraphicFramePr/>
          <p:nvPr/>
        </p:nvGraphicFramePr>
        <p:xfrm>
          <a:off x="1644025" y="2488938"/>
          <a:ext cx="8903925" cy="1524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94950"/>
                <a:gridCol w="7608975"/>
              </a:tblGrid>
              <a:tr h="381000">
                <a:tc>
                  <a:txBody>
                    <a:bodyPr/>
                    <a:lstStyle/>
                    <a:p>
                      <a:pPr>
                        <a:defRPr sz="1800"/>
                      </a:pPr>
                      <a:r>
                        <a:rPr b="1" sz="1400"/>
                        <a:t>Tool</a:t>
                      </a:r>
                    </a:p>
                  </a:txBody>
                  <a:tcPr marL="91425" marR="91425" marT="91425" marB="91425" anchor="t" anchorCtr="0" horzOverflow="overflow"/>
                </a:tc>
                <a:tc>
                  <a:txBody>
                    <a:bodyPr/>
                    <a:lstStyle/>
                    <a:p>
                      <a:pPr>
                        <a:defRPr sz="1800"/>
                      </a:pPr>
                      <a:r>
                        <a:rPr b="1" sz="1400"/>
                        <a:t>Functionalities</a:t>
                      </a:r>
                    </a:p>
                  </a:txBody>
                  <a:tcPr marL="91425" marR="91425" marT="91425" marB="91425" anchor="t" anchorCtr="0" horzOverflow="overflow"/>
                </a:tc>
              </a:tr>
              <a:tr h="381000">
                <a:tc>
                  <a:txBody>
                    <a:bodyPr/>
                    <a:lstStyle/>
                    <a:p>
                      <a:pPr>
                        <a:defRPr sz="1400"/>
                      </a:pPr>
                    </a:p>
                  </a:txBody>
                  <a:tcPr marL="91425" marR="91425" marT="91425" marB="91425" anchor="t" anchorCtr="0" horzOverflow="overflow"/>
                </a:tc>
                <a:tc>
                  <a:txBody>
                    <a:bodyPr/>
                    <a:lstStyle/>
                    <a:p>
                      <a:pPr>
                        <a:lnSpc>
                          <a:spcPct val="150000"/>
                        </a:lnSpc>
                        <a:defRPr sz="1800"/>
                      </a:pPr>
                      <a:r>
                        <a:rPr sz="1400"/>
                        <a:t>Grammar and Spell Checking, Paraphrasing, Tone Adjustments, Assessment, …</a:t>
                      </a:r>
                    </a:p>
                  </a:txBody>
                  <a:tcPr marL="91425" marR="91425" marT="91425" marB="91425" anchor="t" anchorCtr="0" horzOverflow="overflow"/>
                </a:tc>
              </a:tr>
              <a:tr h="381000">
                <a:tc>
                  <a:txBody>
                    <a:bodyPr/>
                    <a:lstStyle/>
                    <a:p>
                      <a:pPr>
                        <a:defRPr sz="1400"/>
                      </a:pPr>
                    </a:p>
                  </a:txBody>
                  <a:tcPr marL="91425" marR="91425" marT="91425" marB="91425" anchor="t" anchorCtr="0" horzOverflow="overflow"/>
                </a:tc>
                <a:tc>
                  <a:txBody>
                    <a:bodyPr/>
                    <a:lstStyle/>
                    <a:p>
                      <a:pPr>
                        <a:lnSpc>
                          <a:spcPct val="150000"/>
                        </a:lnSpc>
                        <a:defRPr sz="1800"/>
                      </a:pPr>
                      <a:r>
                        <a:rPr sz="1400"/>
                        <a:t>Grammar and Spell Checking, Paraphrasing, Tone Adjustments, Summarizing, Translation, …</a:t>
                      </a:r>
                    </a:p>
                  </a:txBody>
                  <a:tcPr marL="91425" marR="91425" marT="91425" marB="91425" anchor="t" anchorCtr="0" horzOverflow="overflow"/>
                </a:tc>
              </a:tr>
              <a:tr h="381000">
                <a:tc>
                  <a:txBody>
                    <a:bodyPr/>
                    <a:lstStyle/>
                    <a:p>
                      <a:pPr>
                        <a:defRPr sz="1400"/>
                      </a:pPr>
                    </a:p>
                  </a:txBody>
                  <a:tcPr marL="91425" marR="91425" marT="91425" marB="91425" anchor="t" anchorCtr="0" horzOverflow="overflow"/>
                </a:tc>
                <a:tc>
                  <a:txBody>
                    <a:bodyPr/>
                    <a:lstStyle/>
                    <a:p>
                      <a:pPr>
                        <a:lnSpc>
                          <a:spcPct val="150000"/>
                        </a:lnSpc>
                        <a:defRPr sz="1800"/>
                      </a:pPr>
                      <a:r>
                        <a:rPr sz="1400"/>
                        <a:t>Grammar and Spell Checking, Paraphrasing, Summarizing, AI Text Generation, …</a:t>
                      </a:r>
                    </a:p>
                  </a:txBody>
                  <a:tcPr marL="91425" marR="91425" marT="91425" marB="91425" anchor="t" anchorCtr="0" horzOverflow="overflow"/>
                </a:tc>
              </a:tr>
            </a:tbl>
          </a:graphicData>
        </a:graphic>
      </p:graphicFrame>
      <p:sp>
        <p:nvSpPr>
          <p:cNvPr id="558" name="Google Shape;255;p46"/>
          <p:cNvSpPr txBox="1"/>
          <p:nvPr/>
        </p:nvSpPr>
        <p:spPr>
          <a:xfrm>
            <a:off x="1747299" y="4369049"/>
            <a:ext cx="3083701" cy="342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marL="215900" indent="-215900">
              <a:lnSpc>
                <a:spcPct val="150000"/>
              </a:lnSpc>
              <a:buClr>
                <a:srgbClr val="00549F"/>
              </a:buClr>
              <a:buSzPts val="1800"/>
              <a:buFont typeface="Arial"/>
              <a:buChar char="➔"/>
              <a:defRPr sz="1800"/>
            </a:lvl1pPr>
          </a:lstStyle>
          <a:p>
            <a:pPr/>
            <a:r>
              <a:t>Only Immediate Feedback</a:t>
            </a:r>
          </a:p>
        </p:txBody>
      </p:sp>
      <p:pic>
        <p:nvPicPr>
          <p:cNvPr id="559" name="Google Shape;256;p46" descr="Google Shape;256;p46"/>
          <p:cNvPicPr>
            <a:picLocks noChangeAspect="1"/>
          </p:cNvPicPr>
          <p:nvPr/>
        </p:nvPicPr>
        <p:blipFill>
          <a:blip r:embed="rId2">
            <a:extLst/>
          </a:blip>
          <a:stretch>
            <a:fillRect/>
          </a:stretch>
        </p:blipFill>
        <p:spPr>
          <a:xfrm>
            <a:off x="1747300" y="2950229"/>
            <a:ext cx="1080001" cy="237601"/>
          </a:xfrm>
          <a:prstGeom prst="rect">
            <a:avLst/>
          </a:prstGeom>
          <a:ln w="12700">
            <a:miter lim="400000"/>
          </a:ln>
        </p:spPr>
      </p:pic>
      <p:pic>
        <p:nvPicPr>
          <p:cNvPr id="560" name="Google Shape;257;p46" descr="Google Shape;257;p46"/>
          <p:cNvPicPr>
            <a:picLocks noChangeAspect="1"/>
          </p:cNvPicPr>
          <p:nvPr/>
        </p:nvPicPr>
        <p:blipFill>
          <a:blip r:embed="rId3">
            <a:extLst/>
          </a:blip>
          <a:stretch>
            <a:fillRect/>
          </a:stretch>
        </p:blipFill>
        <p:spPr>
          <a:xfrm>
            <a:off x="1675159" y="3287085"/>
            <a:ext cx="1080000" cy="337176"/>
          </a:xfrm>
          <a:prstGeom prst="rect">
            <a:avLst/>
          </a:prstGeom>
          <a:ln w="12700">
            <a:miter lim="400000"/>
          </a:ln>
        </p:spPr>
      </p:pic>
      <p:pic>
        <p:nvPicPr>
          <p:cNvPr id="561" name="Google Shape;258;p46" descr="Google Shape;258;p46"/>
          <p:cNvPicPr>
            <a:picLocks noChangeAspect="1"/>
          </p:cNvPicPr>
          <p:nvPr/>
        </p:nvPicPr>
        <p:blipFill>
          <a:blip r:embed="rId4">
            <a:extLst/>
          </a:blip>
          <a:stretch>
            <a:fillRect/>
          </a:stretch>
        </p:blipFill>
        <p:spPr>
          <a:xfrm>
            <a:off x="1666149" y="3436072"/>
            <a:ext cx="1080000" cy="805987"/>
          </a:xfrm>
          <a:prstGeom prst="rect">
            <a:avLst/>
          </a:prstGeom>
          <a:ln w="12700">
            <a:miter lim="400000"/>
          </a:ln>
        </p:spPr>
      </p:pic>
      <p:sp>
        <p:nvSpPr>
          <p:cNvPr id="562" name="Google Shape;259;p46"/>
          <p:cNvSpPr txBox="1"/>
          <p:nvPr/>
        </p:nvSpPr>
        <p:spPr>
          <a:xfrm>
            <a:off x="3403050" y="2078775"/>
            <a:ext cx="5385900"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2:</a:t>
            </a:r>
            <a:r>
              <a:rPr>
                <a:solidFill>
                  <a:srgbClr val="000000"/>
                </a:solidFill>
              </a:rPr>
              <a:t> Writing Improvement Tools</a:t>
            </a:r>
          </a:p>
        </p:txBody>
      </p:sp>
      <p:sp>
        <p:nvSpPr>
          <p:cNvPr id="563" name="Google Shape;260;p46"/>
          <p:cNvSpPr txBox="1"/>
          <p:nvPr/>
        </p:nvSpPr>
        <p:spPr>
          <a:xfrm>
            <a:off x="449300" y="5514500"/>
            <a:ext cx="5456100" cy="522428"/>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sz="800" u="sng">
                <a:solidFill>
                  <a:srgbClr val="612158"/>
                </a:solidFill>
              </a:defRPr>
            </a:pPr>
            <a:r>
              <a:rPr>
                <a:uFill>
                  <a:solidFill>
                    <a:srgbClr val="612158"/>
                  </a:solidFill>
                </a:uFill>
                <a:hlinkClick r:id="rId5" invalidUrl="" action="" tgtFrame="" tooltip="" history="1" highlightClick="0" endSnd="0"/>
              </a:rPr>
              <a:t>https://www.grammarly.com</a:t>
            </a:r>
            <a:r>
              <a:rPr u="none">
                <a:solidFill>
                  <a:srgbClr val="000000"/>
                </a:solidFill>
              </a:rPr>
              <a:t>/</a:t>
            </a:r>
            <a:br>
              <a:rPr u="none">
                <a:solidFill>
                  <a:srgbClr val="000000"/>
                </a:solidFill>
              </a:rPr>
            </a:br>
            <a:r>
              <a:rPr>
                <a:uFill>
                  <a:solidFill>
                    <a:srgbClr val="612158"/>
                  </a:solidFill>
                </a:uFill>
                <a:hlinkClick r:id="rId6" invalidUrl="" action="" tgtFrame="" tooltip="" history="1" highlightClick="0" endSnd="0"/>
              </a:rPr>
              <a:t>https://quillbot.com/</a:t>
            </a:r>
            <a:br/>
            <a:r>
              <a:rPr>
                <a:uFill>
                  <a:solidFill>
                    <a:srgbClr val="612158"/>
                  </a:solidFill>
                </a:uFill>
                <a:hlinkClick r:id="rId7" invalidUrl="" action="" tgtFrame="" tooltip="" history="1" highlightClick="0" endSnd="0"/>
              </a:rPr>
              <a:t>https://www.wordtune.com/</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5" name="Google Shape;136;p28"/>
          <p:cNvSpPr txBox="1"/>
          <p:nvPr>
            <p:ph type="sldNum" sz="quarter" idx="2"/>
          </p:nvPr>
        </p:nvSpPr>
        <p:spPr>
          <a:xfrm>
            <a:off x="360363" y="6227762"/>
            <a:ext cx="127001" cy="1270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66" name="Google Shape;266;p47"/>
          <p:cNvSpPr txBox="1"/>
          <p:nvPr>
            <p:ph type="title"/>
          </p:nvPr>
        </p:nvSpPr>
        <p:spPr>
          <a:xfrm>
            <a:off x="384000" y="201600"/>
            <a:ext cx="11484000" cy="543601"/>
          </a:xfrm>
          <a:prstGeom prst="rect">
            <a:avLst/>
          </a:prstGeom>
        </p:spPr>
        <p:txBody>
          <a:bodyPr/>
          <a:lstStyle/>
          <a:p>
            <a:pPr/>
            <a:r>
              <a:t>Related Work</a:t>
            </a:r>
          </a:p>
        </p:txBody>
      </p:sp>
      <p:sp>
        <p:nvSpPr>
          <p:cNvPr id="567" name="Google Shape;267;p47"/>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Long-Term Enhancement Techniques</a:t>
            </a:r>
          </a:p>
        </p:txBody>
      </p:sp>
      <p:graphicFrame>
        <p:nvGraphicFramePr>
          <p:cNvPr id="568" name="Google Shape;268;p47"/>
          <p:cNvGraphicFramePr/>
          <p:nvPr/>
        </p:nvGraphicFramePr>
        <p:xfrm>
          <a:off x="1239550" y="2641587"/>
          <a:ext cx="9712901" cy="1624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77375"/>
                <a:gridCol w="2923050"/>
                <a:gridCol w="4512475"/>
              </a:tblGrid>
              <a:tr h="381000">
                <a:tc>
                  <a:txBody>
                    <a:bodyPr/>
                    <a:lstStyle/>
                    <a:p>
                      <a:pPr>
                        <a:defRPr sz="1800"/>
                      </a:pPr>
                      <a:r>
                        <a:rPr b="1" sz="1400"/>
                        <a:t>Authors</a:t>
                      </a:r>
                    </a:p>
                  </a:txBody>
                  <a:tcPr marL="91425" marR="91425" marT="91425" marB="91425" anchor="t" anchorCtr="0" horzOverflow="overflow"/>
                </a:tc>
                <a:tc>
                  <a:txBody>
                    <a:bodyPr/>
                    <a:lstStyle/>
                    <a:p>
                      <a:pPr>
                        <a:defRPr sz="1800"/>
                      </a:pPr>
                      <a:r>
                        <a:rPr b="1" sz="1400"/>
                        <a:t>Technique</a:t>
                      </a:r>
                    </a:p>
                  </a:txBody>
                  <a:tcPr marL="91425" marR="91425" marT="91425" marB="91425" anchor="t" anchorCtr="0" horzOverflow="overflow"/>
                </a:tc>
                <a:tc>
                  <a:txBody>
                    <a:bodyPr/>
                    <a:lstStyle/>
                    <a:p>
                      <a:pPr>
                        <a:defRPr sz="1800"/>
                      </a:pPr>
                      <a:r>
                        <a:rPr b="1" sz="1400"/>
                        <a:t>Findings</a:t>
                      </a:r>
                    </a:p>
                  </a:txBody>
                  <a:tcPr marL="91425" marR="91425" marT="91425" marB="91425" anchor="t" anchorCtr="0" horzOverflow="overflow"/>
                </a:tc>
              </a:tr>
              <a:tr h="381000">
                <a:tc>
                  <a:txBody>
                    <a:bodyPr/>
                    <a:lstStyle/>
                    <a:p>
                      <a:pPr>
                        <a:defRPr sz="1800"/>
                      </a:pPr>
                      <a:r>
                        <a:rPr sz="1400"/>
                        <a:t>[Ruan et al., 2019]</a:t>
                      </a:r>
                    </a:p>
                  </a:txBody>
                  <a:tcPr marL="91425" marR="91425" marT="91425" marB="91425" anchor="t" anchorCtr="0" horzOverflow="overflow"/>
                </a:tc>
                <a:tc>
                  <a:txBody>
                    <a:bodyPr/>
                    <a:lstStyle/>
                    <a:p>
                      <a:pPr>
                        <a:defRPr sz="1800"/>
                      </a:pPr>
                      <a:r>
                        <a:rPr sz="1400"/>
                        <a:t>Active Recall, Spaced Repetition</a:t>
                      </a:r>
                    </a:p>
                  </a:txBody>
                  <a:tcPr marL="91425" marR="91425" marT="91425" marB="91425" anchor="t" anchorCtr="0" horzOverflow="overflow"/>
                </a:tc>
                <a:tc>
                  <a:txBody>
                    <a:bodyPr/>
                    <a:lstStyle/>
                    <a:p>
                      <a:pPr>
                        <a:defRPr sz="1800"/>
                      </a:pPr>
                      <a:r>
                        <a:rPr sz="1400"/>
                        <a:t>Better memory recall performance in quizzes</a:t>
                      </a:r>
                    </a:p>
                  </a:txBody>
                  <a:tcPr marL="91425" marR="91425" marT="91425" marB="91425" anchor="t" anchorCtr="0" horzOverflow="overflow"/>
                </a:tc>
              </a:tr>
              <a:tr h="381000">
                <a:tc>
                  <a:txBody>
                    <a:bodyPr/>
                    <a:lstStyle/>
                    <a:p>
                      <a:pPr>
                        <a:defRPr sz="1800"/>
                      </a:pPr>
                      <a:r>
                        <a:rPr sz="1400"/>
                        <a:t>[Dunlosky et al., 2013]</a:t>
                      </a:r>
                    </a:p>
                  </a:txBody>
                  <a:tcPr marL="91425" marR="91425" marT="91425" marB="91425" anchor="t" anchorCtr="0" horzOverflow="overflow"/>
                </a:tc>
                <a:tc>
                  <a:txBody>
                    <a:bodyPr/>
                    <a:lstStyle/>
                    <a:p>
                      <a:pPr>
                        <a:defRPr sz="1800"/>
                      </a:pPr>
                      <a:r>
                        <a:rPr sz="1400"/>
                        <a:t>Active Recall, Spaced Repetition</a:t>
                      </a:r>
                    </a:p>
                  </a:txBody>
                  <a:tcPr marL="91425" marR="91425" marT="91425" marB="91425" anchor="t" anchorCtr="0" horzOverflow="overflow"/>
                </a:tc>
                <a:tc>
                  <a:txBody>
                    <a:bodyPr/>
                    <a:lstStyle/>
                    <a:p>
                      <a:pPr>
                        <a:defRPr sz="1800"/>
                      </a:pPr>
                      <a:r>
                        <a:rPr sz="1400"/>
                        <a:t>Reinforces learning in quizzes</a:t>
                      </a:r>
                    </a:p>
                  </a:txBody>
                  <a:tcPr marL="91425" marR="91425" marT="91425" marB="91425" anchor="t" anchorCtr="0" horzOverflow="overflow"/>
                </a:tc>
              </a:tr>
              <a:tr h="381000">
                <a:tc>
                  <a:txBody>
                    <a:bodyPr/>
                    <a:lstStyle/>
                    <a:p>
                      <a:pPr>
                        <a:defRPr sz="1800"/>
                      </a:pPr>
                      <a:r>
                        <a:rPr sz="1400"/>
                        <a:t>[Chang, 2019]</a:t>
                      </a:r>
                    </a:p>
                  </a:txBody>
                  <a:tcPr marL="91425" marR="91425" marT="91425" marB="91425" anchor="t" anchorCtr="0" horzOverflow="overflow"/>
                </a:tc>
                <a:tc>
                  <a:txBody>
                    <a:bodyPr/>
                    <a:lstStyle/>
                    <a:p>
                      <a:pPr>
                        <a:defRPr sz="1800"/>
                      </a:pPr>
                      <a:r>
                        <a:rPr sz="1400"/>
                        <a:t>Reflective Learning</a:t>
                      </a:r>
                    </a:p>
                  </a:txBody>
                  <a:tcPr marL="91425" marR="91425" marT="91425" marB="91425" anchor="t" anchorCtr="0" horzOverflow="overflow"/>
                </a:tc>
                <a:tc>
                  <a:txBody>
                    <a:bodyPr/>
                    <a:lstStyle/>
                    <a:p>
                      <a:pPr>
                        <a:defRPr sz="1800"/>
                      </a:pPr>
                      <a:r>
                        <a:rPr sz="1400"/>
                        <a:t>Identifies knowledge gaps and supports deep learning</a:t>
                      </a:r>
                    </a:p>
                  </a:txBody>
                  <a:tcPr marL="91425" marR="91425" marT="91425" marB="91425" anchor="t" anchorCtr="0" horzOverflow="overflow"/>
                </a:tc>
              </a:tr>
              <a:tr h="101600">
                <a:tc>
                  <a:txBody>
                    <a:bodyPr/>
                    <a:lstStyle/>
                    <a:p>
                      <a:pPr>
                        <a:defRPr sz="1800"/>
                      </a:pPr>
                      <a:r>
                        <a:rPr sz="1400"/>
                        <a:t>[Song et al., 2023]</a:t>
                      </a:r>
                    </a:p>
                  </a:txBody>
                  <a:tcPr marL="91425" marR="91425" marT="91425" marB="91425" anchor="t" anchorCtr="0" horzOverflow="overflow"/>
                </a:tc>
                <a:tc>
                  <a:txBody>
                    <a:bodyPr/>
                    <a:lstStyle/>
                    <a:p>
                      <a:pPr>
                        <a:defRPr sz="1800"/>
                      </a:pPr>
                      <a:r>
                        <a:rPr sz="1400"/>
                        <a:t>Reflective Learning</a:t>
                      </a:r>
                    </a:p>
                  </a:txBody>
                  <a:tcPr marL="91425" marR="91425" marT="91425" marB="91425" anchor="t" anchorCtr="0" horzOverflow="overflow"/>
                </a:tc>
                <a:tc>
                  <a:txBody>
                    <a:bodyPr/>
                    <a:lstStyle/>
                    <a:p>
                      <a:pPr>
                        <a:defRPr sz="1800"/>
                      </a:pPr>
                      <a:r>
                        <a:rPr sz="1400"/>
                        <a:t>Reflective learning encouraged by ChatGPT</a:t>
                      </a:r>
                    </a:p>
                  </a:txBody>
                  <a:tcPr marL="91425" marR="91425" marT="91425" marB="91425" anchor="t" anchorCtr="0" horzOverflow="overflow"/>
                </a:tc>
              </a:tr>
            </a:tbl>
          </a:graphicData>
        </a:graphic>
      </p:graphicFrame>
      <p:sp>
        <p:nvSpPr>
          <p:cNvPr id="569" name="Google Shape;269;p47"/>
          <p:cNvSpPr txBox="1"/>
          <p:nvPr/>
        </p:nvSpPr>
        <p:spPr>
          <a:xfrm>
            <a:off x="3403050" y="2235387"/>
            <a:ext cx="5385900"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3:</a:t>
            </a:r>
            <a:r>
              <a:rPr>
                <a:solidFill>
                  <a:srgbClr val="000000"/>
                </a:solidFill>
              </a:rPr>
              <a:t> Long-term memory enhancement techniques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1" name="Google Shape;136;p28"/>
          <p:cNvSpPr txBox="1"/>
          <p:nvPr>
            <p:ph type="sldNum" sz="quarter" idx="2"/>
          </p:nvPr>
        </p:nvSpPr>
        <p:spPr>
          <a:xfrm>
            <a:off x="360363" y="6227762"/>
            <a:ext cx="127001" cy="1270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72" name="Google Shape;275;p48"/>
          <p:cNvSpPr/>
          <p:nvPr/>
        </p:nvSpPr>
        <p:spPr>
          <a:xfrm>
            <a:off x="7176799" y="1666050"/>
            <a:ext cx="3992702" cy="3525900"/>
          </a:xfrm>
          <a:prstGeom prst="roundRect">
            <a:avLst>
              <a:gd name="adj" fmla="val 16667"/>
            </a:avLst>
          </a:prstGeom>
          <a:solidFill>
            <a:srgbClr val="8EBAE5"/>
          </a:solidFill>
          <a:ln>
            <a:solidFill>
              <a:srgbClr val="00549F"/>
            </a:solidFill>
          </a:ln>
        </p:spPr>
        <p:txBody>
          <a:bodyPr lIns="0" tIns="0" rIns="0" bIns="0" anchor="ctr"/>
          <a:lstStyle/>
          <a:p>
            <a:pPr algn="ctr"/>
          </a:p>
        </p:txBody>
      </p:sp>
      <p:sp>
        <p:nvSpPr>
          <p:cNvPr id="573" name="Google Shape;276;p48"/>
          <p:cNvSpPr txBox="1"/>
          <p:nvPr>
            <p:ph type="title"/>
          </p:nvPr>
        </p:nvSpPr>
        <p:spPr>
          <a:xfrm>
            <a:off x="384000" y="201600"/>
            <a:ext cx="11484000" cy="543601"/>
          </a:xfrm>
          <a:prstGeom prst="rect">
            <a:avLst/>
          </a:prstGeom>
        </p:spPr>
        <p:txBody>
          <a:bodyPr/>
          <a:lstStyle/>
          <a:p>
            <a:pPr/>
            <a:r>
              <a:t>Conceptualization</a:t>
            </a:r>
          </a:p>
        </p:txBody>
      </p:sp>
      <p:sp>
        <p:nvSpPr>
          <p:cNvPr id="574" name="Google Shape;277;p48"/>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Use Cases</a:t>
            </a:r>
          </a:p>
        </p:txBody>
      </p:sp>
      <p:sp>
        <p:nvSpPr>
          <p:cNvPr id="575" name="Google Shape;278;p48"/>
          <p:cNvSpPr txBox="1"/>
          <p:nvPr/>
        </p:nvSpPr>
        <p:spPr>
          <a:xfrm>
            <a:off x="384000" y="1802463"/>
            <a:ext cx="2538300" cy="406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50000"/>
              </a:lnSpc>
              <a:defRPr sz="1800">
                <a:solidFill>
                  <a:srgbClr val="00549F"/>
                </a:solidFill>
              </a:defRPr>
            </a:lvl1pPr>
          </a:lstStyle>
          <a:p>
            <a:pPr/>
            <a:r>
              <a:t>Correction</a:t>
            </a:r>
          </a:p>
        </p:txBody>
      </p:sp>
      <p:sp>
        <p:nvSpPr>
          <p:cNvPr id="576" name="Google Shape;279;p48"/>
          <p:cNvSpPr txBox="1"/>
          <p:nvPr/>
        </p:nvSpPr>
        <p:spPr>
          <a:xfrm>
            <a:off x="449300" y="3901313"/>
            <a:ext cx="2538300" cy="406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50000"/>
              </a:lnSpc>
              <a:defRPr sz="1800">
                <a:solidFill>
                  <a:srgbClr val="00549F"/>
                </a:solidFill>
              </a:defRPr>
            </a:lvl1pPr>
          </a:lstStyle>
          <a:p>
            <a:pPr/>
            <a:r>
              <a:t>Scoring</a:t>
            </a:r>
          </a:p>
        </p:txBody>
      </p:sp>
      <p:sp>
        <p:nvSpPr>
          <p:cNvPr id="577" name="Google Shape;280;p48"/>
          <p:cNvSpPr txBox="1"/>
          <p:nvPr/>
        </p:nvSpPr>
        <p:spPr>
          <a:xfrm>
            <a:off x="383999" y="2209275"/>
            <a:ext cx="5673902" cy="1318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5900" indent="-215900">
              <a:lnSpc>
                <a:spcPct val="150000"/>
              </a:lnSpc>
              <a:buClr>
                <a:srgbClr val="00549F"/>
              </a:buClr>
              <a:buSzPts val="1800"/>
              <a:buFont typeface="Arial"/>
              <a:buChar char="•"/>
              <a:defRPr sz="1800"/>
            </a:pPr>
            <a:r>
              <a:t>Checks grammar, vocabulary, organization, coherence and writing style</a:t>
            </a:r>
          </a:p>
          <a:p>
            <a:pPr marL="215900" indent="-215900">
              <a:lnSpc>
                <a:spcPct val="150000"/>
              </a:lnSpc>
              <a:buClr>
                <a:srgbClr val="00549F"/>
              </a:buClr>
              <a:buSzPts val="1800"/>
              <a:buFont typeface="Arial"/>
              <a:buChar char="•"/>
              <a:defRPr sz="1800"/>
            </a:pPr>
            <a:r>
              <a:t>Explanations with language selection</a:t>
            </a:r>
          </a:p>
        </p:txBody>
      </p:sp>
      <p:sp>
        <p:nvSpPr>
          <p:cNvPr id="578" name="Google Shape;281;p48"/>
          <p:cNvSpPr txBox="1"/>
          <p:nvPr/>
        </p:nvSpPr>
        <p:spPr>
          <a:xfrm>
            <a:off x="449300" y="4308125"/>
            <a:ext cx="5608500" cy="8079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5900" indent="-215900">
              <a:lnSpc>
                <a:spcPct val="150000"/>
              </a:lnSpc>
              <a:buClr>
                <a:srgbClr val="00549F"/>
              </a:buClr>
              <a:buSzPts val="1800"/>
              <a:buFont typeface="Arial"/>
              <a:buChar char="•"/>
              <a:defRPr sz="1800"/>
            </a:pPr>
            <a:r>
              <a:t>Writing evaluation against academic standards</a:t>
            </a:r>
          </a:p>
          <a:p>
            <a:pPr lvl="1" marL="431800" indent="-215900">
              <a:lnSpc>
                <a:spcPct val="150000"/>
              </a:lnSpc>
              <a:buClr>
                <a:srgbClr val="00549F"/>
              </a:buClr>
              <a:buSzPts val="1600"/>
              <a:buFont typeface="Helvetica"/>
              <a:buChar char="−"/>
              <a:defRPr sz="1600"/>
            </a:pPr>
            <a:r>
              <a:t>Rubric based on IELTS</a:t>
            </a:r>
            <a:r>
              <a:rPr baseline="30000"/>
              <a:t>6</a:t>
            </a:r>
            <a:r>
              <a:t>, TOEFL iBT</a:t>
            </a:r>
            <a:r>
              <a:rPr baseline="30000"/>
              <a:t>7</a:t>
            </a:r>
            <a:r>
              <a:t>, PTE Academic</a:t>
            </a:r>
            <a:r>
              <a:rPr baseline="30000"/>
              <a:t>8</a:t>
            </a:r>
          </a:p>
        </p:txBody>
      </p:sp>
      <p:sp>
        <p:nvSpPr>
          <p:cNvPr id="579" name="Google Shape;282;p48"/>
          <p:cNvSpPr txBox="1"/>
          <p:nvPr/>
        </p:nvSpPr>
        <p:spPr>
          <a:xfrm>
            <a:off x="449300" y="5514500"/>
            <a:ext cx="5456100" cy="522428"/>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aseline="30000" sz="800"/>
            </a:pPr>
            <a:r>
              <a:t>6</a:t>
            </a:r>
            <a:r>
              <a:rPr baseline="0" u="sng">
                <a:solidFill>
                  <a:srgbClr val="612158"/>
                </a:solidFill>
                <a:uFill>
                  <a:solidFill>
                    <a:srgbClr val="612158"/>
                  </a:solidFill>
                </a:uFill>
                <a:hlinkClick r:id="rId2" invalidUrl="" action="" tgtFrame="" tooltip="" history="1" highlightClick="0" endSnd="0"/>
              </a:rPr>
              <a:t>https://ielts.org/organisations/ielts-for-organisations/understanding-ielts-scoring</a:t>
            </a:r>
          </a:p>
          <a:p>
            <a:pPr>
              <a:defRPr baseline="30000" sz="800"/>
            </a:pPr>
            <a:r>
              <a:t>7</a:t>
            </a:r>
            <a:r>
              <a:rPr baseline="0" u="sng">
                <a:solidFill>
                  <a:srgbClr val="612158"/>
                </a:solidFill>
                <a:uFill>
                  <a:solidFill>
                    <a:srgbClr val="612158"/>
                  </a:solidFill>
                </a:uFill>
                <a:hlinkClick r:id="rId3" invalidUrl="" action="" tgtFrame="" tooltip="" history="1" highlightClick="0" endSnd="0"/>
              </a:rPr>
              <a:t>https://www.ets.org/toefl/test-takers/ibt/about.html</a:t>
            </a:r>
          </a:p>
          <a:p>
            <a:pPr>
              <a:defRPr baseline="30000" sz="800"/>
            </a:pPr>
            <a:r>
              <a:t>8</a:t>
            </a:r>
            <a:r>
              <a:rPr baseline="0" u="sng">
                <a:solidFill>
                  <a:srgbClr val="612158"/>
                </a:solidFill>
                <a:uFill>
                  <a:solidFill>
                    <a:srgbClr val="612158"/>
                  </a:solidFill>
                </a:uFill>
                <a:hlinkClick r:id="rId4" invalidUrl="" action="" tgtFrame="" tooltip="" history="1" highlightClick="0" endSnd="0"/>
              </a:rPr>
              <a:t>https://www.pearsonpte.com/pte-academic/scoring</a:t>
            </a:r>
          </a:p>
        </p:txBody>
      </p:sp>
      <p:pic>
        <p:nvPicPr>
          <p:cNvPr id="580" name="Google Shape;283;p48" descr="Google Shape;283;p48"/>
          <p:cNvPicPr>
            <a:picLocks noChangeAspect="1"/>
          </p:cNvPicPr>
          <p:nvPr/>
        </p:nvPicPr>
        <p:blipFill>
          <a:blip r:embed="rId5">
            <a:extLst/>
          </a:blip>
          <a:stretch>
            <a:fillRect/>
          </a:stretch>
        </p:blipFill>
        <p:spPr>
          <a:xfrm>
            <a:off x="8829299" y="2237375"/>
            <a:ext cx="720001" cy="720001"/>
          </a:xfrm>
          <a:prstGeom prst="rect">
            <a:avLst/>
          </a:prstGeom>
          <a:ln w="12700">
            <a:miter lim="400000"/>
          </a:ln>
        </p:spPr>
      </p:pic>
      <p:sp>
        <p:nvSpPr>
          <p:cNvPr id="581" name="Google Shape;284;p48"/>
          <p:cNvSpPr txBox="1"/>
          <p:nvPr/>
        </p:nvSpPr>
        <p:spPr>
          <a:xfrm>
            <a:off x="8495138" y="2957374"/>
            <a:ext cx="1356001"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solidFill>
                  <a:srgbClr val="E8F1FA"/>
                </a:solidFill>
              </a:defRPr>
            </a:lvl1pPr>
          </a:lstStyle>
          <a:p>
            <a:pPr/>
            <a:r>
              <a:t>AI Evaluation</a:t>
            </a:r>
          </a:p>
        </p:txBody>
      </p:sp>
      <p:pic>
        <p:nvPicPr>
          <p:cNvPr id="582" name="Google Shape;285;p48" descr="Google Shape;285;p48"/>
          <p:cNvPicPr>
            <a:picLocks noChangeAspect="1"/>
          </p:cNvPicPr>
          <p:nvPr/>
        </p:nvPicPr>
        <p:blipFill>
          <a:blip r:embed="rId6">
            <a:extLst/>
          </a:blip>
          <a:stretch>
            <a:fillRect/>
          </a:stretch>
        </p:blipFill>
        <p:spPr>
          <a:xfrm>
            <a:off x="9605174" y="3996487"/>
            <a:ext cx="720001" cy="720001"/>
          </a:xfrm>
          <a:prstGeom prst="rect">
            <a:avLst/>
          </a:prstGeom>
          <a:ln w="12700">
            <a:miter lim="400000"/>
          </a:ln>
        </p:spPr>
      </p:pic>
      <p:pic>
        <p:nvPicPr>
          <p:cNvPr id="583" name="Google Shape;286;p48" descr="Google Shape;286;p48"/>
          <p:cNvPicPr>
            <a:picLocks noChangeAspect="1"/>
          </p:cNvPicPr>
          <p:nvPr/>
        </p:nvPicPr>
        <p:blipFill>
          <a:blip r:embed="rId7">
            <a:extLst/>
          </a:blip>
          <a:stretch>
            <a:fillRect/>
          </a:stretch>
        </p:blipFill>
        <p:spPr>
          <a:xfrm>
            <a:off x="7914650" y="3996499"/>
            <a:ext cx="720001" cy="720001"/>
          </a:xfrm>
          <a:prstGeom prst="rect">
            <a:avLst/>
          </a:prstGeom>
          <a:ln w="12700">
            <a:miter lim="400000"/>
          </a:ln>
        </p:spPr>
      </p:pic>
      <p:sp>
        <p:nvSpPr>
          <p:cNvPr id="584" name="Google Shape;287;p48"/>
          <p:cNvSpPr txBox="1"/>
          <p:nvPr/>
        </p:nvSpPr>
        <p:spPr>
          <a:xfrm>
            <a:off x="7719949" y="4716500"/>
            <a:ext cx="11094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solidFill>
                  <a:srgbClr val="E8F1FA"/>
                </a:solidFill>
              </a:defRPr>
            </a:lvl1pPr>
          </a:lstStyle>
          <a:p>
            <a:pPr/>
            <a:r>
              <a:t>Correction</a:t>
            </a:r>
          </a:p>
        </p:txBody>
      </p:sp>
      <p:sp>
        <p:nvSpPr>
          <p:cNvPr id="585" name="Google Shape;288;p48"/>
          <p:cNvSpPr txBox="1"/>
          <p:nvPr/>
        </p:nvSpPr>
        <p:spPr>
          <a:xfrm>
            <a:off x="9549287" y="4716500"/>
            <a:ext cx="8625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solidFill>
                  <a:srgbClr val="E8F1FA"/>
                </a:solidFill>
              </a:defRPr>
            </a:lvl1pPr>
          </a:lstStyle>
          <a:p>
            <a:pPr/>
            <a:r>
              <a:t>Scoring</a:t>
            </a:r>
          </a:p>
        </p:txBody>
      </p:sp>
      <p:sp>
        <p:nvSpPr>
          <p:cNvPr id="586" name="Google Shape;289;p48"/>
          <p:cNvSpPr/>
          <p:nvPr/>
        </p:nvSpPr>
        <p:spPr>
          <a:xfrm flipV="1">
            <a:off x="8455549" y="3368250"/>
            <a:ext cx="373801" cy="484500"/>
          </a:xfrm>
          <a:prstGeom prst="line">
            <a:avLst/>
          </a:prstGeom>
          <a:ln w="19050">
            <a:solidFill>
              <a:srgbClr val="E8F1FA"/>
            </a:solidFill>
          </a:ln>
        </p:spPr>
        <p:txBody>
          <a:bodyPr lIns="0" tIns="0" rIns="0" bIns="0"/>
          <a:lstStyle/>
          <a:p>
            <a:pPr/>
          </a:p>
        </p:txBody>
      </p:sp>
      <p:sp>
        <p:nvSpPr>
          <p:cNvPr id="587" name="Google Shape;290;p48"/>
          <p:cNvSpPr/>
          <p:nvPr/>
        </p:nvSpPr>
        <p:spPr>
          <a:xfrm flipH="1" flipV="1">
            <a:off x="9409400" y="3367499"/>
            <a:ext cx="374401" cy="486001"/>
          </a:xfrm>
          <a:prstGeom prst="line">
            <a:avLst/>
          </a:prstGeom>
          <a:ln w="19050">
            <a:solidFill>
              <a:srgbClr val="E8F1FA"/>
            </a:solidFill>
          </a:ln>
        </p:spPr>
        <p:txBody>
          <a:bodyPr lIns="0" tIns="0" rIns="0" bIns="0"/>
          <a:lstStyle/>
          <a:p>
            <a:pPr/>
          </a:p>
        </p:txBody>
      </p:sp>
      <p:sp>
        <p:nvSpPr>
          <p:cNvPr id="588" name="Google Shape;291;p48"/>
          <p:cNvSpPr txBox="1"/>
          <p:nvPr/>
        </p:nvSpPr>
        <p:spPr>
          <a:xfrm>
            <a:off x="7552800" y="1704750"/>
            <a:ext cx="3273000" cy="404803"/>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600">
                <a:solidFill>
                  <a:srgbClr val="00549F"/>
                </a:solidFill>
              </a:defRPr>
            </a:lvl1pPr>
          </a:lstStyle>
          <a:p>
            <a:pPr/>
            <a:r>
              <a:t>Immediate Writing Improvement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0" name="Google Shape;136;p28"/>
          <p:cNvSpPr txBox="1"/>
          <p:nvPr>
            <p:ph type="sldNum" sz="quarter" idx="2"/>
          </p:nvPr>
        </p:nvSpPr>
        <p:spPr>
          <a:xfrm>
            <a:off x="360363" y="6227762"/>
            <a:ext cx="127001" cy="1270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91" name="Google Shape;297;p49"/>
          <p:cNvSpPr/>
          <p:nvPr/>
        </p:nvSpPr>
        <p:spPr>
          <a:xfrm>
            <a:off x="6880200" y="1666050"/>
            <a:ext cx="4378201" cy="3525900"/>
          </a:xfrm>
          <a:prstGeom prst="roundRect">
            <a:avLst>
              <a:gd name="adj" fmla="val 16667"/>
            </a:avLst>
          </a:prstGeom>
          <a:solidFill>
            <a:srgbClr val="8EBAE5"/>
          </a:solidFill>
          <a:ln>
            <a:solidFill>
              <a:srgbClr val="00549F"/>
            </a:solidFill>
          </a:ln>
        </p:spPr>
        <p:txBody>
          <a:bodyPr lIns="0" tIns="0" rIns="0" bIns="0" anchor="ctr"/>
          <a:lstStyle/>
          <a:p>
            <a:pPr algn="ctr"/>
          </a:p>
        </p:txBody>
      </p:sp>
      <p:sp>
        <p:nvSpPr>
          <p:cNvPr id="592" name="Google Shape;298;p49"/>
          <p:cNvSpPr txBox="1"/>
          <p:nvPr>
            <p:ph type="title"/>
          </p:nvPr>
        </p:nvSpPr>
        <p:spPr>
          <a:xfrm>
            <a:off x="384000" y="201600"/>
            <a:ext cx="11484000" cy="543601"/>
          </a:xfrm>
          <a:prstGeom prst="rect">
            <a:avLst/>
          </a:prstGeom>
        </p:spPr>
        <p:txBody>
          <a:bodyPr/>
          <a:lstStyle/>
          <a:p>
            <a:pPr/>
            <a:r>
              <a:t>Conceptualization</a:t>
            </a:r>
          </a:p>
        </p:txBody>
      </p:sp>
      <p:sp>
        <p:nvSpPr>
          <p:cNvPr id="593" name="Google Shape;299;p49"/>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Use Cases</a:t>
            </a:r>
          </a:p>
        </p:txBody>
      </p:sp>
      <p:sp>
        <p:nvSpPr>
          <p:cNvPr id="594" name="Google Shape;300;p49"/>
          <p:cNvSpPr txBox="1"/>
          <p:nvPr/>
        </p:nvSpPr>
        <p:spPr>
          <a:xfrm>
            <a:off x="384000" y="1802463"/>
            <a:ext cx="2538300" cy="406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50000"/>
              </a:lnSpc>
              <a:defRPr sz="1800">
                <a:solidFill>
                  <a:srgbClr val="00549F"/>
                </a:solidFill>
              </a:defRPr>
            </a:lvl1pPr>
          </a:lstStyle>
          <a:p>
            <a:pPr/>
            <a:r>
              <a:t>Quiz</a:t>
            </a:r>
          </a:p>
        </p:txBody>
      </p:sp>
      <p:sp>
        <p:nvSpPr>
          <p:cNvPr id="595" name="Google Shape;301;p49"/>
          <p:cNvSpPr txBox="1"/>
          <p:nvPr/>
        </p:nvSpPr>
        <p:spPr>
          <a:xfrm>
            <a:off x="384000" y="2876362"/>
            <a:ext cx="2538300" cy="40680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50000"/>
              </a:lnSpc>
              <a:defRPr sz="1800">
                <a:solidFill>
                  <a:srgbClr val="00549F"/>
                </a:solidFill>
              </a:defRPr>
            </a:lvl1pPr>
          </a:lstStyle>
          <a:p>
            <a:pPr/>
            <a:r>
              <a:t>Review</a:t>
            </a:r>
          </a:p>
        </p:txBody>
      </p:sp>
      <p:sp>
        <p:nvSpPr>
          <p:cNvPr id="596" name="Google Shape;302;p49"/>
          <p:cNvSpPr txBox="1"/>
          <p:nvPr/>
        </p:nvSpPr>
        <p:spPr>
          <a:xfrm>
            <a:off x="383999" y="2209275"/>
            <a:ext cx="5393102" cy="1318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marL="215900" indent="-215900">
              <a:lnSpc>
                <a:spcPct val="150000"/>
              </a:lnSpc>
              <a:buClr>
                <a:srgbClr val="00549F"/>
              </a:buClr>
              <a:buSzPts val="1800"/>
              <a:buFont typeface="Arial"/>
              <a:buChar char="•"/>
              <a:defRPr sz="1800"/>
            </a:lvl1pPr>
          </a:lstStyle>
          <a:p>
            <a:pPr/>
            <a:r>
              <a:t>Learning progress enhancement</a:t>
            </a:r>
          </a:p>
        </p:txBody>
      </p:sp>
      <p:sp>
        <p:nvSpPr>
          <p:cNvPr id="597" name="Google Shape;303;p49"/>
          <p:cNvSpPr txBox="1"/>
          <p:nvPr/>
        </p:nvSpPr>
        <p:spPr>
          <a:xfrm>
            <a:off x="384000" y="3283175"/>
            <a:ext cx="5327701" cy="8079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marL="215900" indent="-215900">
              <a:lnSpc>
                <a:spcPct val="150000"/>
              </a:lnSpc>
              <a:buClr>
                <a:srgbClr val="00549F"/>
              </a:buClr>
              <a:buSzPts val="1800"/>
              <a:buFont typeface="Arial"/>
              <a:buChar char="•"/>
              <a:defRPr sz="1800"/>
            </a:lvl1pPr>
          </a:lstStyle>
          <a:p>
            <a:pPr/>
            <a:r>
              <a:t>Reflection on past work through tips and recent improvements</a:t>
            </a:r>
          </a:p>
        </p:txBody>
      </p:sp>
      <p:sp>
        <p:nvSpPr>
          <p:cNvPr id="598" name="Google Shape;304;p49"/>
          <p:cNvSpPr txBox="1"/>
          <p:nvPr/>
        </p:nvSpPr>
        <p:spPr>
          <a:xfrm>
            <a:off x="9084575" y="2957374"/>
            <a:ext cx="914101"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solidFill>
                  <a:srgbClr val="E8F1FA"/>
                </a:solidFill>
              </a:defRPr>
            </a:lvl1pPr>
          </a:lstStyle>
          <a:p>
            <a:pPr/>
            <a:r>
              <a:t>Review</a:t>
            </a:r>
          </a:p>
        </p:txBody>
      </p:sp>
      <p:sp>
        <p:nvSpPr>
          <p:cNvPr id="599" name="Google Shape;305;p49"/>
          <p:cNvSpPr txBox="1"/>
          <p:nvPr/>
        </p:nvSpPr>
        <p:spPr>
          <a:xfrm>
            <a:off x="8337725" y="4716500"/>
            <a:ext cx="6108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solidFill>
                  <a:srgbClr val="E8F1FA"/>
                </a:solidFill>
              </a:defRPr>
            </a:lvl1pPr>
          </a:lstStyle>
          <a:p>
            <a:pPr/>
            <a:r>
              <a:t>Tips</a:t>
            </a:r>
          </a:p>
        </p:txBody>
      </p:sp>
      <p:sp>
        <p:nvSpPr>
          <p:cNvPr id="600" name="Google Shape;306;p49"/>
          <p:cNvSpPr txBox="1"/>
          <p:nvPr/>
        </p:nvSpPr>
        <p:spPr>
          <a:xfrm>
            <a:off x="9627524" y="4716500"/>
            <a:ext cx="14430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solidFill>
                  <a:srgbClr val="E8F1FA"/>
                </a:solidFill>
              </a:defRPr>
            </a:lvl1pPr>
          </a:lstStyle>
          <a:p>
            <a:pPr/>
            <a:r>
              <a:t>Improvements</a:t>
            </a:r>
          </a:p>
        </p:txBody>
      </p:sp>
      <p:pic>
        <p:nvPicPr>
          <p:cNvPr id="601" name="Google Shape;307;p49" descr="Google Shape;307;p49"/>
          <p:cNvPicPr>
            <a:picLocks noChangeAspect="1"/>
          </p:cNvPicPr>
          <p:nvPr/>
        </p:nvPicPr>
        <p:blipFill>
          <a:blip r:embed="rId2">
            <a:extLst/>
          </a:blip>
          <a:stretch>
            <a:fillRect/>
          </a:stretch>
        </p:blipFill>
        <p:spPr>
          <a:xfrm>
            <a:off x="9989012" y="3996499"/>
            <a:ext cx="720001" cy="720001"/>
          </a:xfrm>
          <a:prstGeom prst="rect">
            <a:avLst/>
          </a:prstGeom>
          <a:ln w="12700">
            <a:miter lim="400000"/>
          </a:ln>
        </p:spPr>
      </p:pic>
      <p:pic>
        <p:nvPicPr>
          <p:cNvPr id="602" name="Google Shape;308;p49" descr="Google Shape;308;p49"/>
          <p:cNvPicPr>
            <a:picLocks noChangeAspect="1"/>
          </p:cNvPicPr>
          <p:nvPr/>
        </p:nvPicPr>
        <p:blipFill>
          <a:blip r:embed="rId3">
            <a:extLst/>
          </a:blip>
          <a:stretch>
            <a:fillRect/>
          </a:stretch>
        </p:blipFill>
        <p:spPr>
          <a:xfrm>
            <a:off x="8283124" y="3996499"/>
            <a:ext cx="720001" cy="720001"/>
          </a:xfrm>
          <a:prstGeom prst="rect">
            <a:avLst/>
          </a:prstGeom>
          <a:ln w="12700">
            <a:miter lim="400000"/>
          </a:ln>
        </p:spPr>
      </p:pic>
      <p:pic>
        <p:nvPicPr>
          <p:cNvPr id="603" name="Google Shape;309;p49" descr="Google Shape;309;p49"/>
          <p:cNvPicPr>
            <a:picLocks noChangeAspect="1"/>
          </p:cNvPicPr>
          <p:nvPr/>
        </p:nvPicPr>
        <p:blipFill>
          <a:blip r:embed="rId4">
            <a:extLst/>
          </a:blip>
          <a:stretch>
            <a:fillRect/>
          </a:stretch>
        </p:blipFill>
        <p:spPr>
          <a:xfrm>
            <a:off x="9197763" y="2237383"/>
            <a:ext cx="720001" cy="720001"/>
          </a:xfrm>
          <a:prstGeom prst="rect">
            <a:avLst/>
          </a:prstGeom>
          <a:ln w="12700">
            <a:miter lim="400000"/>
          </a:ln>
        </p:spPr>
      </p:pic>
      <p:pic>
        <p:nvPicPr>
          <p:cNvPr id="604" name="Google Shape;310;p49" descr="Google Shape;310;p49"/>
          <p:cNvPicPr>
            <a:picLocks noChangeAspect="1"/>
          </p:cNvPicPr>
          <p:nvPr/>
        </p:nvPicPr>
        <p:blipFill>
          <a:blip r:embed="rId5">
            <a:extLst/>
          </a:blip>
          <a:stretch>
            <a:fillRect/>
          </a:stretch>
        </p:blipFill>
        <p:spPr>
          <a:xfrm>
            <a:off x="7406475" y="2876362"/>
            <a:ext cx="720001" cy="720001"/>
          </a:xfrm>
          <a:prstGeom prst="rect">
            <a:avLst/>
          </a:prstGeom>
          <a:ln w="12700">
            <a:miter lim="400000"/>
          </a:ln>
        </p:spPr>
      </p:pic>
      <p:sp>
        <p:nvSpPr>
          <p:cNvPr id="605" name="Google Shape;311;p49"/>
          <p:cNvSpPr txBox="1"/>
          <p:nvPr/>
        </p:nvSpPr>
        <p:spPr>
          <a:xfrm>
            <a:off x="7406475" y="3574839"/>
            <a:ext cx="610801"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solidFill>
                  <a:srgbClr val="E8F1FA"/>
                </a:solidFill>
              </a:defRPr>
            </a:lvl1pPr>
          </a:lstStyle>
          <a:p>
            <a:pPr/>
            <a:r>
              <a:t>Quiz</a:t>
            </a:r>
          </a:p>
        </p:txBody>
      </p:sp>
      <p:sp>
        <p:nvSpPr>
          <p:cNvPr id="606" name="Google Shape;312;p49"/>
          <p:cNvSpPr/>
          <p:nvPr/>
        </p:nvSpPr>
        <p:spPr>
          <a:xfrm flipV="1">
            <a:off x="8824025" y="3368250"/>
            <a:ext cx="373801" cy="484500"/>
          </a:xfrm>
          <a:prstGeom prst="line">
            <a:avLst/>
          </a:prstGeom>
          <a:ln w="19050">
            <a:solidFill>
              <a:srgbClr val="E8F1FA"/>
            </a:solidFill>
          </a:ln>
        </p:spPr>
        <p:txBody>
          <a:bodyPr lIns="0" tIns="0" rIns="0" bIns="0"/>
          <a:lstStyle/>
          <a:p>
            <a:pPr/>
          </a:p>
        </p:txBody>
      </p:sp>
      <p:sp>
        <p:nvSpPr>
          <p:cNvPr id="607" name="Google Shape;313;p49"/>
          <p:cNvSpPr/>
          <p:nvPr/>
        </p:nvSpPr>
        <p:spPr>
          <a:xfrm flipH="1" flipV="1">
            <a:off x="9777875" y="3367499"/>
            <a:ext cx="374401" cy="486001"/>
          </a:xfrm>
          <a:prstGeom prst="line">
            <a:avLst/>
          </a:prstGeom>
          <a:ln w="19050">
            <a:solidFill>
              <a:srgbClr val="E8F1FA"/>
            </a:solidFill>
          </a:ln>
        </p:spPr>
        <p:txBody>
          <a:bodyPr lIns="0" tIns="0" rIns="0" bIns="0"/>
          <a:lstStyle/>
          <a:p>
            <a:pPr/>
          </a:p>
        </p:txBody>
      </p:sp>
      <p:sp>
        <p:nvSpPr>
          <p:cNvPr id="608" name="Google Shape;314;p49"/>
          <p:cNvSpPr txBox="1"/>
          <p:nvPr/>
        </p:nvSpPr>
        <p:spPr>
          <a:xfrm>
            <a:off x="7406475" y="1705199"/>
            <a:ext cx="3335400" cy="40480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600">
                <a:solidFill>
                  <a:srgbClr val="00549F"/>
                </a:solidFill>
              </a:defRPr>
            </a:lvl1pPr>
          </a:lstStyle>
          <a:p>
            <a:pPr/>
            <a:r>
              <a:t>Long-Term Writing Improvement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0" name="Google Shape;136;p28"/>
          <p:cNvSpPr txBox="1"/>
          <p:nvPr>
            <p:ph type="sldNum" sz="quarter" idx="2"/>
          </p:nvPr>
        </p:nvSpPr>
        <p:spPr>
          <a:xfrm>
            <a:off x="360363" y="6227762"/>
            <a:ext cx="127001" cy="1270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11" name="Google Shape;320;p50"/>
          <p:cNvSpPr txBox="1"/>
          <p:nvPr>
            <p:ph type="title"/>
          </p:nvPr>
        </p:nvSpPr>
        <p:spPr>
          <a:xfrm>
            <a:off x="384000" y="201600"/>
            <a:ext cx="11484000" cy="543601"/>
          </a:xfrm>
          <a:prstGeom prst="rect">
            <a:avLst/>
          </a:prstGeom>
        </p:spPr>
        <p:txBody>
          <a:bodyPr/>
          <a:lstStyle/>
          <a:p>
            <a:pPr/>
            <a:r>
              <a:t>Conceptualization</a:t>
            </a:r>
          </a:p>
        </p:txBody>
      </p:sp>
      <p:sp>
        <p:nvSpPr>
          <p:cNvPr id="612" name="Google Shape;321;p50"/>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Use Cases</a:t>
            </a:r>
          </a:p>
        </p:txBody>
      </p:sp>
      <p:sp>
        <p:nvSpPr>
          <p:cNvPr id="613" name="Google Shape;322;p50"/>
          <p:cNvSpPr txBox="1"/>
          <p:nvPr/>
        </p:nvSpPr>
        <p:spPr>
          <a:xfrm>
            <a:off x="384000" y="1802463"/>
            <a:ext cx="2538300" cy="406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50000"/>
              </a:lnSpc>
              <a:defRPr sz="1800">
                <a:solidFill>
                  <a:srgbClr val="00549F"/>
                </a:solidFill>
              </a:defRPr>
            </a:lvl1pPr>
          </a:lstStyle>
          <a:p>
            <a:pPr/>
            <a:r>
              <a:t>Gamification</a:t>
            </a:r>
          </a:p>
        </p:txBody>
      </p:sp>
      <p:sp>
        <p:nvSpPr>
          <p:cNvPr id="614" name="Google Shape;323;p50"/>
          <p:cNvSpPr txBox="1"/>
          <p:nvPr/>
        </p:nvSpPr>
        <p:spPr>
          <a:xfrm>
            <a:off x="383999" y="2209275"/>
            <a:ext cx="5393102" cy="406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marL="215900" indent="-215900">
              <a:lnSpc>
                <a:spcPct val="150000"/>
              </a:lnSpc>
              <a:buClr>
                <a:srgbClr val="00549F"/>
              </a:buClr>
              <a:buSzPts val="1800"/>
              <a:buFont typeface="Arial"/>
              <a:buChar char="•"/>
              <a:defRPr sz="1800"/>
            </a:lvl1pPr>
          </a:lstStyle>
          <a:p>
            <a:pPr/>
            <a:r>
              <a:t>Aim: Capture user engagement</a:t>
            </a:r>
          </a:p>
        </p:txBody>
      </p:sp>
      <p:pic>
        <p:nvPicPr>
          <p:cNvPr id="615" name="Google Shape;324;p50" descr="Google Shape;324;p50"/>
          <p:cNvPicPr>
            <a:picLocks noChangeAspect="1"/>
          </p:cNvPicPr>
          <p:nvPr/>
        </p:nvPicPr>
        <p:blipFill>
          <a:blip r:embed="rId2">
            <a:extLst/>
          </a:blip>
          <a:stretch>
            <a:fillRect/>
          </a:stretch>
        </p:blipFill>
        <p:spPr>
          <a:xfrm>
            <a:off x="6998992" y="3250638"/>
            <a:ext cx="1106596" cy="1098351"/>
          </a:xfrm>
          <a:prstGeom prst="rect">
            <a:avLst/>
          </a:prstGeom>
          <a:ln w="12700">
            <a:miter lim="400000"/>
          </a:ln>
        </p:spPr>
      </p:pic>
      <p:pic>
        <p:nvPicPr>
          <p:cNvPr id="616" name="Google Shape;325;p50" descr="Google Shape;325;p50"/>
          <p:cNvPicPr>
            <a:picLocks noChangeAspect="1"/>
          </p:cNvPicPr>
          <p:nvPr/>
        </p:nvPicPr>
        <p:blipFill>
          <a:blip r:embed="rId3">
            <a:extLst/>
          </a:blip>
          <a:stretch>
            <a:fillRect/>
          </a:stretch>
        </p:blipFill>
        <p:spPr>
          <a:xfrm>
            <a:off x="8937773" y="3250638"/>
            <a:ext cx="1106596" cy="1098351"/>
          </a:xfrm>
          <a:prstGeom prst="rect">
            <a:avLst/>
          </a:prstGeom>
          <a:ln w="12700">
            <a:miter lim="400000"/>
          </a:ln>
        </p:spPr>
      </p:pic>
      <p:pic>
        <p:nvPicPr>
          <p:cNvPr id="617" name="Google Shape;326;p50" descr="Google Shape;326;p50"/>
          <p:cNvPicPr>
            <a:picLocks noChangeAspect="1"/>
          </p:cNvPicPr>
          <p:nvPr/>
        </p:nvPicPr>
        <p:blipFill>
          <a:blip r:embed="rId4">
            <a:extLst/>
          </a:blip>
          <a:stretch>
            <a:fillRect/>
          </a:stretch>
        </p:blipFill>
        <p:spPr>
          <a:xfrm>
            <a:off x="1595937" y="3250638"/>
            <a:ext cx="1106596" cy="1098351"/>
          </a:xfrm>
          <a:prstGeom prst="rect">
            <a:avLst/>
          </a:prstGeom>
          <a:ln w="12700">
            <a:miter lim="400000"/>
          </a:ln>
        </p:spPr>
      </p:pic>
      <p:sp>
        <p:nvSpPr>
          <p:cNvPr id="618" name="Google Shape;327;p50"/>
          <p:cNvSpPr txBox="1"/>
          <p:nvPr/>
        </p:nvSpPr>
        <p:spPr>
          <a:xfrm>
            <a:off x="1934591" y="4477044"/>
            <a:ext cx="429301"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lvl1pPr>
          </a:lstStyle>
          <a:p>
            <a:pPr/>
            <a:r>
              <a:t>XP</a:t>
            </a:r>
          </a:p>
        </p:txBody>
      </p:sp>
      <p:sp>
        <p:nvSpPr>
          <p:cNvPr id="619" name="Google Shape;328;p50"/>
          <p:cNvSpPr txBox="1"/>
          <p:nvPr/>
        </p:nvSpPr>
        <p:spPr>
          <a:xfrm>
            <a:off x="4456522" y="4477046"/>
            <a:ext cx="8010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lvl1pPr>
          </a:lstStyle>
          <a:p>
            <a:pPr/>
            <a:r>
              <a:t>Levels</a:t>
            </a:r>
          </a:p>
        </p:txBody>
      </p:sp>
      <p:sp>
        <p:nvSpPr>
          <p:cNvPr id="620" name="Google Shape;329;p50"/>
          <p:cNvSpPr txBox="1"/>
          <p:nvPr/>
        </p:nvSpPr>
        <p:spPr>
          <a:xfrm>
            <a:off x="7122249" y="4477049"/>
            <a:ext cx="860101"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lvl1pPr>
          </a:lstStyle>
          <a:p>
            <a:pPr/>
            <a:r>
              <a:t>Badges</a:t>
            </a:r>
          </a:p>
        </p:txBody>
      </p:sp>
      <p:sp>
        <p:nvSpPr>
          <p:cNvPr id="621" name="Google Shape;330;p50"/>
          <p:cNvSpPr txBox="1"/>
          <p:nvPr/>
        </p:nvSpPr>
        <p:spPr>
          <a:xfrm>
            <a:off x="8755474" y="4477051"/>
            <a:ext cx="14712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a:lvl1pPr>
          </a:lstStyle>
          <a:p>
            <a:pPr/>
            <a:r>
              <a:t>Achievements</a:t>
            </a:r>
          </a:p>
        </p:txBody>
      </p:sp>
      <p:pic>
        <p:nvPicPr>
          <p:cNvPr id="622" name="Google Shape;331;p50" descr="Google Shape;331;p50"/>
          <p:cNvPicPr>
            <a:picLocks noChangeAspect="1"/>
          </p:cNvPicPr>
          <p:nvPr/>
        </p:nvPicPr>
        <p:blipFill>
          <a:blip r:embed="rId5">
            <a:extLst/>
          </a:blip>
          <a:stretch>
            <a:fillRect/>
          </a:stretch>
        </p:blipFill>
        <p:spPr>
          <a:xfrm>
            <a:off x="3405882" y="3378684"/>
            <a:ext cx="1106596" cy="1098352"/>
          </a:xfrm>
          <a:prstGeom prst="rect">
            <a:avLst/>
          </a:prstGeom>
          <a:ln w="12700">
            <a:miter lim="400000"/>
          </a:ln>
        </p:spPr>
      </p:pic>
      <p:sp>
        <p:nvSpPr>
          <p:cNvPr id="623" name="Google Shape;332;p50"/>
          <p:cNvSpPr/>
          <p:nvPr/>
        </p:nvSpPr>
        <p:spPr>
          <a:xfrm>
            <a:off x="4708983" y="3927862"/>
            <a:ext cx="296101" cy="1"/>
          </a:xfrm>
          <a:prstGeom prst="line">
            <a:avLst/>
          </a:prstGeom>
          <a:ln w="19050">
            <a:solidFill>
              <a:srgbClr val="000000"/>
            </a:solidFill>
          </a:ln>
        </p:spPr>
        <p:txBody>
          <a:bodyPr lIns="0" tIns="0" rIns="0" bIns="0"/>
          <a:lstStyle/>
          <a:p>
            <a:pPr/>
          </a:p>
        </p:txBody>
      </p:sp>
      <p:pic>
        <p:nvPicPr>
          <p:cNvPr id="624" name="Google Shape;333;p50" descr="Google Shape;333;p50"/>
          <p:cNvPicPr>
            <a:picLocks noChangeAspect="1"/>
          </p:cNvPicPr>
          <p:nvPr/>
        </p:nvPicPr>
        <p:blipFill>
          <a:blip r:embed="rId6">
            <a:extLst/>
          </a:blip>
          <a:stretch>
            <a:fillRect/>
          </a:stretch>
        </p:blipFill>
        <p:spPr>
          <a:xfrm>
            <a:off x="5202418" y="3378684"/>
            <a:ext cx="1106596" cy="1098352"/>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27" name="Google Shape;338;p51"/>
          <p:cNvSpPr txBox="1"/>
          <p:nvPr>
            <p:ph type="title"/>
          </p:nvPr>
        </p:nvSpPr>
        <p:spPr>
          <a:xfrm>
            <a:off x="384175" y="201612"/>
            <a:ext cx="11484000" cy="543001"/>
          </a:xfrm>
          <a:prstGeom prst="rect">
            <a:avLst/>
          </a:prstGeom>
        </p:spPr>
        <p:txBody>
          <a:bodyPr/>
          <a:lstStyle/>
          <a:p>
            <a:pPr/>
            <a:r>
              <a:t>Conceptualization</a:t>
            </a:r>
          </a:p>
        </p:txBody>
      </p:sp>
      <p:pic>
        <p:nvPicPr>
          <p:cNvPr id="628" name="Google Shape;339;p51" descr="Google Shape;339;p51"/>
          <p:cNvPicPr>
            <a:picLocks noChangeAspect="1"/>
          </p:cNvPicPr>
          <p:nvPr/>
        </p:nvPicPr>
        <p:blipFill>
          <a:blip r:embed="rId2">
            <a:extLst/>
          </a:blip>
          <a:stretch>
            <a:fillRect/>
          </a:stretch>
        </p:blipFill>
        <p:spPr>
          <a:xfrm>
            <a:off x="2859375" y="1020011"/>
            <a:ext cx="6473226" cy="4441476"/>
          </a:xfrm>
          <a:prstGeom prst="rect">
            <a:avLst/>
          </a:prstGeom>
          <a:ln w="12700">
            <a:miter lim="400000"/>
          </a:ln>
        </p:spPr>
      </p:pic>
      <p:sp>
        <p:nvSpPr>
          <p:cNvPr id="629" name="Google Shape;340;p51"/>
          <p:cNvSpPr txBox="1"/>
          <p:nvPr/>
        </p:nvSpPr>
        <p:spPr>
          <a:xfrm>
            <a:off x="3447738" y="5461487"/>
            <a:ext cx="5296500"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2:</a:t>
            </a:r>
            <a:r>
              <a:rPr>
                <a:solidFill>
                  <a:srgbClr val="000000"/>
                </a:solidFill>
              </a:rPr>
              <a:t> System overview of WILLM.</a:t>
            </a:r>
          </a:p>
        </p:txBody>
      </p:sp>
      <p:sp>
        <p:nvSpPr>
          <p:cNvPr id="630" name="Google Shape;341;p51"/>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System Design</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2" name="Google Shape;136;p28"/>
          <p:cNvSpPr txBox="1"/>
          <p:nvPr>
            <p:ph type="sldNum" sz="quarter" idx="2"/>
          </p:nvPr>
        </p:nvSpPr>
        <p:spPr>
          <a:xfrm>
            <a:off x="360363" y="6227762"/>
            <a:ext cx="131354" cy="1270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633" name="Google Shape;346;p52" descr="Google Shape;346;p52"/>
          <p:cNvPicPr>
            <a:picLocks noChangeAspect="1"/>
          </p:cNvPicPr>
          <p:nvPr/>
        </p:nvPicPr>
        <p:blipFill>
          <a:blip r:embed="rId2">
            <a:extLst/>
          </a:blip>
          <a:stretch>
            <a:fillRect/>
          </a:stretch>
        </p:blipFill>
        <p:spPr>
          <a:xfrm>
            <a:off x="2339275" y="1597788"/>
            <a:ext cx="7513461" cy="3291126"/>
          </a:xfrm>
          <a:prstGeom prst="rect">
            <a:avLst/>
          </a:prstGeom>
          <a:ln w="12700">
            <a:miter lim="400000"/>
          </a:ln>
        </p:spPr>
      </p:pic>
      <p:sp>
        <p:nvSpPr>
          <p:cNvPr id="634" name="Google Shape;347;p52"/>
          <p:cNvSpPr txBox="1"/>
          <p:nvPr>
            <p:ph type="title"/>
          </p:nvPr>
        </p:nvSpPr>
        <p:spPr>
          <a:xfrm>
            <a:off x="384175" y="201612"/>
            <a:ext cx="11484000" cy="543001"/>
          </a:xfrm>
          <a:prstGeom prst="rect">
            <a:avLst/>
          </a:prstGeom>
        </p:spPr>
        <p:txBody>
          <a:bodyPr/>
          <a:lstStyle/>
          <a:p>
            <a:pPr/>
            <a:r>
              <a:t>Conceptualization</a:t>
            </a:r>
          </a:p>
        </p:txBody>
      </p:sp>
      <p:sp>
        <p:nvSpPr>
          <p:cNvPr id="635" name="Google Shape;348;p52"/>
          <p:cNvSpPr txBox="1"/>
          <p:nvPr/>
        </p:nvSpPr>
        <p:spPr>
          <a:xfrm>
            <a:off x="3447750" y="4925712"/>
            <a:ext cx="5296500"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3:</a:t>
            </a:r>
            <a:r>
              <a:rPr>
                <a:solidFill>
                  <a:srgbClr val="000000"/>
                </a:solidFill>
              </a:rPr>
              <a:t> Quiz design of WILLM.</a:t>
            </a:r>
          </a:p>
        </p:txBody>
      </p:sp>
      <p:sp>
        <p:nvSpPr>
          <p:cNvPr id="636" name="Google Shape;349;p52"/>
          <p:cNvSpPr txBox="1"/>
          <p:nvPr>
            <p:ph type="body" sz="quarter" idx="1"/>
          </p:nvPr>
        </p:nvSpPr>
        <p:spPr>
          <a:xfrm>
            <a:off x="384174" y="1671996"/>
            <a:ext cx="3516002" cy="837901"/>
          </a:xfrm>
          <a:prstGeom prst="rect">
            <a:avLst/>
          </a:prstGeom>
        </p:spPr>
        <p:txBody>
          <a:bodyPr/>
          <a:lstStyle>
            <a:lvl1pPr marL="215900" indent="-215900">
              <a:lnSpc>
                <a:spcPct val="150000"/>
              </a:lnSpc>
            </a:lvl1pPr>
          </a:lstStyle>
          <a:p>
            <a:pPr/>
            <a:r>
              <a:t>Five questions per quiz</a:t>
            </a:r>
          </a:p>
        </p:txBody>
      </p:sp>
      <p:sp>
        <p:nvSpPr>
          <p:cNvPr id="637" name="Google Shape;350;p52"/>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defTabSz="777240">
              <a:defRPr b="1" sz="1700"/>
            </a:lvl1pPr>
          </a:lstStyle>
          <a:p>
            <a:pPr/>
            <a:r>
              <a:t>Quiz Design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9"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40" name="Google Shape;355;p53"/>
          <p:cNvSpPr txBox="1"/>
          <p:nvPr>
            <p:ph type="title"/>
          </p:nvPr>
        </p:nvSpPr>
        <p:spPr>
          <a:xfrm>
            <a:off x="384175" y="201612"/>
            <a:ext cx="11484000" cy="543001"/>
          </a:xfrm>
          <a:prstGeom prst="rect">
            <a:avLst/>
          </a:prstGeom>
        </p:spPr>
        <p:txBody>
          <a:bodyPr/>
          <a:lstStyle/>
          <a:p>
            <a:pPr/>
            <a:r>
              <a:t>Conceptualization</a:t>
            </a:r>
          </a:p>
        </p:txBody>
      </p:sp>
      <p:graphicFrame>
        <p:nvGraphicFramePr>
          <p:cNvPr id="641" name="Google Shape;356;p53"/>
          <p:cNvGraphicFramePr/>
          <p:nvPr/>
        </p:nvGraphicFramePr>
        <p:xfrm>
          <a:off x="3475337" y="3184100"/>
          <a:ext cx="5241326" cy="1905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93350"/>
                <a:gridCol w="3947975"/>
              </a:tblGrid>
              <a:tr h="381000">
                <a:tc>
                  <a:txBody>
                    <a:bodyPr/>
                    <a:lstStyle/>
                    <a:p>
                      <a:pPr>
                        <a:defRPr sz="1800"/>
                      </a:pPr>
                      <a:r>
                        <a:rPr b="1" sz="1400"/>
                        <a:t>Quiz Number</a:t>
                      </a:r>
                    </a:p>
                  </a:txBody>
                  <a:tcPr marL="91425" marR="91425" marT="91425" marB="91425" anchor="t" anchorCtr="0" horzOverflow="overflow"/>
                </a:tc>
                <a:tc>
                  <a:txBody>
                    <a:bodyPr/>
                    <a:lstStyle/>
                    <a:p>
                      <a:pPr>
                        <a:defRPr sz="1800"/>
                      </a:pPr>
                      <a:r>
                        <a:rPr b="1" sz="1400"/>
                        <a:t>Intervals</a:t>
                      </a:r>
                    </a:p>
                  </a:txBody>
                  <a:tcPr marL="91425" marR="91425" marT="91425" marB="91425" anchor="t" anchorCtr="0" horzOverflow="overflow"/>
                </a:tc>
              </a:tr>
              <a:tr h="381000">
                <a:tc>
                  <a:txBody>
                    <a:bodyPr/>
                    <a:lstStyle/>
                    <a:p>
                      <a:pPr>
                        <a:defRPr sz="1800"/>
                      </a:pPr>
                      <a:r>
                        <a:rPr sz="1400"/>
                        <a:t>n = 1</a:t>
                      </a:r>
                    </a:p>
                  </a:txBody>
                  <a:tcPr marL="91425" marR="91425" marT="91425" marB="91425" anchor="t" anchorCtr="0" horzOverflow="overflow"/>
                </a:tc>
                <a:tc>
                  <a:txBody>
                    <a:bodyPr/>
                    <a:lstStyle/>
                    <a:p>
                      <a:pPr>
                        <a:defRPr sz="1800"/>
                      </a:pPr>
                      <a:r>
                        <a:rPr sz="1400"/>
                        <a:t>Presented within 24 hours of the first login.</a:t>
                      </a:r>
                    </a:p>
                  </a:txBody>
                  <a:tcPr marL="91425" marR="91425" marT="91425" marB="91425" anchor="t" anchorCtr="0" horzOverflow="overflow"/>
                </a:tc>
              </a:tr>
              <a:tr h="381000">
                <a:tc>
                  <a:txBody>
                    <a:bodyPr/>
                    <a:lstStyle/>
                    <a:p>
                      <a:pPr>
                        <a:defRPr sz="1800"/>
                      </a:pPr>
                      <a:r>
                        <a:rPr sz="1400"/>
                        <a:t>n = 2</a:t>
                      </a:r>
                    </a:p>
                  </a:txBody>
                  <a:tcPr marL="91425" marR="91425" marT="91425" marB="91425" anchor="t" anchorCtr="0" horzOverflow="overflow"/>
                </a:tc>
                <a:tc>
                  <a:txBody>
                    <a:bodyPr/>
                    <a:lstStyle/>
                    <a:p>
                      <a:pPr>
                        <a:defRPr sz="1800"/>
                      </a:pPr>
                      <a:r>
                        <a:rPr sz="1400"/>
                        <a:t>Presented two days after the first quiz</a:t>
                      </a:r>
                    </a:p>
                  </a:txBody>
                  <a:tcPr marL="91425" marR="91425" marT="91425" marB="91425" anchor="t" anchorCtr="0" horzOverflow="overflow"/>
                </a:tc>
              </a:tr>
              <a:tr h="381000">
                <a:tc>
                  <a:txBody>
                    <a:bodyPr/>
                    <a:lstStyle/>
                    <a:p>
                      <a:pPr>
                        <a:defRPr sz="1800"/>
                      </a:pPr>
                      <a:r>
                        <a:rPr sz="1400"/>
                        <a:t>n = 3</a:t>
                      </a:r>
                    </a:p>
                  </a:txBody>
                  <a:tcPr marL="91425" marR="91425" marT="91425" marB="91425" anchor="t" anchorCtr="0" horzOverflow="overflow"/>
                </a:tc>
                <a:tc>
                  <a:txBody>
                    <a:bodyPr/>
                    <a:lstStyle/>
                    <a:p>
                      <a:pPr>
                        <a:defRPr sz="1800"/>
                      </a:pPr>
                      <a:r>
                        <a:rPr sz="1400"/>
                        <a:t>Presented four days after the second quiz.</a:t>
                      </a:r>
                    </a:p>
                  </a:txBody>
                  <a:tcPr marL="91425" marR="91425" marT="91425" marB="91425" anchor="t" anchorCtr="0" horzOverflow="overflow"/>
                </a:tc>
              </a:tr>
              <a:tr h="381000">
                <a:tc>
                  <a:txBody>
                    <a:bodyPr/>
                    <a:lstStyle/>
                    <a:p>
                      <a:pPr>
                        <a:defRPr sz="1800"/>
                      </a:pPr>
                      <a:r>
                        <a:rPr sz="1400"/>
                        <a:t>n = n + 1</a:t>
                      </a:r>
                    </a:p>
                  </a:txBody>
                  <a:tcPr marL="91425" marR="91425" marT="91425" marB="91425" anchor="t" anchorCtr="0" horzOverflow="overflow"/>
                </a:tc>
                <a:tc>
                  <a:txBody>
                    <a:bodyPr/>
                    <a:lstStyle/>
                    <a:p>
                      <a:pPr>
                        <a:defRPr sz="1800"/>
                      </a:pPr>
                      <a:r>
                        <a:rPr sz="1400"/>
                        <a:t>Presented five days after the previous quiz.</a:t>
                      </a:r>
                    </a:p>
                  </a:txBody>
                  <a:tcPr marL="91425" marR="91425" marT="91425" marB="91425" anchor="t" anchorCtr="0" horzOverflow="overflow"/>
                </a:tc>
              </a:tr>
            </a:tbl>
          </a:graphicData>
        </a:graphic>
      </p:graphicFrame>
      <p:sp>
        <p:nvSpPr>
          <p:cNvPr id="642" name="Google Shape;357;p53"/>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Quiz Schedule [Karpicke et al., 2011, Cepeda et al., 2008]</a:t>
            </a:r>
          </a:p>
        </p:txBody>
      </p:sp>
      <p:sp>
        <p:nvSpPr>
          <p:cNvPr id="643" name="Google Shape;358;p53"/>
          <p:cNvSpPr txBox="1"/>
          <p:nvPr/>
        </p:nvSpPr>
        <p:spPr>
          <a:xfrm>
            <a:off x="3403050" y="2777900"/>
            <a:ext cx="5385900"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4:</a:t>
            </a:r>
            <a:r>
              <a:rPr>
                <a:solidFill>
                  <a:srgbClr val="000000"/>
                </a:solidFill>
              </a:rPr>
              <a:t> Quiz schedule</a:t>
            </a:r>
          </a:p>
        </p:txBody>
      </p:sp>
      <p:sp>
        <p:nvSpPr>
          <p:cNvPr id="644" name="Google Shape;359;p53"/>
          <p:cNvSpPr txBox="1"/>
          <p:nvPr/>
        </p:nvSpPr>
        <p:spPr>
          <a:xfrm>
            <a:off x="384175" y="1672000"/>
            <a:ext cx="7737900" cy="8379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5900" indent="-215900">
              <a:lnSpc>
                <a:spcPct val="150000"/>
              </a:lnSpc>
              <a:buClr>
                <a:srgbClr val="00549F"/>
              </a:buClr>
              <a:buSzPts val="1800"/>
              <a:buFont typeface="Arial"/>
              <a:buChar char="•"/>
              <a:defRPr sz="1800"/>
            </a:pPr>
            <a:r>
              <a:t>Testing intervals: 20-25% of study period</a:t>
            </a:r>
          </a:p>
          <a:p>
            <a:pPr marL="215900" indent="-215900">
              <a:lnSpc>
                <a:spcPct val="150000"/>
              </a:lnSpc>
              <a:buClr>
                <a:srgbClr val="00549F"/>
              </a:buClr>
              <a:buSzPts val="1800"/>
              <a:buFont typeface="Arial"/>
              <a:buChar char="•"/>
              <a:defRPr sz="1800"/>
            </a:pPr>
            <a:r>
              <a:t>Progressive increase: Up to 5 days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47" name="Google Shape;364;p54"/>
          <p:cNvSpPr txBox="1"/>
          <p:nvPr>
            <p:ph type="title"/>
          </p:nvPr>
        </p:nvSpPr>
        <p:spPr>
          <a:xfrm>
            <a:off x="384175" y="201612"/>
            <a:ext cx="11484000" cy="543001"/>
          </a:xfrm>
          <a:prstGeom prst="rect">
            <a:avLst/>
          </a:prstGeom>
        </p:spPr>
        <p:txBody>
          <a:bodyPr/>
          <a:lstStyle/>
          <a:p>
            <a:pPr/>
            <a:r>
              <a:t>Realization</a:t>
            </a:r>
          </a:p>
        </p:txBody>
      </p:sp>
      <p:sp>
        <p:nvSpPr>
          <p:cNvPr id="648" name="Google Shape;365;p54"/>
          <p:cNvSpPr txBox="1"/>
          <p:nvPr/>
        </p:nvSpPr>
        <p:spPr>
          <a:xfrm>
            <a:off x="3780299" y="5073863"/>
            <a:ext cx="4631402"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4:</a:t>
            </a:r>
            <a:r>
              <a:rPr>
                <a:solidFill>
                  <a:srgbClr val="000000"/>
                </a:solidFill>
              </a:rPr>
              <a:t> Architecture of WILLM.</a:t>
            </a:r>
          </a:p>
        </p:txBody>
      </p:sp>
      <p:pic>
        <p:nvPicPr>
          <p:cNvPr id="649" name="Google Shape;366;p54" descr="Google Shape;366;p54"/>
          <p:cNvPicPr>
            <a:picLocks noChangeAspect="1"/>
          </p:cNvPicPr>
          <p:nvPr/>
        </p:nvPicPr>
        <p:blipFill>
          <a:blip r:embed="rId2">
            <a:extLst/>
          </a:blip>
          <a:stretch>
            <a:fillRect/>
          </a:stretch>
        </p:blipFill>
        <p:spPr>
          <a:xfrm>
            <a:off x="1150052" y="1710638"/>
            <a:ext cx="9891902" cy="3363225"/>
          </a:xfrm>
          <a:prstGeom prst="rect">
            <a:avLst/>
          </a:prstGeom>
          <a:ln w="12700">
            <a:miter lim="400000"/>
          </a:ln>
        </p:spPr>
      </p:pic>
      <p:sp>
        <p:nvSpPr>
          <p:cNvPr id="650" name="Google Shape;367;p54"/>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Architectural Overview</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2"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53" name="Google Shape;372;p55"/>
          <p:cNvSpPr txBox="1"/>
          <p:nvPr>
            <p:ph type="title"/>
          </p:nvPr>
        </p:nvSpPr>
        <p:spPr>
          <a:xfrm>
            <a:off x="384175" y="201612"/>
            <a:ext cx="11484000" cy="543001"/>
          </a:xfrm>
          <a:prstGeom prst="rect">
            <a:avLst/>
          </a:prstGeom>
        </p:spPr>
        <p:txBody>
          <a:bodyPr/>
          <a:lstStyle/>
          <a:p>
            <a:pPr/>
            <a:r>
              <a:t>Realization</a:t>
            </a:r>
          </a:p>
        </p:txBody>
      </p:sp>
      <p:sp>
        <p:nvSpPr>
          <p:cNvPr id="654" name="Google Shape;373;p55"/>
          <p:cNvSpPr txBox="1"/>
          <p:nvPr>
            <p:ph type="body" sz="quarter" idx="1"/>
          </p:nvPr>
        </p:nvSpPr>
        <p:spPr>
          <a:xfrm>
            <a:off x="384000" y="1152000"/>
            <a:ext cx="11484000" cy="252001"/>
          </a:xfrm>
          <a:prstGeom prst="rect">
            <a:avLst/>
          </a:prstGeom>
        </p:spPr>
        <p:txBody>
          <a:bodyPr/>
          <a:lstStyle>
            <a:lvl1pPr marL="0" indent="0" defTabSz="777240">
              <a:buSzTx/>
              <a:buNone/>
              <a:defRPr b="1" sz="1700"/>
            </a:lvl1pPr>
          </a:lstStyle>
          <a:p>
            <a:pPr/>
            <a:r>
              <a:t>Prompt Design</a:t>
            </a:r>
          </a:p>
        </p:txBody>
      </p:sp>
      <p:sp>
        <p:nvSpPr>
          <p:cNvPr id="655" name="Google Shape;374;p55"/>
          <p:cNvSpPr txBox="1"/>
          <p:nvPr/>
        </p:nvSpPr>
        <p:spPr>
          <a:xfrm>
            <a:off x="3780299" y="5230512"/>
            <a:ext cx="4631402"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5:</a:t>
            </a:r>
            <a:r>
              <a:rPr>
                <a:solidFill>
                  <a:srgbClr val="000000"/>
                </a:solidFill>
              </a:rPr>
              <a:t> Scoring prompt</a:t>
            </a:r>
          </a:p>
        </p:txBody>
      </p:sp>
      <p:pic>
        <p:nvPicPr>
          <p:cNvPr id="656" name="Google Shape;375;p55" descr="Google Shape;375;p55"/>
          <p:cNvPicPr>
            <a:picLocks noChangeAspect="1"/>
          </p:cNvPicPr>
          <p:nvPr/>
        </p:nvPicPr>
        <p:blipFill>
          <a:blip r:embed="rId2">
            <a:extLst/>
          </a:blip>
          <a:stretch>
            <a:fillRect/>
          </a:stretch>
        </p:blipFill>
        <p:spPr>
          <a:xfrm>
            <a:off x="3154976" y="1627466"/>
            <a:ext cx="5882051" cy="3603070"/>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8"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59" name="Google Shape;380;p56"/>
          <p:cNvSpPr txBox="1"/>
          <p:nvPr>
            <p:ph type="title"/>
          </p:nvPr>
        </p:nvSpPr>
        <p:spPr>
          <a:xfrm>
            <a:off x="384175" y="201612"/>
            <a:ext cx="11484000" cy="543001"/>
          </a:xfrm>
          <a:prstGeom prst="rect">
            <a:avLst/>
          </a:prstGeom>
        </p:spPr>
        <p:txBody>
          <a:bodyPr/>
          <a:lstStyle/>
          <a:p>
            <a:pPr/>
            <a:r>
              <a:t>Realization</a:t>
            </a:r>
          </a:p>
        </p:txBody>
      </p:sp>
      <p:sp>
        <p:nvSpPr>
          <p:cNvPr id="660" name="Google Shape;381;p56"/>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Writing Rubric</a:t>
            </a:r>
          </a:p>
        </p:txBody>
      </p:sp>
      <p:sp>
        <p:nvSpPr>
          <p:cNvPr id="661" name="Google Shape;382;p56"/>
          <p:cNvSpPr txBox="1"/>
          <p:nvPr/>
        </p:nvSpPr>
        <p:spPr>
          <a:xfrm>
            <a:off x="1042213" y="1652879"/>
            <a:ext cx="2265601" cy="306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sz="900">
                <a:solidFill>
                  <a:srgbClr val="00549F"/>
                </a:solidFill>
              </a:defRPr>
            </a:pPr>
            <a:r>
              <a:t>Table 5:</a:t>
            </a:r>
            <a:r>
              <a:rPr>
                <a:solidFill>
                  <a:srgbClr val="000000"/>
                </a:solidFill>
              </a:rPr>
              <a:t> Scoring criteria for grammar</a:t>
            </a:r>
          </a:p>
        </p:txBody>
      </p:sp>
      <p:graphicFrame>
        <p:nvGraphicFramePr>
          <p:cNvPr id="662" name="Google Shape;383;p56"/>
          <p:cNvGraphicFramePr/>
          <p:nvPr/>
        </p:nvGraphicFramePr>
        <p:xfrm>
          <a:off x="481149" y="1964888"/>
          <a:ext cx="3387726" cy="118807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7075"/>
                <a:gridCol w="2910650"/>
              </a:tblGrid>
              <a:tr h="104249">
                <a:tc>
                  <a:txBody>
                    <a:bodyPr/>
                    <a:lstStyle/>
                    <a:p>
                      <a:pPr>
                        <a:defRPr sz="1800"/>
                      </a:pPr>
                      <a:r>
                        <a:rPr b="1" sz="900"/>
                        <a:t>Score</a:t>
                      </a:r>
                    </a:p>
                  </a:txBody>
                  <a:tcPr marL="18000" marR="18000" marT="18000" marB="18000" anchor="t" anchorCtr="0" horzOverflow="overflow"/>
                </a:tc>
                <a:tc>
                  <a:txBody>
                    <a:bodyPr/>
                    <a:lstStyle/>
                    <a:p>
                      <a:pPr>
                        <a:defRPr sz="1800"/>
                      </a:pPr>
                      <a:r>
                        <a:rPr b="1" sz="900"/>
                        <a:t>Description</a:t>
                      </a:r>
                    </a:p>
                  </a:txBody>
                  <a:tcPr marL="18000" marR="18000" marT="18000" marB="18000" anchor="t" anchorCtr="0" horzOverflow="overflow"/>
                </a:tc>
              </a:tr>
              <a:tr h="104249">
                <a:tc>
                  <a:txBody>
                    <a:bodyPr/>
                    <a:lstStyle/>
                    <a:p>
                      <a:pPr>
                        <a:defRPr sz="1800"/>
                      </a:pPr>
                      <a:r>
                        <a:rPr sz="900"/>
                        <a:t>9</a:t>
                      </a:r>
                    </a:p>
                  </a:txBody>
                  <a:tcPr marL="18000" marR="18000" marT="18000" marB="18000" anchor="t" anchorCtr="0" horzOverflow="overflow"/>
                </a:tc>
                <a:tc>
                  <a:txBody>
                    <a:bodyPr/>
                    <a:lstStyle/>
                    <a:p>
                      <a:pPr>
                        <a:defRPr sz="1800"/>
                      </a:pPr>
                      <a:r>
                        <a:rPr sz="900"/>
                        <a:t>Uses a wide range of structures with full flexibility and accuracy; rare minor errors occur only as ‘slips’.</a:t>
                      </a:r>
                    </a:p>
                  </a:txBody>
                  <a:tcPr marL="18000" marR="18000" marT="18000" marB="18000" anchor="t" anchorCtr="0" horzOverflow="overflow"/>
                </a:tc>
              </a:tr>
              <a:tr h="104249">
                <a:tc>
                  <a:txBody>
                    <a:bodyPr/>
                    <a:lstStyle/>
                    <a:p>
                      <a:pPr>
                        <a:defRPr sz="1800"/>
                      </a:pPr>
                      <a:r>
                        <a:rPr sz="900"/>
                        <a:t>8</a:t>
                      </a:r>
                    </a:p>
                  </a:txBody>
                  <a:tcPr marL="18000" marR="18000" marT="18000" marB="18000" anchor="t" anchorCtr="0" horzOverflow="overflow"/>
                </a:tc>
                <a:tc>
                  <a:txBody>
                    <a:bodyPr/>
                    <a:lstStyle/>
                    <a:p>
                      <a:pPr>
                        <a:defRPr sz="1800"/>
                      </a:pPr>
                      <a:r>
                        <a:rPr sz="900"/>
                        <a:t>Uses a wide range of structures accurately; occasional errors do not impede communication.</a:t>
                      </a:r>
                    </a:p>
                  </a:txBody>
                  <a:tcPr marL="18000" marR="18000" marT="18000" marB="18000" anchor="t" anchorCtr="0" horzOverflow="overflow"/>
                </a:tc>
              </a:tr>
              <a:tr h="152775">
                <a:tc>
                  <a:txBody>
                    <a:bodyPr/>
                    <a:lstStyle/>
                    <a:p>
                      <a:pPr>
                        <a:defRPr sz="1800"/>
                      </a:pPr>
                      <a:r>
                        <a:rPr sz="900"/>
                        <a:t>7</a:t>
                      </a:r>
                    </a:p>
                  </a:txBody>
                  <a:tcPr marL="18000" marR="18000" marT="18000" marB="18000" anchor="t" anchorCtr="0" horzOverflow="overflow"/>
                </a:tc>
                <a:tc>
                  <a:txBody>
                    <a:bodyPr/>
                    <a:lstStyle/>
                    <a:p>
                      <a:pPr>
                        <a:defRPr sz="1800"/>
                      </a:pPr>
                      <a:r>
                        <a:rPr sz="900"/>
                        <a:t>Uses a variety of complex structures; produces frequent error-free sentences; occasional inappropriacies or errors.</a:t>
                      </a:r>
                    </a:p>
                  </a:txBody>
                  <a:tcPr marL="18000" marR="18000" marT="18000" marB="18000" anchor="t" anchorCtr="0" horzOverflow="overflow"/>
                </a:tc>
              </a:tr>
              <a:tr h="152775">
                <a:tc>
                  <a:txBody>
                    <a:bodyPr/>
                    <a:lstStyle/>
                    <a:p>
                      <a:pPr>
                        <a:defRPr sz="1800"/>
                      </a:pPr>
                      <a:r>
                        <a:rPr sz="900"/>
                        <a:t>6</a:t>
                      </a:r>
                    </a:p>
                  </a:txBody>
                  <a:tcPr marL="18000" marR="18000" marT="18000" marB="18000" anchor="t" anchorCtr="0" horzOverflow="overflow"/>
                </a:tc>
                <a:tc>
                  <a:txBody>
                    <a:bodyPr/>
                    <a:lstStyle/>
                    <a:p>
                      <a:pPr>
                        <a:defRPr sz="1800"/>
                      </a:pPr>
                      <a:r>
                        <a:rPr sz="900"/>
                        <a:t>Uses a mix of simple and complex sentence forms; some errors in grammar and punctuation, but rarely impede meaning.</a:t>
                      </a:r>
                    </a:p>
                  </a:txBody>
                  <a:tcPr marL="18000" marR="18000" marT="18000" marB="18000" anchor="t" anchorCtr="0" horzOverflow="overflow"/>
                </a:tc>
              </a:tr>
              <a:tr h="152775">
                <a:tc>
                  <a:txBody>
                    <a:bodyPr/>
                    <a:lstStyle/>
                    <a:p>
                      <a:pPr>
                        <a:defRPr sz="1800"/>
                      </a:pPr>
                      <a:r>
                        <a:rPr sz="900"/>
                        <a:t>5</a:t>
                      </a:r>
                    </a:p>
                  </a:txBody>
                  <a:tcPr marL="18000" marR="18000" marT="18000" marB="18000" anchor="t" anchorCtr="0" horzOverflow="overflow"/>
                </a:tc>
                <a:tc>
                  <a:txBody>
                    <a:bodyPr/>
                    <a:lstStyle/>
                    <a:p>
                      <a:pPr>
                        <a:defRPr sz="1800"/>
                      </a:pPr>
                      <a:r>
                        <a:rPr sz="900"/>
                        <a:t>Uses only a limited range of structures; attempts complex sentences but these tend to be less accurate than simple sentences.</a:t>
                      </a:r>
                    </a:p>
                  </a:txBody>
                  <a:tcPr marL="18000" marR="18000" marT="18000" marB="18000" anchor="t" anchorCtr="0" horzOverflow="overflow"/>
                </a:tc>
              </a:tr>
              <a:tr h="104249">
                <a:tc>
                  <a:txBody>
                    <a:bodyPr/>
                    <a:lstStyle/>
                    <a:p>
                      <a:pPr>
                        <a:defRPr sz="1800"/>
                      </a:pPr>
                      <a:r>
                        <a:rPr sz="900"/>
                        <a:t>4</a:t>
                      </a:r>
                    </a:p>
                  </a:txBody>
                  <a:tcPr marL="18000" marR="18000" marT="18000" marB="18000" anchor="t" anchorCtr="0" horzOverflow="overflow"/>
                </a:tc>
                <a:tc>
                  <a:txBody>
                    <a:bodyPr/>
                    <a:lstStyle/>
                    <a:p>
                      <a:pPr>
                        <a:defRPr sz="1800"/>
                      </a:pPr>
                      <a:r>
                        <a:rPr sz="900"/>
                        <a:t>Produces frequent errors in grammar and punctuation; rarely uses subordinate clauses.</a:t>
                      </a:r>
                    </a:p>
                  </a:txBody>
                  <a:tcPr marL="18000" marR="18000" marT="18000" marB="18000" anchor="t" anchorCtr="0" horzOverflow="overflow"/>
                </a:tc>
              </a:tr>
              <a:tr h="104249">
                <a:tc>
                  <a:txBody>
                    <a:bodyPr/>
                    <a:lstStyle/>
                    <a:p>
                      <a:pPr>
                        <a:defRPr sz="1800"/>
                      </a:pPr>
                      <a:r>
                        <a:rPr sz="900"/>
                        <a:t>3</a:t>
                      </a:r>
                    </a:p>
                  </a:txBody>
                  <a:tcPr marL="18000" marR="18000" marT="18000" marB="18000" anchor="t" anchorCtr="0" horzOverflow="overflow"/>
                </a:tc>
                <a:tc>
                  <a:txBody>
                    <a:bodyPr/>
                    <a:lstStyle/>
                    <a:p>
                      <a:pPr>
                        <a:defRPr sz="1800"/>
                      </a:pPr>
                      <a:r>
                        <a:rPr sz="900"/>
                        <a:t>Frequent grammatical errors and incorrect word forms obscure meaning.</a:t>
                      </a:r>
                    </a:p>
                  </a:txBody>
                  <a:tcPr marL="18000" marR="18000" marT="18000" marB="18000" anchor="t" anchorCtr="0" horzOverflow="overflow"/>
                </a:tc>
              </a:tr>
              <a:tr h="104249">
                <a:tc>
                  <a:txBody>
                    <a:bodyPr/>
                    <a:lstStyle/>
                    <a:p>
                      <a:pPr>
                        <a:defRPr sz="1800"/>
                      </a:pPr>
                      <a:r>
                        <a:rPr sz="900"/>
                        <a:t>2</a:t>
                      </a:r>
                    </a:p>
                  </a:txBody>
                  <a:tcPr marL="18000" marR="18000" marT="18000" marB="18000" anchor="t" anchorCtr="0" horzOverflow="overflow"/>
                </a:tc>
                <a:tc>
                  <a:txBody>
                    <a:bodyPr/>
                    <a:lstStyle/>
                    <a:p>
                      <a:pPr>
                        <a:defRPr sz="1800"/>
                      </a:pPr>
                      <a:r>
                        <a:rPr sz="900"/>
                        <a:t>Continuous errors show lack of control of sentence structure.</a:t>
                      </a:r>
                    </a:p>
                  </a:txBody>
                  <a:tcPr marL="18000" marR="18000" marT="18000" marB="18000" anchor="t" anchorCtr="0" horzOverflow="overflow"/>
                </a:tc>
              </a:tr>
              <a:tr h="104249">
                <a:tc>
                  <a:txBody>
                    <a:bodyPr/>
                    <a:lstStyle/>
                    <a:p>
                      <a:pPr>
                        <a:defRPr sz="1800"/>
                      </a:pPr>
                      <a:r>
                        <a:rPr sz="900"/>
                        <a:t>1</a:t>
                      </a:r>
                    </a:p>
                  </a:txBody>
                  <a:tcPr marL="18000" marR="18000" marT="18000" marB="18000" anchor="t" anchorCtr="0" horzOverflow="overflow"/>
                </a:tc>
                <a:tc>
                  <a:txBody>
                    <a:bodyPr/>
                    <a:lstStyle/>
                    <a:p>
                      <a:pPr>
                        <a:defRPr sz="1800"/>
                      </a:pPr>
                      <a:r>
                        <a:rPr sz="900"/>
                        <a:t>Little or no evidence of sentence forms.</a:t>
                      </a:r>
                    </a:p>
                  </a:txBody>
                  <a:tcPr marL="18000" marR="18000" marT="18000" marB="18000" anchor="t" anchorCtr="0" horzOverflow="overflow"/>
                </a:tc>
              </a:tr>
            </a:tbl>
          </a:graphicData>
        </a:graphic>
      </p:graphicFrame>
      <p:sp>
        <p:nvSpPr>
          <p:cNvPr id="663" name="Google Shape;384;p56"/>
          <p:cNvSpPr txBox="1"/>
          <p:nvPr/>
        </p:nvSpPr>
        <p:spPr>
          <a:xfrm>
            <a:off x="4981974" y="1721467"/>
            <a:ext cx="2265602" cy="306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sz="900">
                <a:solidFill>
                  <a:srgbClr val="00549F"/>
                </a:solidFill>
              </a:defRPr>
            </a:pPr>
            <a:r>
              <a:t>Table 6:</a:t>
            </a:r>
            <a:r>
              <a:rPr>
                <a:solidFill>
                  <a:srgbClr val="000000"/>
                </a:solidFill>
              </a:rPr>
              <a:t> Scoring criteria for vocabulary</a:t>
            </a:r>
          </a:p>
        </p:txBody>
      </p:sp>
      <p:graphicFrame>
        <p:nvGraphicFramePr>
          <p:cNvPr id="664" name="Google Shape;385;p56"/>
          <p:cNvGraphicFramePr/>
          <p:nvPr/>
        </p:nvGraphicFramePr>
        <p:xfrm>
          <a:off x="4390725" y="2033474"/>
          <a:ext cx="3410526" cy="118807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7075"/>
                <a:gridCol w="2933450"/>
              </a:tblGrid>
              <a:tr h="104249">
                <a:tc>
                  <a:txBody>
                    <a:bodyPr/>
                    <a:lstStyle/>
                    <a:p>
                      <a:pPr>
                        <a:defRPr sz="1800"/>
                      </a:pPr>
                      <a:r>
                        <a:rPr b="1" sz="900"/>
                        <a:t>Score</a:t>
                      </a:r>
                    </a:p>
                  </a:txBody>
                  <a:tcPr marL="18000" marR="18000" marT="18000" marB="18000" anchor="t" anchorCtr="0" horzOverflow="overflow"/>
                </a:tc>
                <a:tc>
                  <a:txBody>
                    <a:bodyPr/>
                    <a:lstStyle/>
                    <a:p>
                      <a:pPr>
                        <a:defRPr sz="1800"/>
                      </a:pPr>
                      <a:r>
                        <a:rPr b="1" sz="900"/>
                        <a:t>Description</a:t>
                      </a:r>
                    </a:p>
                  </a:txBody>
                  <a:tcPr marL="18000" marR="18000" marT="18000" marB="18000" anchor="t" anchorCtr="0" horzOverflow="overflow"/>
                </a:tc>
              </a:tr>
              <a:tr h="104249">
                <a:tc>
                  <a:txBody>
                    <a:bodyPr/>
                    <a:lstStyle/>
                    <a:p>
                      <a:pPr>
                        <a:defRPr sz="1800"/>
                      </a:pPr>
                      <a:r>
                        <a:rPr sz="900"/>
                        <a:t>9</a:t>
                      </a:r>
                    </a:p>
                  </a:txBody>
                  <a:tcPr marL="18000" marR="18000" marT="18000" marB="18000" anchor="t" anchorCtr="0" horzOverflow="overflow"/>
                </a:tc>
                <a:tc>
                  <a:txBody>
                    <a:bodyPr/>
                    <a:lstStyle/>
                    <a:p>
                      <a:pPr>
                        <a:defRPr sz="1800"/>
                      </a:pPr>
                      <a:r>
                        <a:rPr sz="900"/>
                        <a:t>Uses a wide range of vocabulary with very natural and sophisticated control; rare minor errors occur only as ‘slips’.</a:t>
                      </a:r>
                    </a:p>
                  </a:txBody>
                  <a:tcPr marL="18000" marR="18000" marT="18000" marB="18000" anchor="t" anchorCtr="0" horzOverflow="overflow"/>
                </a:tc>
              </a:tr>
              <a:tr h="104249">
                <a:tc>
                  <a:txBody>
                    <a:bodyPr/>
                    <a:lstStyle/>
                    <a:p>
                      <a:pPr>
                        <a:defRPr sz="1800"/>
                      </a:pPr>
                      <a:r>
                        <a:rPr sz="900"/>
                        <a:t>8</a:t>
                      </a:r>
                    </a:p>
                  </a:txBody>
                  <a:tcPr marL="18000" marR="18000" marT="18000" marB="18000" anchor="t" anchorCtr="0" horzOverflow="overflow"/>
                </a:tc>
                <a:tc>
                  <a:txBody>
                    <a:bodyPr/>
                    <a:lstStyle/>
                    <a:p>
                      <a:pPr>
                        <a:defRPr sz="1800"/>
                      </a:pPr>
                      <a:r>
                        <a:rPr sz="900"/>
                        <a:t>Uses a wide range of vocabulary fluently and flexibly to convey precise meanings.</a:t>
                      </a:r>
                    </a:p>
                  </a:txBody>
                  <a:tcPr marL="18000" marR="18000" marT="18000" marB="18000" anchor="t" anchorCtr="0" horzOverflow="overflow"/>
                </a:tc>
              </a:tr>
              <a:tr h="152775">
                <a:tc>
                  <a:txBody>
                    <a:bodyPr/>
                    <a:lstStyle/>
                    <a:p>
                      <a:pPr>
                        <a:defRPr sz="1800"/>
                      </a:pPr>
                      <a:r>
                        <a:rPr sz="900"/>
                        <a:t>7</a:t>
                      </a:r>
                    </a:p>
                  </a:txBody>
                  <a:tcPr marL="18000" marR="18000" marT="18000" marB="18000" anchor="t" anchorCtr="0" horzOverflow="overflow"/>
                </a:tc>
                <a:tc>
                  <a:txBody>
                    <a:bodyPr/>
                    <a:lstStyle/>
                    <a:p>
                      <a:pPr>
                        <a:defRPr sz="1800"/>
                      </a:pPr>
                      <a:r>
                        <a:rPr sz="900"/>
                        <a:t>Sufficient range of vocabulary to allow some flexibility and precision; uses less common lexical items with some awareness of style and collocation.</a:t>
                      </a:r>
                    </a:p>
                  </a:txBody>
                  <a:tcPr marL="18000" marR="18000" marT="18000" marB="18000" anchor="t" anchorCtr="0" horzOverflow="overflow"/>
                </a:tc>
              </a:tr>
              <a:tr h="152775">
                <a:tc>
                  <a:txBody>
                    <a:bodyPr/>
                    <a:lstStyle/>
                    <a:p>
                      <a:pPr>
                        <a:defRPr sz="1800"/>
                      </a:pPr>
                      <a:r>
                        <a:rPr sz="900"/>
                        <a:t>6</a:t>
                      </a:r>
                    </a:p>
                  </a:txBody>
                  <a:tcPr marL="18000" marR="18000" marT="18000" marB="18000" anchor="t" anchorCtr="0" horzOverflow="overflow"/>
                </a:tc>
                <a:tc>
                  <a:txBody>
                    <a:bodyPr/>
                    <a:lstStyle/>
                    <a:p>
                      <a:pPr>
                        <a:defRPr sz="1800"/>
                      </a:pPr>
                      <a:r>
                        <a:rPr sz="900"/>
                        <a:t>Adequate range of vocabulary for the task; attempts to use less common vocabulary but with some inaccuracy.</a:t>
                      </a:r>
                    </a:p>
                  </a:txBody>
                  <a:tcPr marL="18000" marR="18000" marT="18000" marB="18000" anchor="t" anchorCtr="0" horzOverflow="overflow"/>
                </a:tc>
              </a:tr>
              <a:tr h="152775">
                <a:tc>
                  <a:txBody>
                    <a:bodyPr/>
                    <a:lstStyle/>
                    <a:p>
                      <a:pPr>
                        <a:defRPr sz="1800"/>
                      </a:pPr>
                      <a:r>
                        <a:rPr sz="900"/>
                        <a:t>5</a:t>
                      </a:r>
                    </a:p>
                  </a:txBody>
                  <a:tcPr marL="18000" marR="18000" marT="18000" marB="18000" anchor="t" anchorCtr="0" horzOverflow="overflow"/>
                </a:tc>
                <a:tc>
                  <a:txBody>
                    <a:bodyPr/>
                    <a:lstStyle/>
                    <a:p>
                      <a:pPr>
                        <a:defRPr sz="1800"/>
                      </a:pPr>
                      <a:r>
                        <a:rPr sz="900"/>
                        <a:t>Limited range of vocabulary; may demonstrate frequent errors in word choice, spelling, and/or word formation.</a:t>
                      </a:r>
                    </a:p>
                  </a:txBody>
                  <a:tcPr marL="18000" marR="18000" marT="18000" marB="18000" anchor="t" anchorCtr="0" horzOverflow="overflow"/>
                </a:tc>
              </a:tr>
              <a:tr h="104249">
                <a:tc>
                  <a:txBody>
                    <a:bodyPr/>
                    <a:lstStyle/>
                    <a:p>
                      <a:pPr>
                        <a:defRPr sz="1800"/>
                      </a:pPr>
                      <a:r>
                        <a:rPr sz="900"/>
                        <a:t>4</a:t>
                      </a:r>
                    </a:p>
                  </a:txBody>
                  <a:tcPr marL="18000" marR="18000" marT="18000" marB="18000" anchor="t" anchorCtr="0" horzOverflow="overflow"/>
                </a:tc>
                <a:tc>
                  <a:txBody>
                    <a:bodyPr/>
                    <a:lstStyle/>
                    <a:p>
                      <a:pPr>
                        <a:defRPr sz="1800"/>
                      </a:pPr>
                      <a:r>
                        <a:rPr sz="900"/>
                        <a:t>Basic vocabulary is used repetitively; noticeable errors in word choice and formation.</a:t>
                      </a:r>
                    </a:p>
                  </a:txBody>
                  <a:tcPr marL="18000" marR="18000" marT="18000" marB="18000" anchor="t" anchorCtr="0" horzOverflow="overflow"/>
                </a:tc>
              </a:tr>
              <a:tr h="104249">
                <a:tc>
                  <a:txBody>
                    <a:bodyPr/>
                    <a:lstStyle/>
                    <a:p>
                      <a:pPr>
                        <a:defRPr sz="1800"/>
                      </a:pPr>
                      <a:r>
                        <a:rPr sz="900"/>
                        <a:t>3</a:t>
                      </a:r>
                    </a:p>
                  </a:txBody>
                  <a:tcPr marL="18000" marR="18000" marT="18000" marB="18000" anchor="t" anchorCtr="0" horzOverflow="overflow"/>
                </a:tc>
                <a:tc>
                  <a:txBody>
                    <a:bodyPr/>
                    <a:lstStyle/>
                    <a:p>
                      <a:pPr>
                        <a:defRPr sz="1800"/>
                      </a:pPr>
                      <a:r>
                        <a:rPr sz="900"/>
                        <a:t>Limited control of vocabulary and frequent errors obscure meaning.</a:t>
                      </a:r>
                    </a:p>
                  </a:txBody>
                  <a:tcPr marL="18000" marR="18000" marT="18000" marB="18000" anchor="t" anchorCtr="0" horzOverflow="overflow"/>
                </a:tc>
              </a:tr>
              <a:tr h="104249">
                <a:tc>
                  <a:txBody>
                    <a:bodyPr/>
                    <a:lstStyle/>
                    <a:p>
                      <a:pPr>
                        <a:defRPr sz="1800"/>
                      </a:pPr>
                      <a:r>
                        <a:rPr sz="900"/>
                        <a:t>2</a:t>
                      </a:r>
                    </a:p>
                  </a:txBody>
                  <a:tcPr marL="18000" marR="18000" marT="18000" marB="18000" anchor="t" anchorCtr="0" horzOverflow="overflow"/>
                </a:tc>
                <a:tc>
                  <a:txBody>
                    <a:bodyPr/>
                    <a:lstStyle/>
                    <a:p>
                      <a:pPr>
                        <a:defRPr sz="1800"/>
                      </a:pPr>
                      <a:r>
                        <a:rPr sz="900"/>
                        <a:t>Very limited range of words and expressions.</a:t>
                      </a:r>
                    </a:p>
                  </a:txBody>
                  <a:tcPr marL="18000" marR="18000" marT="18000" marB="18000" anchor="t" anchorCtr="0" horzOverflow="overflow"/>
                </a:tc>
              </a:tr>
              <a:tr h="104249">
                <a:tc>
                  <a:txBody>
                    <a:bodyPr/>
                    <a:lstStyle/>
                    <a:p>
                      <a:pPr>
                        <a:defRPr sz="1800"/>
                      </a:pPr>
                      <a:r>
                        <a:rPr sz="900"/>
                        <a:t>1</a:t>
                      </a:r>
                    </a:p>
                  </a:txBody>
                  <a:tcPr marL="18000" marR="18000" marT="18000" marB="18000" anchor="t" anchorCtr="0" horzOverflow="overflow"/>
                </a:tc>
                <a:tc>
                  <a:txBody>
                    <a:bodyPr/>
                    <a:lstStyle/>
                    <a:p>
                      <a:pPr>
                        <a:defRPr sz="1800"/>
                      </a:pPr>
                      <a:r>
                        <a:rPr sz="900"/>
                        <a:t>No control over word choice and frequent errors impede understanding.</a:t>
                      </a:r>
                    </a:p>
                  </a:txBody>
                  <a:tcPr marL="18000" marR="18000" marT="18000" marB="18000" anchor="t" anchorCtr="0" horzOverflow="overflow"/>
                </a:tc>
              </a:tr>
            </a:tbl>
          </a:graphicData>
        </a:graphic>
      </p:graphicFrame>
      <p:sp>
        <p:nvSpPr>
          <p:cNvPr id="665" name="Google Shape;386;p56"/>
          <p:cNvSpPr txBox="1"/>
          <p:nvPr/>
        </p:nvSpPr>
        <p:spPr>
          <a:xfrm>
            <a:off x="8932463" y="1855579"/>
            <a:ext cx="2265601" cy="306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sz="900">
                <a:solidFill>
                  <a:srgbClr val="00549F"/>
                </a:solidFill>
              </a:defRPr>
            </a:pPr>
            <a:r>
              <a:t>Table 7:</a:t>
            </a:r>
            <a:r>
              <a:rPr>
                <a:solidFill>
                  <a:srgbClr val="000000"/>
                </a:solidFill>
              </a:rPr>
              <a:t> Scoring criteria for organization</a:t>
            </a:r>
          </a:p>
        </p:txBody>
      </p:sp>
      <p:graphicFrame>
        <p:nvGraphicFramePr>
          <p:cNvPr id="666" name="Google Shape;387;p56"/>
          <p:cNvGraphicFramePr/>
          <p:nvPr/>
        </p:nvGraphicFramePr>
        <p:xfrm>
          <a:off x="8323099" y="2173688"/>
          <a:ext cx="3484351" cy="118807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7075"/>
                <a:gridCol w="3007275"/>
              </a:tblGrid>
              <a:tr h="104249">
                <a:tc>
                  <a:txBody>
                    <a:bodyPr/>
                    <a:lstStyle/>
                    <a:p>
                      <a:pPr>
                        <a:defRPr sz="1800"/>
                      </a:pPr>
                      <a:r>
                        <a:rPr b="1" sz="900"/>
                        <a:t>Score</a:t>
                      </a:r>
                    </a:p>
                  </a:txBody>
                  <a:tcPr marL="18000" marR="18000" marT="18000" marB="18000" anchor="t" anchorCtr="0" horzOverflow="overflow"/>
                </a:tc>
                <a:tc>
                  <a:txBody>
                    <a:bodyPr/>
                    <a:lstStyle/>
                    <a:p>
                      <a:pPr>
                        <a:defRPr sz="1800"/>
                      </a:pPr>
                      <a:r>
                        <a:rPr b="1" sz="900"/>
                        <a:t>Description</a:t>
                      </a:r>
                    </a:p>
                  </a:txBody>
                  <a:tcPr marL="18000" marR="18000" marT="18000" marB="18000" anchor="t" anchorCtr="0" horzOverflow="overflow"/>
                </a:tc>
              </a:tr>
              <a:tr h="104249">
                <a:tc>
                  <a:txBody>
                    <a:bodyPr/>
                    <a:lstStyle/>
                    <a:p>
                      <a:pPr>
                        <a:defRPr sz="1800"/>
                      </a:pPr>
                      <a:r>
                        <a:rPr sz="900"/>
                        <a:t>9</a:t>
                      </a:r>
                    </a:p>
                  </a:txBody>
                  <a:tcPr marL="18000" marR="18000" marT="18000" marB="18000" anchor="t" anchorCtr="0" horzOverflow="overflow"/>
                </a:tc>
                <a:tc>
                  <a:txBody>
                    <a:bodyPr/>
                    <a:lstStyle/>
                    <a:p>
                      <a:pPr>
                        <a:defRPr sz="1800"/>
                      </a:pPr>
                      <a:r>
                        <a:rPr sz="900"/>
                        <a:t>Information and ideas are logically sequenced and fully developed; clear progression throughout.</a:t>
                      </a:r>
                    </a:p>
                  </a:txBody>
                  <a:tcPr marL="18000" marR="18000" marT="18000" marB="18000" anchor="t" anchorCtr="0" horzOverflow="overflow"/>
                </a:tc>
              </a:tr>
              <a:tr h="104249">
                <a:tc>
                  <a:txBody>
                    <a:bodyPr/>
                    <a:lstStyle/>
                    <a:p>
                      <a:pPr>
                        <a:defRPr sz="1800"/>
                      </a:pPr>
                      <a:r>
                        <a:rPr sz="900"/>
                        <a:t>8</a:t>
                      </a:r>
                    </a:p>
                  </a:txBody>
                  <a:tcPr marL="18000" marR="18000" marT="18000" marB="18000" anchor="t" anchorCtr="0" horzOverflow="overflow"/>
                </a:tc>
                <a:tc>
                  <a:txBody>
                    <a:bodyPr/>
                    <a:lstStyle/>
                    <a:p>
                      <a:pPr>
                        <a:defRPr sz="1800"/>
                      </a:pPr>
                      <a:r>
                        <a:rPr sz="900"/>
                        <a:t>Logically organizes information and ideas; there is clear progression throughout.</a:t>
                      </a:r>
                    </a:p>
                  </a:txBody>
                  <a:tcPr marL="18000" marR="18000" marT="18000" marB="18000" anchor="t" anchorCtr="0" horzOverflow="overflow"/>
                </a:tc>
              </a:tr>
              <a:tr h="152775">
                <a:tc>
                  <a:txBody>
                    <a:bodyPr/>
                    <a:lstStyle/>
                    <a:p>
                      <a:pPr>
                        <a:defRPr sz="1800"/>
                      </a:pPr>
                      <a:r>
                        <a:rPr sz="900"/>
                        <a:t>7</a:t>
                      </a:r>
                    </a:p>
                  </a:txBody>
                  <a:tcPr marL="18000" marR="18000" marT="18000" marB="18000" anchor="t" anchorCtr="0" horzOverflow="overflow"/>
                </a:tc>
                <a:tc>
                  <a:txBody>
                    <a:bodyPr/>
                    <a:lstStyle/>
                    <a:p>
                      <a:pPr>
                        <a:defRPr sz="1800"/>
                      </a:pPr>
                      <a:r>
                        <a:rPr sz="900"/>
                        <a:t>Logically organizes information and ideas with clear progression; uses a range of cohesive devices appropriately.</a:t>
                      </a:r>
                    </a:p>
                  </a:txBody>
                  <a:tcPr marL="18000" marR="18000" marT="18000" marB="18000" anchor="t" anchorCtr="0" horzOverflow="overflow"/>
                </a:tc>
              </a:tr>
              <a:tr h="152775">
                <a:tc>
                  <a:txBody>
                    <a:bodyPr/>
                    <a:lstStyle/>
                    <a:p>
                      <a:pPr>
                        <a:defRPr sz="1800"/>
                      </a:pPr>
                      <a:r>
                        <a:rPr sz="900"/>
                        <a:t>6</a:t>
                      </a:r>
                    </a:p>
                  </a:txBody>
                  <a:tcPr marL="18000" marR="18000" marT="18000" marB="18000" anchor="t" anchorCtr="0" horzOverflow="overflow"/>
                </a:tc>
                <a:tc>
                  <a:txBody>
                    <a:bodyPr/>
                    <a:lstStyle/>
                    <a:p>
                      <a:pPr>
                        <a:defRPr sz="1800"/>
                      </a:pPr>
                      <a:r>
                        <a:rPr sz="900"/>
                        <a:t>Arranges information and ideas coherently with some progression; cohesive devices may be mechanical.</a:t>
                      </a:r>
                    </a:p>
                  </a:txBody>
                  <a:tcPr marL="18000" marR="18000" marT="18000" marB="18000" anchor="t" anchorCtr="0" horzOverflow="overflow"/>
                </a:tc>
              </a:tr>
              <a:tr h="152775">
                <a:tc>
                  <a:txBody>
                    <a:bodyPr/>
                    <a:lstStyle/>
                    <a:p>
                      <a:pPr>
                        <a:defRPr sz="1800"/>
                      </a:pPr>
                      <a:r>
                        <a:rPr sz="900"/>
                        <a:t>5</a:t>
                      </a:r>
                    </a:p>
                  </a:txBody>
                  <a:tcPr marL="18000" marR="18000" marT="18000" marB="18000" anchor="t" anchorCtr="0" horzOverflow="overflow"/>
                </a:tc>
                <a:tc>
                  <a:txBody>
                    <a:bodyPr/>
                    <a:lstStyle/>
                    <a:p>
                      <a:pPr>
                        <a:defRPr sz="1800"/>
                      </a:pPr>
                      <a:r>
                        <a:rPr sz="900"/>
                        <a:t>Presents information with some organization but there may be a lack of overall progression.</a:t>
                      </a:r>
                    </a:p>
                  </a:txBody>
                  <a:tcPr marL="18000" marR="18000" marT="18000" marB="18000" anchor="t" anchorCtr="0" horzOverflow="overflow"/>
                </a:tc>
              </a:tr>
              <a:tr h="104249">
                <a:tc>
                  <a:txBody>
                    <a:bodyPr/>
                    <a:lstStyle/>
                    <a:p>
                      <a:pPr>
                        <a:defRPr sz="1800"/>
                      </a:pPr>
                      <a:r>
                        <a:rPr sz="900"/>
                        <a:t>4</a:t>
                      </a:r>
                    </a:p>
                  </a:txBody>
                  <a:tcPr marL="18000" marR="18000" marT="18000" marB="18000" anchor="t" anchorCtr="0" horzOverflow="overflow"/>
                </a:tc>
                <a:tc>
                  <a:txBody>
                    <a:bodyPr/>
                    <a:lstStyle/>
                    <a:p>
                      <a:pPr>
                        <a:defRPr sz="1800"/>
                      </a:pPr>
                      <a:r>
                        <a:rPr sz="900"/>
                        <a:t>Limited organization; may not logically sequence ideas.</a:t>
                      </a:r>
                    </a:p>
                  </a:txBody>
                  <a:tcPr marL="18000" marR="18000" marT="18000" marB="18000" anchor="t" anchorCtr="0" horzOverflow="overflow"/>
                </a:tc>
              </a:tr>
              <a:tr h="104249">
                <a:tc>
                  <a:txBody>
                    <a:bodyPr/>
                    <a:lstStyle/>
                    <a:p>
                      <a:pPr>
                        <a:defRPr sz="1800"/>
                      </a:pPr>
                      <a:r>
                        <a:rPr sz="900"/>
                        <a:t>3</a:t>
                      </a:r>
                    </a:p>
                  </a:txBody>
                  <a:tcPr marL="18000" marR="18000" marT="18000" marB="18000" anchor="t" anchorCtr="0" horzOverflow="overflow"/>
                </a:tc>
                <a:tc>
                  <a:txBody>
                    <a:bodyPr/>
                    <a:lstStyle/>
                    <a:p>
                      <a:pPr>
                        <a:defRPr sz="1800"/>
                      </a:pPr>
                      <a:r>
                        <a:rPr sz="900"/>
                        <a:t>Ideas are not arranged coherently; limited use of cohesive devices.</a:t>
                      </a:r>
                    </a:p>
                  </a:txBody>
                  <a:tcPr marL="18000" marR="18000" marT="18000" marB="18000" anchor="t" anchorCtr="0" horzOverflow="overflow"/>
                </a:tc>
              </a:tr>
              <a:tr h="104249">
                <a:tc>
                  <a:txBody>
                    <a:bodyPr/>
                    <a:lstStyle/>
                    <a:p>
                      <a:pPr>
                        <a:defRPr sz="1800"/>
                      </a:pPr>
                      <a:r>
                        <a:rPr sz="900"/>
                        <a:t>2</a:t>
                      </a:r>
                    </a:p>
                  </a:txBody>
                  <a:tcPr marL="18000" marR="18000" marT="18000" marB="18000" anchor="t" anchorCtr="0" horzOverflow="overflow"/>
                </a:tc>
                <a:tc>
                  <a:txBody>
                    <a:bodyPr/>
                    <a:lstStyle/>
                    <a:p>
                      <a:pPr>
                        <a:defRPr sz="1800"/>
                      </a:pPr>
                      <a:r>
                        <a:rPr sz="900"/>
                        <a:t>Very little control of organizational features; ideas are not logically arranged.</a:t>
                      </a:r>
                    </a:p>
                  </a:txBody>
                  <a:tcPr marL="18000" marR="18000" marT="18000" marB="18000" anchor="t" anchorCtr="0" horzOverflow="overflow"/>
                </a:tc>
              </a:tr>
              <a:tr h="104249">
                <a:tc>
                  <a:txBody>
                    <a:bodyPr/>
                    <a:lstStyle/>
                    <a:p>
                      <a:pPr>
                        <a:defRPr sz="1800"/>
                      </a:pPr>
                      <a:r>
                        <a:rPr sz="900"/>
                        <a:t>1</a:t>
                      </a:r>
                    </a:p>
                  </a:txBody>
                  <a:tcPr marL="18000" marR="18000" marT="18000" marB="18000" anchor="t" anchorCtr="0" horzOverflow="overflow"/>
                </a:tc>
                <a:tc>
                  <a:txBody>
                    <a:bodyPr/>
                    <a:lstStyle/>
                    <a:p>
                      <a:pPr>
                        <a:defRPr sz="1800"/>
                      </a:pPr>
                      <a:r>
                        <a:rPr sz="900"/>
                        <a:t>Fails to communicate any organized ideas.</a:t>
                      </a:r>
                    </a:p>
                  </a:txBody>
                  <a:tcPr marL="18000" marR="18000" marT="18000" marB="18000" anchor="t" anchorCtr="0" horzOverflow="overflow"/>
                </a:tc>
              </a:tr>
            </a:tbl>
          </a:graphicData>
        </a:graphic>
      </p:graphicFrame>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8"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69" name="Google Shape;392;p57"/>
          <p:cNvSpPr txBox="1"/>
          <p:nvPr>
            <p:ph type="title"/>
          </p:nvPr>
        </p:nvSpPr>
        <p:spPr>
          <a:xfrm>
            <a:off x="384175" y="201612"/>
            <a:ext cx="11484000" cy="543001"/>
          </a:xfrm>
          <a:prstGeom prst="rect">
            <a:avLst/>
          </a:prstGeom>
        </p:spPr>
        <p:txBody>
          <a:bodyPr/>
          <a:lstStyle/>
          <a:p>
            <a:pPr/>
            <a:r>
              <a:t>Realization</a:t>
            </a:r>
          </a:p>
        </p:txBody>
      </p:sp>
      <p:sp>
        <p:nvSpPr>
          <p:cNvPr id="670" name="Google Shape;393;p57"/>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Writing Rubric</a:t>
            </a:r>
          </a:p>
        </p:txBody>
      </p:sp>
      <p:sp>
        <p:nvSpPr>
          <p:cNvPr id="671" name="Google Shape;394;p57"/>
          <p:cNvSpPr txBox="1"/>
          <p:nvPr/>
        </p:nvSpPr>
        <p:spPr>
          <a:xfrm>
            <a:off x="2997000" y="1858629"/>
            <a:ext cx="2265601" cy="306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sz="900">
                <a:solidFill>
                  <a:srgbClr val="00549F"/>
                </a:solidFill>
              </a:defRPr>
            </a:pPr>
            <a:r>
              <a:t>Table 8:</a:t>
            </a:r>
            <a:r>
              <a:rPr>
                <a:solidFill>
                  <a:srgbClr val="000000"/>
                </a:solidFill>
              </a:rPr>
              <a:t> Scoring criteria for coherence</a:t>
            </a:r>
          </a:p>
        </p:txBody>
      </p:sp>
      <p:graphicFrame>
        <p:nvGraphicFramePr>
          <p:cNvPr id="672" name="Google Shape;395;p57"/>
          <p:cNvGraphicFramePr/>
          <p:nvPr/>
        </p:nvGraphicFramePr>
        <p:xfrm>
          <a:off x="2435937" y="2170638"/>
          <a:ext cx="3387726" cy="118807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7075"/>
                <a:gridCol w="2910650"/>
              </a:tblGrid>
              <a:tr h="104249">
                <a:tc>
                  <a:txBody>
                    <a:bodyPr/>
                    <a:lstStyle/>
                    <a:p>
                      <a:pPr>
                        <a:defRPr sz="1800"/>
                      </a:pPr>
                      <a:r>
                        <a:rPr b="1" sz="900"/>
                        <a:t>Score</a:t>
                      </a:r>
                    </a:p>
                  </a:txBody>
                  <a:tcPr marL="18000" marR="18000" marT="18000" marB="18000" anchor="t" anchorCtr="0" horzOverflow="overflow"/>
                </a:tc>
                <a:tc>
                  <a:txBody>
                    <a:bodyPr/>
                    <a:lstStyle/>
                    <a:p>
                      <a:pPr>
                        <a:defRPr sz="1800"/>
                      </a:pPr>
                      <a:r>
                        <a:rPr b="1" sz="900"/>
                        <a:t>Description</a:t>
                      </a:r>
                    </a:p>
                  </a:txBody>
                  <a:tcPr marL="18000" marR="18000" marT="18000" marB="18000" anchor="t" anchorCtr="0" horzOverflow="overflow"/>
                </a:tc>
              </a:tr>
              <a:tr h="104249">
                <a:tc>
                  <a:txBody>
                    <a:bodyPr/>
                    <a:lstStyle/>
                    <a:p>
                      <a:pPr>
                        <a:defRPr sz="1800"/>
                      </a:pPr>
                      <a:r>
                        <a:rPr sz="900"/>
                        <a:t>9</a:t>
                      </a:r>
                    </a:p>
                  </a:txBody>
                  <a:tcPr marL="18000" marR="18000" marT="18000" marB="18000" anchor="t" anchorCtr="0" horzOverflow="overflow"/>
                </a:tc>
                <a:tc>
                  <a:txBody>
                    <a:bodyPr/>
                    <a:lstStyle/>
                    <a:p>
                      <a:pPr>
                        <a:defRPr sz="1800"/>
                      </a:pPr>
                      <a:r>
                        <a:rPr sz="900"/>
                        <a:t>Cohesive devices are used in such a way that it attracts no attention; ideas are fully developed and well-supported.</a:t>
                      </a:r>
                    </a:p>
                  </a:txBody>
                  <a:tcPr marL="18000" marR="18000" marT="18000" marB="18000" anchor="t" anchorCtr="0" horzOverflow="overflow"/>
                </a:tc>
              </a:tr>
              <a:tr h="104249">
                <a:tc>
                  <a:txBody>
                    <a:bodyPr/>
                    <a:lstStyle/>
                    <a:p>
                      <a:pPr>
                        <a:defRPr sz="1800"/>
                      </a:pPr>
                      <a:r>
                        <a:rPr sz="900"/>
                        <a:t>8</a:t>
                      </a:r>
                    </a:p>
                  </a:txBody>
                  <a:tcPr marL="18000" marR="18000" marT="18000" marB="18000" anchor="t" anchorCtr="0" horzOverflow="overflow"/>
                </a:tc>
                <a:tc>
                  <a:txBody>
                    <a:bodyPr/>
                    <a:lstStyle/>
                    <a:p>
                      <a:pPr>
                        <a:defRPr sz="1800"/>
                      </a:pPr>
                      <a:r>
                        <a:rPr sz="900"/>
                        <a:t>Cohesive devices used effectively; ideas are well-developed and supported.</a:t>
                      </a:r>
                    </a:p>
                  </a:txBody>
                  <a:tcPr marL="18000" marR="18000" marT="18000" marB="18000" anchor="t" anchorCtr="0" horzOverflow="overflow"/>
                </a:tc>
              </a:tr>
              <a:tr h="152775">
                <a:tc>
                  <a:txBody>
                    <a:bodyPr/>
                    <a:lstStyle/>
                    <a:p>
                      <a:pPr>
                        <a:defRPr sz="1800"/>
                      </a:pPr>
                      <a:r>
                        <a:rPr sz="900"/>
                        <a:t>7</a:t>
                      </a:r>
                    </a:p>
                  </a:txBody>
                  <a:tcPr marL="18000" marR="18000" marT="18000" marB="18000" anchor="t" anchorCtr="0" horzOverflow="overflow"/>
                </a:tc>
                <a:tc>
                  <a:txBody>
                    <a:bodyPr/>
                    <a:lstStyle/>
                    <a:p>
                      <a:pPr>
                        <a:defRPr sz="1800"/>
                      </a:pPr>
                      <a:r>
                        <a:rPr sz="900"/>
                        <a:t>Uses cohesive devices effectively; presents clear progression of ideas.</a:t>
                      </a:r>
                    </a:p>
                  </a:txBody>
                  <a:tcPr marL="18000" marR="18000" marT="18000" marB="18000" anchor="t" anchorCtr="0" horzOverflow="overflow"/>
                </a:tc>
              </a:tr>
              <a:tr h="152775">
                <a:tc>
                  <a:txBody>
                    <a:bodyPr/>
                    <a:lstStyle/>
                    <a:p>
                      <a:pPr>
                        <a:defRPr sz="1800"/>
                      </a:pPr>
                      <a:r>
                        <a:rPr sz="900"/>
                        <a:t>6</a:t>
                      </a:r>
                    </a:p>
                  </a:txBody>
                  <a:tcPr marL="18000" marR="18000" marT="18000" marB="18000" anchor="t" anchorCtr="0" horzOverflow="overflow"/>
                </a:tc>
                <a:tc>
                  <a:txBody>
                    <a:bodyPr/>
                    <a:lstStyle/>
                    <a:p>
                      <a:pPr>
                        <a:defRPr sz="1800"/>
                      </a:pPr>
                      <a:r>
                        <a:rPr sz="900"/>
                        <a:t>Uses cohesive devices, though cohesion within and/or between sentences may be faulty or mechanical.</a:t>
                      </a:r>
                    </a:p>
                  </a:txBody>
                  <a:tcPr marL="18000" marR="18000" marT="18000" marB="18000" anchor="t" anchorCtr="0" horzOverflow="overflow"/>
                </a:tc>
              </a:tr>
              <a:tr h="152775">
                <a:tc>
                  <a:txBody>
                    <a:bodyPr/>
                    <a:lstStyle/>
                    <a:p>
                      <a:pPr>
                        <a:defRPr sz="1800"/>
                      </a:pPr>
                      <a:r>
                        <a:rPr sz="900"/>
                        <a:t>5</a:t>
                      </a:r>
                    </a:p>
                  </a:txBody>
                  <a:tcPr marL="18000" marR="18000" marT="18000" marB="18000" anchor="t" anchorCtr="0" horzOverflow="overflow"/>
                </a:tc>
                <a:tc>
                  <a:txBody>
                    <a:bodyPr/>
                    <a:lstStyle/>
                    <a:p>
                      <a:pPr>
                        <a:defRPr sz="1800"/>
                      </a:pPr>
                      <a:r>
                        <a:rPr sz="900"/>
                        <a:t>Uses some cohesive devices but these may be inaccurate or repetitive.</a:t>
                      </a:r>
                    </a:p>
                  </a:txBody>
                  <a:tcPr marL="18000" marR="18000" marT="18000" marB="18000" anchor="t" anchorCtr="0" horzOverflow="overflow"/>
                </a:tc>
              </a:tr>
              <a:tr h="104249">
                <a:tc>
                  <a:txBody>
                    <a:bodyPr/>
                    <a:lstStyle/>
                    <a:p>
                      <a:pPr>
                        <a:defRPr sz="1800"/>
                      </a:pPr>
                      <a:r>
                        <a:rPr sz="900"/>
                        <a:t>4</a:t>
                      </a:r>
                    </a:p>
                  </a:txBody>
                  <a:tcPr marL="18000" marR="18000" marT="18000" marB="18000" anchor="t" anchorCtr="0" horzOverflow="overflow"/>
                </a:tc>
                <a:tc>
                  <a:txBody>
                    <a:bodyPr/>
                    <a:lstStyle/>
                    <a:p>
                      <a:pPr>
                        <a:defRPr sz="1800"/>
                      </a:pPr>
                      <a:r>
                        <a:rPr sz="900"/>
                        <a:t>Relationships between ideas are unclear; limited use of cohesive devices.</a:t>
                      </a:r>
                    </a:p>
                  </a:txBody>
                  <a:tcPr marL="18000" marR="18000" marT="18000" marB="18000" anchor="t" anchorCtr="0" horzOverflow="overflow"/>
                </a:tc>
              </a:tr>
              <a:tr h="104249">
                <a:tc>
                  <a:txBody>
                    <a:bodyPr/>
                    <a:lstStyle/>
                    <a:p>
                      <a:pPr>
                        <a:defRPr sz="1800"/>
                      </a:pPr>
                      <a:r>
                        <a:rPr sz="900"/>
                        <a:t>3</a:t>
                      </a:r>
                    </a:p>
                  </a:txBody>
                  <a:tcPr marL="18000" marR="18000" marT="18000" marB="18000" anchor="t" anchorCtr="0" horzOverflow="overflow"/>
                </a:tc>
                <a:tc>
                  <a:txBody>
                    <a:bodyPr/>
                    <a:lstStyle/>
                    <a:p>
                      <a:pPr>
                        <a:defRPr sz="1800"/>
                      </a:pPr>
                      <a:r>
                        <a:rPr sz="900"/>
                        <a:t>Lack of coherence; ideas are difficult to follow.</a:t>
                      </a:r>
                    </a:p>
                  </a:txBody>
                  <a:tcPr marL="18000" marR="18000" marT="18000" marB="18000" anchor="t" anchorCtr="0" horzOverflow="overflow"/>
                </a:tc>
              </a:tr>
              <a:tr h="104249">
                <a:tc>
                  <a:txBody>
                    <a:bodyPr/>
                    <a:lstStyle/>
                    <a:p>
                      <a:pPr>
                        <a:defRPr sz="1800"/>
                      </a:pPr>
                      <a:r>
                        <a:rPr sz="900"/>
                        <a:t>2</a:t>
                      </a:r>
                    </a:p>
                  </a:txBody>
                  <a:tcPr marL="18000" marR="18000" marT="18000" marB="18000" anchor="t" anchorCtr="0" horzOverflow="overflow"/>
                </a:tc>
                <a:tc>
                  <a:txBody>
                    <a:bodyPr/>
                    <a:lstStyle/>
                    <a:p>
                      <a:pPr>
                        <a:defRPr sz="1800"/>
                      </a:pPr>
                      <a:r>
                        <a:rPr sz="900"/>
                        <a:t>Minimal use of cohesive devices; ideas are not logically connected.</a:t>
                      </a:r>
                    </a:p>
                  </a:txBody>
                  <a:tcPr marL="18000" marR="18000" marT="18000" marB="18000" anchor="t" anchorCtr="0" horzOverflow="overflow"/>
                </a:tc>
              </a:tr>
              <a:tr h="104249">
                <a:tc>
                  <a:txBody>
                    <a:bodyPr/>
                    <a:lstStyle/>
                    <a:p>
                      <a:pPr>
                        <a:defRPr sz="1800"/>
                      </a:pPr>
                      <a:r>
                        <a:rPr sz="900"/>
                        <a:t>1</a:t>
                      </a:r>
                    </a:p>
                  </a:txBody>
                  <a:tcPr marL="18000" marR="18000" marT="18000" marB="18000" anchor="t" anchorCtr="0" horzOverflow="overflow"/>
                </a:tc>
                <a:tc>
                  <a:txBody>
                    <a:bodyPr/>
                    <a:lstStyle/>
                    <a:p>
                      <a:pPr>
                        <a:defRPr sz="1800"/>
                      </a:pPr>
                      <a:r>
                        <a:rPr sz="900"/>
                        <a:t>No coherent ideas are presented.</a:t>
                      </a:r>
                    </a:p>
                  </a:txBody>
                  <a:tcPr marL="18000" marR="18000" marT="18000" marB="18000" anchor="t" anchorCtr="0" horzOverflow="overflow"/>
                </a:tc>
              </a:tr>
            </a:tbl>
          </a:graphicData>
        </a:graphic>
      </p:graphicFrame>
      <p:sp>
        <p:nvSpPr>
          <p:cNvPr id="673" name="Google Shape;396;p57"/>
          <p:cNvSpPr txBox="1"/>
          <p:nvPr/>
        </p:nvSpPr>
        <p:spPr>
          <a:xfrm>
            <a:off x="6936775" y="1584291"/>
            <a:ext cx="2265601" cy="306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sz="900">
                <a:solidFill>
                  <a:srgbClr val="00549F"/>
                </a:solidFill>
              </a:defRPr>
            </a:pPr>
            <a:r>
              <a:t>Table 9:</a:t>
            </a:r>
            <a:r>
              <a:rPr>
                <a:solidFill>
                  <a:srgbClr val="000000"/>
                </a:solidFill>
              </a:rPr>
              <a:t> Scoring criteria for writing style</a:t>
            </a:r>
          </a:p>
        </p:txBody>
      </p:sp>
      <p:graphicFrame>
        <p:nvGraphicFramePr>
          <p:cNvPr id="674" name="Google Shape;397;p57"/>
          <p:cNvGraphicFramePr/>
          <p:nvPr/>
        </p:nvGraphicFramePr>
        <p:xfrm>
          <a:off x="6345525" y="1896299"/>
          <a:ext cx="3410526" cy="11573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7075"/>
                <a:gridCol w="2933450"/>
              </a:tblGrid>
              <a:tr h="104249">
                <a:tc>
                  <a:txBody>
                    <a:bodyPr/>
                    <a:lstStyle/>
                    <a:p>
                      <a:pPr>
                        <a:defRPr sz="1800"/>
                      </a:pPr>
                      <a:r>
                        <a:rPr b="1" sz="900"/>
                        <a:t>Score</a:t>
                      </a:r>
                    </a:p>
                  </a:txBody>
                  <a:tcPr marL="18000" marR="18000" marT="18000" marB="18000" anchor="t" anchorCtr="0" horzOverflow="overflow"/>
                </a:tc>
                <a:tc>
                  <a:txBody>
                    <a:bodyPr/>
                    <a:lstStyle/>
                    <a:p>
                      <a:pPr>
                        <a:defRPr sz="1800"/>
                      </a:pPr>
                      <a:r>
                        <a:rPr b="1" sz="900"/>
                        <a:t>Description</a:t>
                      </a:r>
                    </a:p>
                  </a:txBody>
                  <a:tcPr marL="18000" marR="18000" marT="18000" marB="18000" anchor="t" anchorCtr="0" horzOverflow="overflow"/>
                </a:tc>
              </a:tr>
              <a:tr h="104249">
                <a:tc>
                  <a:txBody>
                    <a:bodyPr/>
                    <a:lstStyle/>
                    <a:p>
                      <a:pPr>
                        <a:defRPr sz="1800"/>
                      </a:pPr>
                      <a:r>
                        <a:rPr sz="900"/>
                        <a:t>9</a:t>
                      </a:r>
                    </a:p>
                  </a:txBody>
                  <a:tcPr marL="18000" marR="18000" marT="18000" marB="18000" anchor="t" anchorCtr="0" horzOverflow="overflow"/>
                </a:tc>
                <a:tc>
                  <a:txBody>
                    <a:bodyPr/>
                    <a:lstStyle/>
                    <a:p>
                      <a:pPr>
                        <a:defRPr sz="1800"/>
                      </a:pPr>
                      <a:r>
                        <a:rPr sz="900"/>
                        <a:t>Engages the reader with an original and compelling style; tone and register are entirely appropriate for academic writing.</a:t>
                      </a:r>
                    </a:p>
                  </a:txBody>
                  <a:tcPr marL="18000" marR="18000" marT="18000" marB="18000" anchor="t" anchorCtr="0" horzOverflow="overflow"/>
                </a:tc>
              </a:tr>
              <a:tr h="104249">
                <a:tc>
                  <a:txBody>
                    <a:bodyPr/>
                    <a:lstStyle/>
                    <a:p>
                      <a:pPr>
                        <a:defRPr sz="1800"/>
                      </a:pPr>
                      <a:r>
                        <a:rPr sz="900"/>
                        <a:t>8</a:t>
                      </a:r>
                    </a:p>
                  </a:txBody>
                  <a:tcPr marL="18000" marR="18000" marT="18000" marB="18000" anchor="t" anchorCtr="0" horzOverflow="overflow"/>
                </a:tc>
                <a:tc>
                  <a:txBody>
                    <a:bodyPr/>
                    <a:lstStyle/>
                    <a:p>
                      <a:pPr>
                        <a:defRPr sz="1800"/>
                      </a:pPr>
                      <a:r>
                        <a:rPr sz="900"/>
                        <a:t>Writing is engaging and the tone is appropriate for academic writing; minor errors in style do not detract from the overall impact.</a:t>
                      </a:r>
                    </a:p>
                  </a:txBody>
                  <a:tcPr marL="18000" marR="18000" marT="18000" marB="18000" anchor="t" anchorCtr="0" horzOverflow="overflow"/>
                </a:tc>
              </a:tr>
              <a:tr h="152775">
                <a:tc>
                  <a:txBody>
                    <a:bodyPr/>
                    <a:lstStyle/>
                    <a:p>
                      <a:pPr>
                        <a:defRPr sz="1800"/>
                      </a:pPr>
                      <a:r>
                        <a:rPr sz="900"/>
                        <a:t>7</a:t>
                      </a:r>
                    </a:p>
                  </a:txBody>
                  <a:tcPr marL="18000" marR="18000" marT="18000" marB="18000" anchor="t" anchorCtr="0" horzOverflow="overflow"/>
                </a:tc>
                <a:tc>
                  <a:txBody>
                    <a:bodyPr/>
                    <a:lstStyle/>
                    <a:p>
                      <a:pPr>
                        <a:defRPr sz="1800"/>
                      </a:pPr>
                      <a:r>
                        <a:rPr sz="900"/>
                        <a:t>Demonstrates some complexity and flexibility in style; tone and register are appropriate for academic writing.</a:t>
                      </a:r>
                    </a:p>
                  </a:txBody>
                  <a:tcPr marL="18000" marR="18000" marT="18000" marB="18000" anchor="t" anchorCtr="0" horzOverflow="overflow"/>
                </a:tc>
              </a:tr>
              <a:tr h="152775">
                <a:tc>
                  <a:txBody>
                    <a:bodyPr/>
                    <a:lstStyle/>
                    <a:p>
                      <a:pPr>
                        <a:defRPr sz="1800"/>
                      </a:pPr>
                      <a:r>
                        <a:rPr sz="900"/>
                        <a:t>6</a:t>
                      </a:r>
                    </a:p>
                  </a:txBody>
                  <a:tcPr marL="18000" marR="18000" marT="18000" marB="18000" anchor="t" anchorCtr="0" horzOverflow="overflow"/>
                </a:tc>
                <a:tc>
                  <a:txBody>
                    <a:bodyPr/>
                    <a:lstStyle/>
                    <a:p>
                      <a:pPr>
                        <a:defRPr sz="1800"/>
                      </a:pPr>
                      <a:r>
                        <a:rPr sz="900"/>
                        <a:t>Shows some variety in style and an attempt to engage the reader; tone may be uneven but generally appropriate for academic writing.</a:t>
                      </a:r>
                    </a:p>
                  </a:txBody>
                  <a:tcPr marL="18000" marR="18000" marT="18000" marB="18000" anchor="t" anchorCtr="0" horzOverflow="overflow"/>
                </a:tc>
              </a:tr>
              <a:tr h="152775">
                <a:tc>
                  <a:txBody>
                    <a:bodyPr/>
                    <a:lstStyle/>
                    <a:p>
                      <a:pPr>
                        <a:defRPr sz="1800"/>
                      </a:pPr>
                      <a:r>
                        <a:rPr sz="900"/>
                        <a:t>5</a:t>
                      </a:r>
                    </a:p>
                  </a:txBody>
                  <a:tcPr marL="18000" marR="18000" marT="18000" marB="18000" anchor="t" anchorCtr="0" horzOverflow="overflow"/>
                </a:tc>
                <a:tc>
                  <a:txBody>
                    <a:bodyPr/>
                    <a:lstStyle/>
                    <a:p>
                      <a:pPr>
                        <a:defRPr sz="1800"/>
                      </a:pPr>
                      <a:r>
                        <a:rPr sz="900"/>
                        <a:t>Writing is somewhat engaging; tone and register may be inconsistent but some attempt at academic style is evident.</a:t>
                      </a:r>
                    </a:p>
                  </a:txBody>
                  <a:tcPr marL="18000" marR="18000" marT="18000" marB="18000" anchor="t" anchorCtr="0" horzOverflow="overflow"/>
                </a:tc>
              </a:tr>
              <a:tr h="104249">
                <a:tc>
                  <a:txBody>
                    <a:bodyPr/>
                    <a:lstStyle/>
                    <a:p>
                      <a:pPr>
                        <a:defRPr sz="1800"/>
                      </a:pPr>
                      <a:r>
                        <a:rPr sz="900"/>
                        <a:t>4</a:t>
                      </a:r>
                    </a:p>
                  </a:txBody>
                  <a:tcPr marL="18000" marR="18000" marT="18000" marB="18000" anchor="t" anchorCtr="0" horzOverflow="overflow"/>
                </a:tc>
                <a:tc>
                  <a:txBody>
                    <a:bodyPr/>
                    <a:lstStyle/>
                    <a:p>
                      <a:pPr>
                        <a:defRPr sz="1800"/>
                      </a:pPr>
                      <a:r>
                        <a:rPr sz="900"/>
                        <a:t>Limited engagement with the reader; writing style may be flat and uninteresting.</a:t>
                      </a:r>
                    </a:p>
                  </a:txBody>
                  <a:tcPr marL="18000" marR="18000" marT="18000" marB="18000" anchor="t" anchorCtr="0" horzOverflow="overflow"/>
                </a:tc>
              </a:tr>
              <a:tr h="104249">
                <a:tc>
                  <a:txBody>
                    <a:bodyPr/>
                    <a:lstStyle/>
                    <a:p>
                      <a:pPr>
                        <a:defRPr sz="1800"/>
                      </a:pPr>
                      <a:r>
                        <a:rPr sz="900"/>
                        <a:t>3</a:t>
                      </a:r>
                    </a:p>
                  </a:txBody>
                  <a:tcPr marL="18000" marR="18000" marT="18000" marB="18000" anchor="t" anchorCtr="0" horzOverflow="overflow"/>
                </a:tc>
                <a:tc>
                  <a:txBody>
                    <a:bodyPr/>
                    <a:lstStyle/>
                    <a:p>
                      <a:pPr>
                        <a:defRPr sz="1800"/>
                      </a:pPr>
                      <a:r>
                        <a:rPr sz="900"/>
                        <a:t>Writing style is simplistic and fails to engage the reader; tone is often inappropriate for academic writing.</a:t>
                      </a:r>
                    </a:p>
                  </a:txBody>
                  <a:tcPr marL="18000" marR="18000" marT="18000" marB="18000" anchor="t" anchorCtr="0" horzOverflow="overflow"/>
                </a:tc>
              </a:tr>
              <a:tr h="104249">
                <a:tc>
                  <a:txBody>
                    <a:bodyPr/>
                    <a:lstStyle/>
                    <a:p>
                      <a:pPr>
                        <a:defRPr sz="1800"/>
                      </a:pPr>
                      <a:r>
                        <a:rPr sz="900"/>
                        <a:t>2</a:t>
                      </a:r>
                    </a:p>
                  </a:txBody>
                  <a:tcPr marL="18000" marR="18000" marT="18000" marB="18000" anchor="t" anchorCtr="0" horzOverflow="overflow"/>
                </a:tc>
                <a:tc>
                  <a:txBody>
                    <a:bodyPr/>
                    <a:lstStyle/>
                    <a:p>
                      <a:pPr>
                        <a:defRPr sz="1800"/>
                      </a:pPr>
                      <a:r>
                        <a:rPr sz="900"/>
                        <a:t>Very limited writing style; fails to engage the reader.</a:t>
                      </a:r>
                    </a:p>
                  </a:txBody>
                  <a:tcPr marL="18000" marR="18000" marT="18000" marB="18000" anchor="t" anchorCtr="0" horzOverflow="overflow"/>
                </a:tc>
              </a:tr>
              <a:tr h="101600">
                <a:tc>
                  <a:txBody>
                    <a:bodyPr/>
                    <a:lstStyle/>
                    <a:p>
                      <a:pPr>
                        <a:defRPr sz="1800"/>
                      </a:pPr>
                      <a:r>
                        <a:rPr sz="900"/>
                        <a:t>1</a:t>
                      </a:r>
                    </a:p>
                  </a:txBody>
                  <a:tcPr marL="18000" marR="18000" marT="18000" marB="18000" anchor="t" anchorCtr="0" horzOverflow="overflow"/>
                </a:tc>
                <a:tc>
                  <a:txBody>
                    <a:bodyPr/>
                    <a:lstStyle/>
                    <a:p>
                      <a:pPr>
                        <a:defRPr sz="1800"/>
                      </a:pPr>
                      <a:r>
                        <a:rPr sz="900"/>
                        <a:t>No attempt to engage the reader; writing style is inappropriate for academic writing.</a:t>
                      </a:r>
                    </a:p>
                  </a:txBody>
                  <a:tcPr marL="18000" marR="18000" marT="18000" marB="18000" anchor="t" anchorCtr="0" horzOverflow="overflow"/>
                </a:tc>
              </a:tr>
            </a:tbl>
          </a:graphicData>
        </a:graphic>
      </p:graphicFrame>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77" name="Google Shape;402;p58"/>
          <p:cNvSpPr txBox="1"/>
          <p:nvPr>
            <p:ph type="title"/>
          </p:nvPr>
        </p:nvSpPr>
        <p:spPr>
          <a:xfrm>
            <a:off x="384175" y="201612"/>
            <a:ext cx="11484000" cy="543001"/>
          </a:xfrm>
          <a:prstGeom prst="rect">
            <a:avLst/>
          </a:prstGeom>
        </p:spPr>
        <p:txBody>
          <a:bodyPr/>
          <a:lstStyle/>
          <a:p>
            <a:pPr/>
            <a:r>
              <a:t>Evaluation</a:t>
            </a:r>
          </a:p>
        </p:txBody>
      </p:sp>
      <p:sp>
        <p:nvSpPr>
          <p:cNvPr id="678" name="Google Shape;403;p58"/>
          <p:cNvSpPr txBox="1"/>
          <p:nvPr/>
        </p:nvSpPr>
        <p:spPr>
          <a:xfrm>
            <a:off x="7036962" y="1152012"/>
            <a:ext cx="32967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10:</a:t>
            </a:r>
            <a:r>
              <a:rPr>
                <a:solidFill>
                  <a:srgbClr val="000000"/>
                </a:solidFill>
              </a:rPr>
              <a:t> Summary of submissions.</a:t>
            </a:r>
          </a:p>
        </p:txBody>
      </p:sp>
      <p:sp>
        <p:nvSpPr>
          <p:cNvPr id="679" name="Google Shape;404;p58"/>
          <p:cNvSpPr txBox="1"/>
          <p:nvPr>
            <p:ph type="body" sz="quarter" idx="1"/>
          </p:nvPr>
        </p:nvSpPr>
        <p:spPr>
          <a:xfrm>
            <a:off x="5933399" y="5467272"/>
            <a:ext cx="3564001" cy="367201"/>
          </a:xfrm>
          <a:prstGeom prst="rect">
            <a:avLst/>
          </a:prstGeom>
        </p:spPr>
        <p:txBody>
          <a:bodyPr/>
          <a:lstStyle>
            <a:lvl1pPr marL="215900" indent="-215900">
              <a:lnSpc>
                <a:spcPct val="150000"/>
              </a:lnSpc>
              <a:buChar char="➔"/>
            </a:lvl1pPr>
          </a:lstStyle>
          <a:p>
            <a:pPr/>
            <a:r>
              <a:t>High engagement variability</a:t>
            </a:r>
          </a:p>
        </p:txBody>
      </p:sp>
      <p:graphicFrame>
        <p:nvGraphicFramePr>
          <p:cNvPr id="680" name="Google Shape;405;p58"/>
          <p:cNvGraphicFramePr/>
          <p:nvPr/>
        </p:nvGraphicFramePr>
        <p:xfrm>
          <a:off x="6474762" y="1519212"/>
          <a:ext cx="4775851" cy="8035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16250"/>
                <a:gridCol w="775700"/>
                <a:gridCol w="795975"/>
                <a:gridCol w="795975"/>
                <a:gridCol w="795975"/>
                <a:gridCol w="795975"/>
              </a:tblGrid>
              <a:tr h="267850">
                <a:tc>
                  <a:txBody>
                    <a:bodyPr/>
                    <a:lstStyle/>
                    <a:p>
                      <a:pPr>
                        <a:defRPr sz="1800"/>
                      </a:pPr>
                      <a:r>
                        <a:rPr b="1" sz="1400"/>
                        <a:t>Period</a:t>
                      </a:r>
                    </a:p>
                  </a:txBody>
                  <a:tcPr marL="54000" marR="54000" marT="54000" marB="54000" anchor="ctr" anchorCtr="0" horzOverflow="overflow"/>
                </a:tc>
                <a:tc>
                  <a:txBody>
                    <a:bodyPr/>
                    <a:lstStyle/>
                    <a:p>
                      <a:pPr>
                        <a:defRPr sz="1800"/>
                      </a:pPr>
                      <a:r>
                        <a:rPr b="1" sz="1400"/>
                        <a:t>Mean</a:t>
                      </a:r>
                    </a:p>
                  </a:txBody>
                  <a:tcPr marL="54000" marR="54000" marT="54000" marB="54000" anchor="ctr" anchorCtr="0" horzOverflow="overflow"/>
                </a:tc>
                <a:tc>
                  <a:txBody>
                    <a:bodyPr/>
                    <a:lstStyle/>
                    <a:p>
                      <a:pPr>
                        <a:defRPr sz="1800"/>
                      </a:pPr>
                      <a:r>
                        <a:rPr b="1" sz="1400"/>
                        <a:t>Median</a:t>
                      </a:r>
                    </a:p>
                  </a:txBody>
                  <a:tcPr marL="54000" marR="54000" marT="54000" marB="54000" anchor="ctr" anchorCtr="0" horzOverflow="overflow"/>
                </a:tc>
                <a:tc>
                  <a:txBody>
                    <a:bodyPr/>
                    <a:lstStyle/>
                    <a:p>
                      <a:pPr>
                        <a:defRPr sz="1800"/>
                      </a:pPr>
                      <a:r>
                        <a:rPr b="1" sz="1400"/>
                        <a:t>Min.</a:t>
                      </a:r>
                    </a:p>
                  </a:txBody>
                  <a:tcPr marL="54000" marR="54000" marT="54000" marB="54000" anchor="ctr" anchorCtr="0" horzOverflow="overflow"/>
                </a:tc>
                <a:tc>
                  <a:txBody>
                    <a:bodyPr/>
                    <a:lstStyle/>
                    <a:p>
                      <a:pPr>
                        <a:defRPr sz="1800"/>
                      </a:pPr>
                      <a:r>
                        <a:rPr b="1" sz="1400"/>
                        <a:t>Max.</a:t>
                      </a:r>
                    </a:p>
                  </a:txBody>
                  <a:tcPr marL="54000" marR="54000" marT="54000" marB="54000" anchor="ctr" anchorCtr="0" horzOverflow="overflow"/>
                </a:tc>
                <a:tc>
                  <a:txBody>
                    <a:bodyPr/>
                    <a:lstStyle/>
                    <a:p>
                      <a:pPr>
                        <a:defRPr sz="1800"/>
                      </a:pPr>
                      <a:r>
                        <a:rPr b="1" sz="1400"/>
                        <a:t>Std.</a:t>
                      </a:r>
                    </a:p>
                  </a:txBody>
                  <a:tcPr marL="54000" marR="54000" marT="54000" marB="54000" anchor="ctr" anchorCtr="0" horzOverflow="overflow"/>
                </a:tc>
              </a:tr>
              <a:tr h="267850">
                <a:tc>
                  <a:txBody>
                    <a:bodyPr/>
                    <a:lstStyle/>
                    <a:p>
                      <a:pPr>
                        <a:defRPr sz="1800"/>
                      </a:pPr>
                      <a:r>
                        <a:rPr sz="1400"/>
                        <a:t>Weekly</a:t>
                      </a:r>
                    </a:p>
                  </a:txBody>
                  <a:tcPr marL="54000" marR="54000" marT="54000" marB="54000" anchor="ctr" anchorCtr="0" horzOverflow="overflow"/>
                </a:tc>
                <a:tc>
                  <a:txBody>
                    <a:bodyPr/>
                    <a:lstStyle/>
                    <a:p>
                      <a:pPr>
                        <a:defRPr sz="1800"/>
                      </a:pPr>
                      <a:r>
                        <a:rPr sz="1400"/>
                        <a:t>14.69</a:t>
                      </a:r>
                    </a:p>
                  </a:txBody>
                  <a:tcPr marL="54000" marR="54000" marT="54000" marB="54000" anchor="ctr" anchorCtr="0" horzOverflow="overflow"/>
                </a:tc>
                <a:tc>
                  <a:txBody>
                    <a:bodyPr/>
                    <a:lstStyle/>
                    <a:p>
                      <a:pPr>
                        <a:defRPr sz="1800"/>
                      </a:pPr>
                      <a:r>
                        <a:rPr sz="1400"/>
                        <a:t>15.75</a:t>
                      </a:r>
                    </a:p>
                  </a:txBody>
                  <a:tcPr marL="54000" marR="54000" marT="54000" marB="54000" anchor="ctr" anchorCtr="0" horzOverflow="overflow"/>
                </a:tc>
                <a:tc>
                  <a:txBody>
                    <a:bodyPr/>
                    <a:lstStyle/>
                    <a:p>
                      <a:pPr>
                        <a:defRPr sz="1800"/>
                      </a:pPr>
                      <a:r>
                        <a:rPr sz="1400"/>
                        <a:t>3.50</a:t>
                      </a:r>
                    </a:p>
                  </a:txBody>
                  <a:tcPr marL="54000" marR="54000" marT="54000" marB="54000" anchor="ctr" anchorCtr="0" horzOverflow="overflow"/>
                </a:tc>
                <a:tc>
                  <a:txBody>
                    <a:bodyPr/>
                    <a:lstStyle/>
                    <a:p>
                      <a:pPr>
                        <a:defRPr sz="1800"/>
                      </a:pPr>
                      <a:r>
                        <a:rPr sz="1400"/>
                        <a:t>39.12</a:t>
                      </a:r>
                    </a:p>
                  </a:txBody>
                  <a:tcPr marL="54000" marR="54000" marT="54000" marB="54000" anchor="ctr" anchorCtr="0" horzOverflow="overflow"/>
                </a:tc>
                <a:tc>
                  <a:txBody>
                    <a:bodyPr/>
                    <a:lstStyle/>
                    <a:p>
                      <a:pPr>
                        <a:defRPr sz="1800"/>
                      </a:pPr>
                      <a:r>
                        <a:rPr sz="1400"/>
                        <a:t>7.89</a:t>
                      </a:r>
                    </a:p>
                  </a:txBody>
                  <a:tcPr marL="54000" marR="54000" marT="54000" marB="54000" anchor="ctr" anchorCtr="0" horzOverflow="overflow"/>
                </a:tc>
              </a:tr>
              <a:tr h="267850">
                <a:tc>
                  <a:txBody>
                    <a:bodyPr/>
                    <a:lstStyle/>
                    <a:p>
                      <a:pPr>
                        <a:defRPr sz="1800"/>
                      </a:pPr>
                      <a:r>
                        <a:rPr sz="1400"/>
                        <a:t>Overall</a:t>
                      </a:r>
                    </a:p>
                  </a:txBody>
                  <a:tcPr marL="54000" marR="54000" marT="54000" marB="54000" anchor="ctr" anchorCtr="0" horzOverflow="overflow"/>
                </a:tc>
                <a:tc>
                  <a:txBody>
                    <a:bodyPr/>
                    <a:lstStyle/>
                    <a:p>
                      <a:pPr>
                        <a:defRPr sz="1800"/>
                      </a:pPr>
                      <a:r>
                        <a:rPr sz="1400"/>
                        <a:t>23.32</a:t>
                      </a:r>
                    </a:p>
                  </a:txBody>
                  <a:tcPr marL="54000" marR="54000" marT="54000" marB="54000" anchor="ctr" anchorCtr="0" horzOverflow="overflow"/>
                </a:tc>
                <a:tc>
                  <a:txBody>
                    <a:bodyPr/>
                    <a:lstStyle/>
                    <a:p>
                      <a:pPr>
                        <a:defRPr sz="1800"/>
                      </a:pPr>
                      <a:r>
                        <a:rPr sz="1400"/>
                        <a:t>16.0</a:t>
                      </a:r>
                    </a:p>
                  </a:txBody>
                  <a:tcPr marL="54000" marR="54000" marT="54000" marB="54000" anchor="ctr" anchorCtr="0" horzOverflow="overflow"/>
                </a:tc>
                <a:tc>
                  <a:txBody>
                    <a:bodyPr/>
                    <a:lstStyle/>
                    <a:p>
                      <a:pPr>
                        <a:defRPr sz="1800"/>
                      </a:pPr>
                      <a:r>
                        <a:rPr sz="1400"/>
                        <a:t>7.0</a:t>
                      </a:r>
                    </a:p>
                  </a:txBody>
                  <a:tcPr marL="54000" marR="54000" marT="54000" marB="54000" anchor="ctr" anchorCtr="0" horzOverflow="overflow"/>
                </a:tc>
                <a:tc>
                  <a:txBody>
                    <a:bodyPr/>
                    <a:lstStyle/>
                    <a:p>
                      <a:pPr>
                        <a:defRPr sz="1800"/>
                      </a:pPr>
                      <a:r>
                        <a:rPr sz="1400"/>
                        <a:t>95.0</a:t>
                      </a:r>
                    </a:p>
                  </a:txBody>
                  <a:tcPr marL="54000" marR="54000" marT="54000" marB="54000" anchor="ctr" anchorCtr="0" horzOverflow="overflow"/>
                </a:tc>
                <a:tc>
                  <a:txBody>
                    <a:bodyPr/>
                    <a:lstStyle/>
                    <a:p>
                      <a:pPr>
                        <a:defRPr sz="1800"/>
                      </a:pPr>
                      <a:r>
                        <a:rPr sz="1400"/>
                        <a:t>20.26</a:t>
                      </a:r>
                    </a:p>
                  </a:txBody>
                  <a:tcPr marL="54000" marR="54000" marT="54000" marB="54000" anchor="ctr" anchorCtr="0" horzOverflow="overflow"/>
                </a:tc>
              </a:tr>
            </a:tbl>
          </a:graphicData>
        </a:graphic>
      </p:graphicFrame>
      <p:sp>
        <p:nvSpPr>
          <p:cNvPr id="681" name="Google Shape;406;p58"/>
          <p:cNvSpPr txBox="1"/>
          <p:nvPr/>
        </p:nvSpPr>
        <p:spPr>
          <a:xfrm>
            <a:off x="7020082" y="2657649"/>
            <a:ext cx="3685200"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11:</a:t>
            </a:r>
            <a:r>
              <a:rPr>
                <a:solidFill>
                  <a:srgbClr val="000000"/>
                </a:solidFill>
              </a:rPr>
              <a:t> Summary of gamification data.</a:t>
            </a:r>
          </a:p>
        </p:txBody>
      </p:sp>
      <p:graphicFrame>
        <p:nvGraphicFramePr>
          <p:cNvPr id="682" name="Google Shape;407;p58"/>
          <p:cNvGraphicFramePr/>
          <p:nvPr/>
        </p:nvGraphicFramePr>
        <p:xfrm>
          <a:off x="5857187" y="3024850"/>
          <a:ext cx="6010976" cy="2286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853000"/>
                <a:gridCol w="1001850"/>
                <a:gridCol w="1072725"/>
                <a:gridCol w="687725"/>
                <a:gridCol w="647175"/>
                <a:gridCol w="748500"/>
              </a:tblGrid>
              <a:tr h="381000">
                <a:tc>
                  <a:txBody>
                    <a:bodyPr/>
                    <a:lstStyle/>
                    <a:p>
                      <a:pPr>
                        <a:defRPr sz="1800"/>
                      </a:pPr>
                      <a:r>
                        <a:rPr b="1" sz="1400"/>
                        <a:t>Gamification Metric</a:t>
                      </a:r>
                    </a:p>
                  </a:txBody>
                  <a:tcPr marL="54000" marR="54000" marT="54000" marB="54000" anchor="ctr" anchorCtr="0" horzOverflow="overflow"/>
                </a:tc>
                <a:tc>
                  <a:txBody>
                    <a:bodyPr/>
                    <a:lstStyle/>
                    <a:p>
                      <a:pPr>
                        <a:defRPr sz="1800"/>
                      </a:pPr>
                      <a:r>
                        <a:rPr b="1" sz="1400"/>
                        <a:t>Mean</a:t>
                      </a:r>
                    </a:p>
                  </a:txBody>
                  <a:tcPr marL="54000" marR="54000" marT="54000" marB="54000" anchor="ctr" anchorCtr="0" horzOverflow="overflow"/>
                </a:tc>
                <a:tc>
                  <a:txBody>
                    <a:bodyPr/>
                    <a:lstStyle/>
                    <a:p>
                      <a:pPr>
                        <a:defRPr sz="1800"/>
                      </a:pPr>
                      <a:r>
                        <a:rPr b="1" sz="1400"/>
                        <a:t>Median</a:t>
                      </a:r>
                    </a:p>
                  </a:txBody>
                  <a:tcPr marL="54000" marR="54000" marT="54000" marB="54000" anchor="ctr" anchorCtr="0" horzOverflow="overflow"/>
                </a:tc>
                <a:tc>
                  <a:txBody>
                    <a:bodyPr/>
                    <a:lstStyle/>
                    <a:p>
                      <a:pPr>
                        <a:defRPr sz="1800"/>
                      </a:pPr>
                      <a:r>
                        <a:rPr b="1" sz="1400"/>
                        <a:t>Min.</a:t>
                      </a:r>
                    </a:p>
                  </a:txBody>
                  <a:tcPr marL="54000" marR="54000" marT="54000" marB="54000" anchor="ctr" anchorCtr="0" horzOverflow="overflow"/>
                </a:tc>
                <a:tc>
                  <a:txBody>
                    <a:bodyPr/>
                    <a:lstStyle/>
                    <a:p>
                      <a:pPr>
                        <a:defRPr sz="1800"/>
                      </a:pPr>
                      <a:r>
                        <a:rPr b="1" sz="1400"/>
                        <a:t>Max.</a:t>
                      </a:r>
                    </a:p>
                  </a:txBody>
                  <a:tcPr marL="54000" marR="54000" marT="54000" marB="54000" anchor="ctr" anchorCtr="0" horzOverflow="overflow"/>
                </a:tc>
                <a:tc>
                  <a:txBody>
                    <a:bodyPr/>
                    <a:lstStyle/>
                    <a:p>
                      <a:pPr>
                        <a:defRPr sz="1800"/>
                      </a:pPr>
                      <a:r>
                        <a:rPr b="1" sz="1400"/>
                        <a:t>Std.</a:t>
                      </a:r>
                    </a:p>
                  </a:txBody>
                  <a:tcPr marL="54000" marR="54000" marT="54000" marB="54000" anchor="ctr" anchorCtr="0" horzOverflow="overflow"/>
                </a:tc>
              </a:tr>
              <a:tr h="381000">
                <a:tc>
                  <a:txBody>
                    <a:bodyPr/>
                    <a:lstStyle/>
                    <a:p>
                      <a:pPr>
                        <a:defRPr sz="1800"/>
                      </a:pPr>
                      <a:r>
                        <a:rPr sz="1400"/>
                        <a:t>XP</a:t>
                      </a:r>
                    </a:p>
                  </a:txBody>
                  <a:tcPr marL="54000" marR="54000" marT="54000" marB="54000" anchor="ctr" anchorCtr="0" horzOverflow="overflow"/>
                </a:tc>
                <a:tc>
                  <a:txBody>
                    <a:bodyPr/>
                    <a:lstStyle/>
                    <a:p>
                      <a:pPr>
                        <a:defRPr sz="1800"/>
                      </a:pPr>
                      <a:r>
                        <a:rPr sz="1400"/>
                        <a:t>458.42</a:t>
                      </a:r>
                    </a:p>
                  </a:txBody>
                  <a:tcPr marL="54000" marR="54000" marT="54000" marB="54000" anchor="ctr" anchorCtr="0" horzOverflow="overflow"/>
                </a:tc>
                <a:tc>
                  <a:txBody>
                    <a:bodyPr/>
                    <a:lstStyle/>
                    <a:p>
                      <a:pPr>
                        <a:defRPr sz="1800"/>
                      </a:pPr>
                      <a:r>
                        <a:rPr sz="1400"/>
                        <a:t>360.00</a:t>
                      </a:r>
                    </a:p>
                  </a:txBody>
                  <a:tcPr marL="54000" marR="54000" marT="54000" marB="54000" anchor="ctr" anchorCtr="0" horzOverflow="overflow"/>
                </a:tc>
                <a:tc>
                  <a:txBody>
                    <a:bodyPr/>
                    <a:lstStyle/>
                    <a:p>
                      <a:pPr>
                        <a:defRPr sz="1800"/>
                      </a:pPr>
                      <a:r>
                        <a:rPr sz="1400"/>
                        <a:t>0</a:t>
                      </a:r>
                    </a:p>
                  </a:txBody>
                  <a:tcPr marL="54000" marR="54000" marT="54000" marB="54000" anchor="ctr" anchorCtr="0" horzOverflow="overflow"/>
                </a:tc>
                <a:tc>
                  <a:txBody>
                    <a:bodyPr/>
                    <a:lstStyle/>
                    <a:p>
                      <a:pPr>
                        <a:defRPr sz="1800"/>
                      </a:pPr>
                      <a:r>
                        <a:rPr sz="1400"/>
                        <a:t>2450</a:t>
                      </a:r>
                    </a:p>
                  </a:txBody>
                  <a:tcPr marL="54000" marR="54000" marT="54000" marB="54000" anchor="ctr" anchorCtr="0" horzOverflow="overflow"/>
                </a:tc>
                <a:tc>
                  <a:txBody>
                    <a:bodyPr/>
                    <a:lstStyle/>
                    <a:p>
                      <a:pPr>
                        <a:defRPr sz="1800"/>
                      </a:pPr>
                      <a:r>
                        <a:rPr sz="1400"/>
                        <a:t>556.59</a:t>
                      </a:r>
                    </a:p>
                  </a:txBody>
                  <a:tcPr marL="54000" marR="54000" marT="54000" marB="54000" anchor="ctr" anchorCtr="0" horzOverflow="overflow"/>
                </a:tc>
              </a:tr>
              <a:tr h="381000">
                <a:tc>
                  <a:txBody>
                    <a:bodyPr/>
                    <a:lstStyle/>
                    <a:p>
                      <a:pPr>
                        <a:defRPr sz="1800"/>
                      </a:pPr>
                      <a:r>
                        <a:rPr sz="1400"/>
                        <a:t>Level</a:t>
                      </a:r>
                    </a:p>
                  </a:txBody>
                  <a:tcPr marL="54000" marR="54000" marT="54000" marB="54000" anchor="ctr" anchorCtr="0" horzOverflow="overflow"/>
                </a:tc>
                <a:tc>
                  <a:txBody>
                    <a:bodyPr/>
                    <a:lstStyle/>
                    <a:p>
                      <a:pPr>
                        <a:defRPr sz="1800"/>
                      </a:pPr>
                      <a:r>
                        <a:rPr sz="1400"/>
                        <a:t>1.84</a:t>
                      </a:r>
                    </a:p>
                  </a:txBody>
                  <a:tcPr marL="54000" marR="54000" marT="54000" marB="54000" anchor="ctr" anchorCtr="0" horzOverflow="overflow"/>
                </a:tc>
                <a:tc>
                  <a:txBody>
                    <a:bodyPr/>
                    <a:lstStyle/>
                    <a:p>
                      <a:pPr>
                        <a:defRPr sz="1800"/>
                      </a:pPr>
                      <a:r>
                        <a:rPr sz="1400"/>
                        <a:t>2.00</a:t>
                      </a:r>
                    </a:p>
                  </a:txBody>
                  <a:tcPr marL="54000" marR="54000" marT="54000" marB="54000" anchor="ctr" anchorCtr="0" horzOverflow="overflow"/>
                </a:tc>
                <a:tc>
                  <a:txBody>
                    <a:bodyPr/>
                    <a:lstStyle/>
                    <a:p>
                      <a:pPr>
                        <a:defRPr sz="1800"/>
                      </a:pPr>
                      <a:r>
                        <a:rPr sz="1400"/>
                        <a:t>0</a:t>
                      </a:r>
                    </a:p>
                  </a:txBody>
                  <a:tcPr marL="54000" marR="54000" marT="54000" marB="54000" anchor="ctr" anchorCtr="0" horzOverflow="overflow"/>
                </a:tc>
                <a:tc>
                  <a:txBody>
                    <a:bodyPr/>
                    <a:lstStyle/>
                    <a:p>
                      <a:pPr>
                        <a:defRPr sz="1800"/>
                      </a:pPr>
                      <a:r>
                        <a:rPr sz="1400"/>
                        <a:t>6</a:t>
                      </a:r>
                    </a:p>
                  </a:txBody>
                  <a:tcPr marL="54000" marR="54000" marT="54000" marB="54000" anchor="ctr" anchorCtr="0" horzOverflow="overflow"/>
                </a:tc>
                <a:tc>
                  <a:txBody>
                    <a:bodyPr/>
                    <a:lstStyle/>
                    <a:p>
                      <a:pPr>
                        <a:defRPr sz="1800"/>
                      </a:pPr>
                      <a:r>
                        <a:rPr sz="1400"/>
                        <a:t>1.35</a:t>
                      </a:r>
                    </a:p>
                  </a:txBody>
                  <a:tcPr marL="54000" marR="54000" marT="54000" marB="54000" anchor="ctr" anchorCtr="0" horzOverflow="overflow"/>
                </a:tc>
              </a:tr>
              <a:tr h="381000">
                <a:tc>
                  <a:txBody>
                    <a:bodyPr/>
                    <a:lstStyle/>
                    <a:p>
                      <a:pPr>
                        <a:defRPr sz="1800"/>
                      </a:pPr>
                      <a:r>
                        <a:rPr sz="1400"/>
                        <a:t>Daily Streaks</a:t>
                      </a:r>
                    </a:p>
                  </a:txBody>
                  <a:tcPr marL="54000" marR="54000" marT="54000" marB="54000" anchor="ctr" anchorCtr="0" horzOverflow="overflow"/>
                </a:tc>
                <a:tc>
                  <a:txBody>
                    <a:bodyPr/>
                    <a:lstStyle/>
                    <a:p>
                      <a:pPr>
                        <a:defRPr sz="1800"/>
                      </a:pPr>
                      <a:r>
                        <a:rPr sz="1400"/>
                        <a:t>3.37</a:t>
                      </a:r>
                    </a:p>
                  </a:txBody>
                  <a:tcPr marL="54000" marR="54000" marT="54000" marB="54000" anchor="ctr" anchorCtr="0" horzOverflow="overflow"/>
                </a:tc>
                <a:tc>
                  <a:txBody>
                    <a:bodyPr/>
                    <a:lstStyle/>
                    <a:p>
                      <a:pPr>
                        <a:defRPr sz="1800"/>
                      </a:pPr>
                      <a:r>
                        <a:rPr sz="1400"/>
                        <a:t>2.00</a:t>
                      </a:r>
                    </a:p>
                  </a:txBody>
                  <a:tcPr marL="54000" marR="54000" marT="54000" marB="54000" anchor="ctr" anchorCtr="0" horzOverflow="overflow"/>
                </a:tc>
                <a:tc>
                  <a:txBody>
                    <a:bodyPr/>
                    <a:lstStyle/>
                    <a:p>
                      <a:pPr>
                        <a:defRPr sz="1800"/>
                      </a:pPr>
                      <a:r>
                        <a:rPr sz="1400"/>
                        <a:t>1</a:t>
                      </a:r>
                    </a:p>
                  </a:txBody>
                  <a:tcPr marL="54000" marR="54000" marT="54000" marB="54000" anchor="ctr" anchorCtr="0" horzOverflow="overflow"/>
                </a:tc>
                <a:tc>
                  <a:txBody>
                    <a:bodyPr/>
                    <a:lstStyle/>
                    <a:p>
                      <a:pPr>
                        <a:defRPr sz="1800"/>
                      </a:pPr>
                      <a:r>
                        <a:rPr sz="1400"/>
                        <a:t>15</a:t>
                      </a:r>
                    </a:p>
                  </a:txBody>
                  <a:tcPr marL="54000" marR="54000" marT="54000" marB="54000" anchor="ctr" anchorCtr="0" horzOverflow="overflow"/>
                </a:tc>
                <a:tc>
                  <a:txBody>
                    <a:bodyPr/>
                    <a:lstStyle/>
                    <a:p>
                      <a:pPr>
                        <a:defRPr sz="1800"/>
                      </a:pPr>
                      <a:r>
                        <a:rPr sz="1400"/>
                        <a:t>3.50</a:t>
                      </a:r>
                    </a:p>
                  </a:txBody>
                  <a:tcPr marL="54000" marR="54000" marT="54000" marB="54000" anchor="ctr" anchorCtr="0" horzOverflow="overflow"/>
                </a:tc>
              </a:tr>
              <a:tr h="381000">
                <a:tc>
                  <a:txBody>
                    <a:bodyPr/>
                    <a:lstStyle/>
                    <a:p>
                      <a:pPr>
                        <a:defRPr sz="1800"/>
                      </a:pPr>
                      <a:r>
                        <a:rPr sz="1400"/>
                        <a:t>Weekly Streaks</a:t>
                      </a:r>
                    </a:p>
                  </a:txBody>
                  <a:tcPr marL="54000" marR="54000" marT="54000" marB="54000" anchor="ctr" anchorCtr="0" horzOverflow="overflow"/>
                </a:tc>
                <a:tc>
                  <a:txBody>
                    <a:bodyPr/>
                    <a:lstStyle/>
                    <a:p>
                      <a:pPr>
                        <a:defRPr sz="1800"/>
                      </a:pPr>
                      <a:r>
                        <a:rPr sz="1400"/>
                        <a:t>0.16</a:t>
                      </a:r>
                    </a:p>
                  </a:txBody>
                  <a:tcPr marL="54000" marR="54000" marT="54000" marB="54000" anchor="ctr" anchorCtr="0" horzOverflow="overflow"/>
                </a:tc>
                <a:tc>
                  <a:txBody>
                    <a:bodyPr/>
                    <a:lstStyle/>
                    <a:p>
                      <a:pPr>
                        <a:defRPr sz="1800"/>
                      </a:pPr>
                      <a:r>
                        <a:rPr sz="1400"/>
                        <a:t>0.00</a:t>
                      </a:r>
                    </a:p>
                  </a:txBody>
                  <a:tcPr marL="54000" marR="54000" marT="54000" marB="54000" anchor="ctr" anchorCtr="0" horzOverflow="overflow"/>
                </a:tc>
                <a:tc>
                  <a:txBody>
                    <a:bodyPr/>
                    <a:lstStyle/>
                    <a:p>
                      <a:pPr>
                        <a:defRPr sz="1800"/>
                      </a:pPr>
                      <a:r>
                        <a:rPr sz="1400"/>
                        <a:t>0</a:t>
                      </a:r>
                    </a:p>
                  </a:txBody>
                  <a:tcPr marL="54000" marR="54000" marT="54000" marB="54000" anchor="ctr" anchorCtr="0" horzOverflow="overflow"/>
                </a:tc>
                <a:tc>
                  <a:txBody>
                    <a:bodyPr/>
                    <a:lstStyle/>
                    <a:p>
                      <a:pPr>
                        <a:defRPr sz="1800"/>
                      </a:pPr>
                      <a:r>
                        <a:rPr sz="1400"/>
                        <a:t>2</a:t>
                      </a:r>
                    </a:p>
                  </a:txBody>
                  <a:tcPr marL="54000" marR="54000" marT="54000" marB="54000" anchor="ctr" anchorCtr="0" horzOverflow="overflow"/>
                </a:tc>
                <a:tc>
                  <a:txBody>
                    <a:bodyPr/>
                    <a:lstStyle/>
                    <a:p>
                      <a:pPr>
                        <a:defRPr sz="1800"/>
                      </a:pPr>
                      <a:r>
                        <a:rPr sz="1400"/>
                        <a:t>0.49</a:t>
                      </a:r>
                    </a:p>
                  </a:txBody>
                  <a:tcPr marL="54000" marR="54000" marT="54000" marB="54000" anchor="ctr" anchorCtr="0" horzOverflow="overflow"/>
                </a:tc>
              </a:tr>
              <a:tr h="381000">
                <a:tc>
                  <a:txBody>
                    <a:bodyPr/>
                    <a:lstStyle/>
                    <a:p>
                      <a:pPr>
                        <a:defRPr sz="1800"/>
                      </a:pPr>
                      <a:r>
                        <a:rPr sz="1400"/>
                        <a:t>Badges Count</a:t>
                      </a:r>
                    </a:p>
                  </a:txBody>
                  <a:tcPr marL="54000" marR="54000" marT="54000" marB="54000" anchor="ctr" anchorCtr="0" horzOverflow="overflow"/>
                </a:tc>
                <a:tc>
                  <a:txBody>
                    <a:bodyPr/>
                    <a:lstStyle/>
                    <a:p>
                      <a:pPr>
                        <a:defRPr sz="1800"/>
                      </a:pPr>
                      <a:r>
                        <a:rPr sz="1400"/>
                        <a:t>0.58</a:t>
                      </a:r>
                    </a:p>
                  </a:txBody>
                  <a:tcPr marL="54000" marR="54000" marT="54000" marB="54000" anchor="ctr" anchorCtr="0" horzOverflow="overflow"/>
                </a:tc>
                <a:tc>
                  <a:txBody>
                    <a:bodyPr/>
                    <a:lstStyle/>
                    <a:p>
                      <a:pPr>
                        <a:defRPr sz="1800"/>
                      </a:pPr>
                      <a:r>
                        <a:rPr sz="1400"/>
                        <a:t>1.00</a:t>
                      </a:r>
                    </a:p>
                  </a:txBody>
                  <a:tcPr marL="54000" marR="54000" marT="54000" marB="54000" anchor="ctr" anchorCtr="0" horzOverflow="overflow"/>
                </a:tc>
                <a:tc>
                  <a:txBody>
                    <a:bodyPr/>
                    <a:lstStyle/>
                    <a:p>
                      <a:pPr>
                        <a:defRPr sz="1800"/>
                      </a:pPr>
                      <a:r>
                        <a:rPr sz="1400"/>
                        <a:t>0</a:t>
                      </a:r>
                    </a:p>
                  </a:txBody>
                  <a:tcPr marL="54000" marR="54000" marT="54000" marB="54000" anchor="ctr" anchorCtr="0" horzOverflow="overflow"/>
                </a:tc>
                <a:tc>
                  <a:txBody>
                    <a:bodyPr/>
                    <a:lstStyle/>
                    <a:p>
                      <a:pPr>
                        <a:defRPr sz="1800"/>
                      </a:pPr>
                      <a:r>
                        <a:rPr sz="1400"/>
                        <a:t>2</a:t>
                      </a:r>
                    </a:p>
                  </a:txBody>
                  <a:tcPr marL="54000" marR="54000" marT="54000" marB="54000" anchor="ctr" anchorCtr="0" horzOverflow="overflow"/>
                </a:tc>
                <a:tc>
                  <a:txBody>
                    <a:bodyPr/>
                    <a:lstStyle/>
                    <a:p>
                      <a:pPr>
                        <a:defRPr sz="1800"/>
                      </a:pPr>
                      <a:r>
                        <a:rPr sz="1400"/>
                        <a:t>0.59</a:t>
                      </a:r>
                    </a:p>
                  </a:txBody>
                  <a:tcPr marL="54000" marR="54000" marT="54000" marB="54000" anchor="ctr" anchorCtr="0" horzOverflow="overflow"/>
                </a:tc>
              </a:tr>
            </a:tbl>
          </a:graphicData>
        </a:graphic>
      </p:graphicFrame>
      <p:sp>
        <p:nvSpPr>
          <p:cNvPr id="683" name="Google Shape;408;p58"/>
          <p:cNvSpPr txBox="1"/>
          <p:nvPr/>
        </p:nvSpPr>
        <p:spPr>
          <a:xfrm>
            <a:off x="384174" y="1679017"/>
            <a:ext cx="5145902" cy="27513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5900" indent="-215900">
              <a:lnSpc>
                <a:spcPct val="150000"/>
              </a:lnSpc>
              <a:buClr>
                <a:srgbClr val="00549F"/>
              </a:buClr>
              <a:buSzPts val="1800"/>
              <a:buFont typeface="Arial"/>
              <a:buChar char="•"/>
              <a:defRPr sz="1800"/>
            </a:pPr>
            <a:r>
              <a:t>19 participants</a:t>
            </a:r>
          </a:p>
          <a:p>
            <a:pPr lvl="1" marL="431800" indent="-215900">
              <a:lnSpc>
                <a:spcPct val="150000"/>
              </a:lnSpc>
              <a:buClr>
                <a:srgbClr val="00549F"/>
              </a:buClr>
              <a:buSzPts val="1600"/>
              <a:buFont typeface="Helvetica"/>
              <a:buChar char="−"/>
              <a:defRPr sz="1600"/>
            </a:pPr>
            <a:r>
              <a:t>5 undergraduates, 9 Bachelor’s degree and 5 Master’s degree students</a:t>
            </a:r>
          </a:p>
          <a:p>
            <a:pPr marL="215900" indent="-215900">
              <a:lnSpc>
                <a:spcPct val="150000"/>
              </a:lnSpc>
              <a:buClr>
                <a:srgbClr val="00549F"/>
              </a:buClr>
              <a:buSzPts val="1800"/>
              <a:buFont typeface="Arial"/>
              <a:buChar char="•"/>
              <a:defRPr sz="1800"/>
            </a:pPr>
            <a:r>
              <a:t>Duration: 3 weeks</a:t>
            </a:r>
          </a:p>
          <a:p>
            <a:pPr marL="215900" indent="-215900">
              <a:lnSpc>
                <a:spcPct val="150000"/>
              </a:lnSpc>
              <a:buClr>
                <a:srgbClr val="00549F"/>
              </a:buClr>
              <a:buSzPts val="1800"/>
              <a:buFont typeface="Arial"/>
              <a:buChar char="•"/>
              <a:defRPr sz="1800"/>
            </a:pPr>
            <a:r>
              <a:t>Pre- and post-tests</a:t>
            </a:r>
          </a:p>
          <a:p>
            <a:pPr lvl="1" marL="431800" indent="-215900">
              <a:lnSpc>
                <a:spcPct val="150000"/>
              </a:lnSpc>
              <a:buClr>
                <a:srgbClr val="00549F"/>
              </a:buClr>
              <a:buSzPts val="1600"/>
              <a:buFont typeface="Helvetica"/>
              <a:buChar char="−"/>
              <a:defRPr sz="1600"/>
            </a:pPr>
            <a:r>
              <a:t>Text of 300 words ± 10% and same topic</a:t>
            </a:r>
          </a:p>
          <a:p>
            <a:pPr marL="215900" indent="-215900">
              <a:lnSpc>
                <a:spcPct val="150000"/>
              </a:lnSpc>
              <a:buClr>
                <a:srgbClr val="00549F"/>
              </a:buClr>
              <a:buSzPts val="1800"/>
              <a:buFont typeface="Arial"/>
              <a:buChar char="•"/>
              <a:defRPr sz="1800"/>
            </a:pPr>
            <a:r>
              <a:t>System usability scale</a:t>
            </a:r>
          </a:p>
        </p:txBody>
      </p:sp>
      <p:sp>
        <p:nvSpPr>
          <p:cNvPr id="684" name="Google Shape;409;p58"/>
          <p:cNvSpPr txBox="1"/>
          <p:nvPr>
            <p:ph type="body" idx="21"/>
          </p:nvPr>
        </p:nvSpPr>
        <p:spPr>
          <a:xfrm>
            <a:off x="384000" y="1075800"/>
            <a:ext cx="11484000" cy="252001"/>
          </a:xfrm>
          <a:prstGeom prst="rect">
            <a:avLst/>
          </a:prstGeom>
          <a:extLst>
            <a:ext uri="{C572A759-6A51-4108-AA02-DFA0A04FC94B}">
              <ma14:wrappingTextBoxFlag xmlns:ma14="http://schemas.microsoft.com/office/mac/drawingml/2011/main" val="1"/>
            </a:ext>
          </a:extLst>
        </p:spPr>
        <p:txBody>
          <a:bodyPr/>
          <a:lstStyle>
            <a:lvl1pPr defTabSz="777240">
              <a:defRPr b="1" sz="1700"/>
            </a:lvl1pPr>
          </a:lstStyle>
          <a:p>
            <a:pPr/>
            <a:r>
              <a:t>Study Design and Submission/Gamification Data</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87" name="Google Shape;414;p59"/>
          <p:cNvSpPr txBox="1"/>
          <p:nvPr>
            <p:ph type="title"/>
          </p:nvPr>
        </p:nvSpPr>
        <p:spPr>
          <a:xfrm>
            <a:off x="384175" y="201612"/>
            <a:ext cx="11484000" cy="543001"/>
          </a:xfrm>
          <a:prstGeom prst="rect">
            <a:avLst/>
          </a:prstGeom>
        </p:spPr>
        <p:txBody>
          <a:bodyPr/>
          <a:lstStyle/>
          <a:p>
            <a:pPr/>
            <a:r>
              <a:t>Evaluation</a:t>
            </a:r>
          </a:p>
        </p:txBody>
      </p:sp>
      <p:sp>
        <p:nvSpPr>
          <p:cNvPr id="688" name="Google Shape;415;p59"/>
          <p:cNvSpPr txBox="1"/>
          <p:nvPr/>
        </p:nvSpPr>
        <p:spPr>
          <a:xfrm>
            <a:off x="7036962" y="1152012"/>
            <a:ext cx="32967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10:</a:t>
            </a:r>
            <a:r>
              <a:rPr>
                <a:solidFill>
                  <a:srgbClr val="000000"/>
                </a:solidFill>
              </a:rPr>
              <a:t> Summary of submissions.</a:t>
            </a:r>
          </a:p>
        </p:txBody>
      </p:sp>
      <p:sp>
        <p:nvSpPr>
          <p:cNvPr id="689" name="Google Shape;416;p59"/>
          <p:cNvSpPr txBox="1"/>
          <p:nvPr>
            <p:ph type="body" sz="quarter" idx="1"/>
          </p:nvPr>
        </p:nvSpPr>
        <p:spPr>
          <a:xfrm>
            <a:off x="5933399" y="5467272"/>
            <a:ext cx="3564001" cy="367201"/>
          </a:xfrm>
          <a:prstGeom prst="rect">
            <a:avLst/>
          </a:prstGeom>
        </p:spPr>
        <p:txBody>
          <a:bodyPr/>
          <a:lstStyle>
            <a:lvl1pPr marL="215900" indent="-215900">
              <a:lnSpc>
                <a:spcPct val="150000"/>
              </a:lnSpc>
              <a:buChar char="➔"/>
            </a:lvl1pPr>
          </a:lstStyle>
          <a:p>
            <a:pPr/>
            <a:r>
              <a:t>High engagement variability</a:t>
            </a:r>
          </a:p>
        </p:txBody>
      </p:sp>
      <p:graphicFrame>
        <p:nvGraphicFramePr>
          <p:cNvPr id="690" name="Google Shape;417;p59"/>
          <p:cNvGraphicFramePr/>
          <p:nvPr/>
        </p:nvGraphicFramePr>
        <p:xfrm>
          <a:off x="6474762" y="1519212"/>
          <a:ext cx="4775851" cy="8035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16250"/>
                <a:gridCol w="775700"/>
                <a:gridCol w="795975"/>
                <a:gridCol w="795975"/>
                <a:gridCol w="795975"/>
                <a:gridCol w="795975"/>
              </a:tblGrid>
              <a:tr h="267850">
                <a:tc>
                  <a:txBody>
                    <a:bodyPr/>
                    <a:lstStyle/>
                    <a:p>
                      <a:pPr>
                        <a:defRPr sz="1800"/>
                      </a:pPr>
                      <a:r>
                        <a:rPr b="1" sz="1400"/>
                        <a:t>Period</a:t>
                      </a:r>
                    </a:p>
                  </a:txBody>
                  <a:tcPr marL="54000" marR="54000" marT="54000" marB="54000" anchor="ctr" anchorCtr="0" horzOverflow="overflow"/>
                </a:tc>
                <a:tc>
                  <a:txBody>
                    <a:bodyPr/>
                    <a:lstStyle/>
                    <a:p>
                      <a:pPr>
                        <a:defRPr sz="1800"/>
                      </a:pPr>
                      <a:r>
                        <a:rPr b="1" sz="1400"/>
                        <a:t>Mean</a:t>
                      </a:r>
                    </a:p>
                  </a:txBody>
                  <a:tcPr marL="54000" marR="54000" marT="54000" marB="54000" anchor="ctr" anchorCtr="0" horzOverflow="overflow"/>
                </a:tc>
                <a:tc>
                  <a:txBody>
                    <a:bodyPr/>
                    <a:lstStyle/>
                    <a:p>
                      <a:pPr>
                        <a:defRPr sz="1800"/>
                      </a:pPr>
                      <a:r>
                        <a:rPr b="1" sz="1400"/>
                        <a:t>Median</a:t>
                      </a:r>
                    </a:p>
                  </a:txBody>
                  <a:tcPr marL="54000" marR="54000" marT="54000" marB="54000" anchor="ctr" anchorCtr="0" horzOverflow="overflow"/>
                </a:tc>
                <a:tc>
                  <a:txBody>
                    <a:bodyPr/>
                    <a:lstStyle/>
                    <a:p>
                      <a:pPr>
                        <a:defRPr sz="1800"/>
                      </a:pPr>
                      <a:r>
                        <a:rPr b="1" sz="1400"/>
                        <a:t>Min.</a:t>
                      </a:r>
                    </a:p>
                  </a:txBody>
                  <a:tcPr marL="54000" marR="54000" marT="54000" marB="54000" anchor="ctr" anchorCtr="0" horzOverflow="overflow"/>
                </a:tc>
                <a:tc>
                  <a:txBody>
                    <a:bodyPr/>
                    <a:lstStyle/>
                    <a:p>
                      <a:pPr>
                        <a:defRPr sz="1800"/>
                      </a:pPr>
                      <a:r>
                        <a:rPr b="1" sz="1400"/>
                        <a:t>Max.</a:t>
                      </a:r>
                    </a:p>
                  </a:txBody>
                  <a:tcPr marL="54000" marR="54000" marT="54000" marB="54000" anchor="ctr" anchorCtr="0" horzOverflow="overflow"/>
                </a:tc>
                <a:tc>
                  <a:txBody>
                    <a:bodyPr/>
                    <a:lstStyle/>
                    <a:p>
                      <a:pPr>
                        <a:defRPr sz="1800"/>
                      </a:pPr>
                      <a:r>
                        <a:rPr b="1" sz="1400"/>
                        <a:t>Std.</a:t>
                      </a:r>
                    </a:p>
                  </a:txBody>
                  <a:tcPr marL="54000" marR="54000" marT="54000" marB="54000" anchor="ctr" anchorCtr="0" horzOverflow="overflow"/>
                </a:tc>
              </a:tr>
              <a:tr h="267850">
                <a:tc>
                  <a:txBody>
                    <a:bodyPr/>
                    <a:lstStyle/>
                    <a:p>
                      <a:pPr>
                        <a:defRPr sz="1800"/>
                      </a:pPr>
                      <a:r>
                        <a:rPr sz="1400"/>
                        <a:t>Weekly</a:t>
                      </a:r>
                    </a:p>
                  </a:txBody>
                  <a:tcPr marL="54000" marR="54000" marT="54000" marB="54000" anchor="ctr" anchorCtr="0" horzOverflow="overflow"/>
                </a:tc>
                <a:tc>
                  <a:txBody>
                    <a:bodyPr/>
                    <a:lstStyle/>
                    <a:p>
                      <a:pPr>
                        <a:defRPr sz="1800"/>
                      </a:pPr>
                      <a:r>
                        <a:rPr sz="1400"/>
                        <a:t>14.69</a:t>
                      </a:r>
                    </a:p>
                  </a:txBody>
                  <a:tcPr marL="54000" marR="54000" marT="54000" marB="54000" anchor="ctr" anchorCtr="0" horzOverflow="overflow"/>
                </a:tc>
                <a:tc>
                  <a:txBody>
                    <a:bodyPr/>
                    <a:lstStyle/>
                    <a:p>
                      <a:pPr>
                        <a:defRPr sz="1800"/>
                      </a:pPr>
                      <a:r>
                        <a:rPr sz="1400"/>
                        <a:t>15.75</a:t>
                      </a:r>
                    </a:p>
                  </a:txBody>
                  <a:tcPr marL="54000" marR="54000" marT="54000" marB="54000" anchor="ctr" anchorCtr="0" horzOverflow="overflow"/>
                </a:tc>
                <a:tc>
                  <a:txBody>
                    <a:bodyPr/>
                    <a:lstStyle/>
                    <a:p>
                      <a:pPr>
                        <a:defRPr sz="1800"/>
                      </a:pPr>
                      <a:r>
                        <a:rPr sz="1400"/>
                        <a:t>3.50</a:t>
                      </a:r>
                    </a:p>
                  </a:txBody>
                  <a:tcPr marL="54000" marR="54000" marT="54000" marB="54000" anchor="ctr" anchorCtr="0" horzOverflow="overflow"/>
                </a:tc>
                <a:tc>
                  <a:txBody>
                    <a:bodyPr/>
                    <a:lstStyle/>
                    <a:p>
                      <a:pPr>
                        <a:defRPr sz="1800"/>
                      </a:pPr>
                      <a:r>
                        <a:rPr sz="1400"/>
                        <a:t>39.12</a:t>
                      </a:r>
                    </a:p>
                  </a:txBody>
                  <a:tcPr marL="54000" marR="54000" marT="54000" marB="54000" anchor="ctr" anchorCtr="0" horzOverflow="overflow"/>
                </a:tc>
                <a:tc>
                  <a:txBody>
                    <a:bodyPr/>
                    <a:lstStyle/>
                    <a:p>
                      <a:pPr>
                        <a:defRPr sz="1800"/>
                      </a:pPr>
                      <a:r>
                        <a:rPr sz="1400"/>
                        <a:t>7.89</a:t>
                      </a:r>
                    </a:p>
                  </a:txBody>
                  <a:tcPr marL="54000" marR="54000" marT="54000" marB="54000" anchor="ctr" anchorCtr="0" horzOverflow="overflow"/>
                </a:tc>
              </a:tr>
              <a:tr h="267850">
                <a:tc>
                  <a:txBody>
                    <a:bodyPr/>
                    <a:lstStyle/>
                    <a:p>
                      <a:pPr>
                        <a:defRPr sz="1800"/>
                      </a:pPr>
                      <a:r>
                        <a:rPr sz="1400"/>
                        <a:t>Overall</a:t>
                      </a:r>
                    </a:p>
                  </a:txBody>
                  <a:tcPr marL="54000" marR="54000" marT="54000" marB="54000" anchor="ctr" anchorCtr="0" horzOverflow="overflow"/>
                </a:tc>
                <a:tc>
                  <a:txBody>
                    <a:bodyPr/>
                    <a:lstStyle/>
                    <a:p>
                      <a:pPr>
                        <a:defRPr sz="1800"/>
                      </a:pPr>
                      <a:r>
                        <a:rPr sz="1400"/>
                        <a:t>23.32</a:t>
                      </a:r>
                    </a:p>
                  </a:txBody>
                  <a:tcPr marL="54000" marR="54000" marT="54000" marB="54000" anchor="ctr" anchorCtr="0" horzOverflow="overflow"/>
                </a:tc>
                <a:tc>
                  <a:txBody>
                    <a:bodyPr/>
                    <a:lstStyle/>
                    <a:p>
                      <a:pPr>
                        <a:defRPr sz="1800"/>
                      </a:pPr>
                      <a:r>
                        <a:rPr sz="1400"/>
                        <a:t>16.0</a:t>
                      </a:r>
                    </a:p>
                  </a:txBody>
                  <a:tcPr marL="54000" marR="54000" marT="54000" marB="54000" anchor="ctr" anchorCtr="0" horzOverflow="overflow"/>
                </a:tc>
                <a:tc>
                  <a:txBody>
                    <a:bodyPr/>
                    <a:lstStyle/>
                    <a:p>
                      <a:pPr>
                        <a:defRPr sz="1800"/>
                      </a:pPr>
                      <a:r>
                        <a:rPr sz="1400"/>
                        <a:t>7.0</a:t>
                      </a:r>
                    </a:p>
                  </a:txBody>
                  <a:tcPr marL="54000" marR="54000" marT="54000" marB="54000" anchor="ctr" anchorCtr="0" horzOverflow="overflow"/>
                </a:tc>
                <a:tc>
                  <a:txBody>
                    <a:bodyPr/>
                    <a:lstStyle/>
                    <a:p>
                      <a:pPr>
                        <a:defRPr sz="1800"/>
                      </a:pPr>
                      <a:r>
                        <a:rPr sz="1400"/>
                        <a:t>95.0</a:t>
                      </a:r>
                    </a:p>
                  </a:txBody>
                  <a:tcPr marL="54000" marR="54000" marT="54000" marB="54000" anchor="ctr" anchorCtr="0" horzOverflow="overflow"/>
                </a:tc>
                <a:tc>
                  <a:txBody>
                    <a:bodyPr/>
                    <a:lstStyle/>
                    <a:p>
                      <a:pPr>
                        <a:defRPr sz="1800"/>
                      </a:pPr>
                      <a:r>
                        <a:rPr sz="1400"/>
                        <a:t>20.26</a:t>
                      </a:r>
                    </a:p>
                  </a:txBody>
                  <a:tcPr marL="54000" marR="54000" marT="54000" marB="54000" anchor="ctr" anchorCtr="0" horzOverflow="overflow"/>
                </a:tc>
              </a:tr>
            </a:tbl>
          </a:graphicData>
        </a:graphic>
      </p:graphicFrame>
      <p:sp>
        <p:nvSpPr>
          <p:cNvPr id="691" name="Google Shape;418;p59"/>
          <p:cNvSpPr txBox="1"/>
          <p:nvPr/>
        </p:nvSpPr>
        <p:spPr>
          <a:xfrm>
            <a:off x="7020082" y="2657649"/>
            <a:ext cx="3685200"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11:</a:t>
            </a:r>
            <a:r>
              <a:rPr>
                <a:solidFill>
                  <a:srgbClr val="000000"/>
                </a:solidFill>
              </a:rPr>
              <a:t> Summary of gamification data.</a:t>
            </a:r>
          </a:p>
        </p:txBody>
      </p:sp>
      <p:graphicFrame>
        <p:nvGraphicFramePr>
          <p:cNvPr id="692" name="Google Shape;419;p59"/>
          <p:cNvGraphicFramePr/>
          <p:nvPr/>
        </p:nvGraphicFramePr>
        <p:xfrm>
          <a:off x="5857187" y="3024850"/>
          <a:ext cx="6010976" cy="2286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853000"/>
                <a:gridCol w="1001850"/>
                <a:gridCol w="1072725"/>
                <a:gridCol w="687725"/>
                <a:gridCol w="647175"/>
                <a:gridCol w="748500"/>
              </a:tblGrid>
              <a:tr h="381000">
                <a:tc>
                  <a:txBody>
                    <a:bodyPr/>
                    <a:lstStyle/>
                    <a:p>
                      <a:pPr>
                        <a:defRPr sz="1800"/>
                      </a:pPr>
                      <a:r>
                        <a:rPr b="1" sz="1400"/>
                        <a:t>Gamification Metric</a:t>
                      </a:r>
                    </a:p>
                  </a:txBody>
                  <a:tcPr marL="54000" marR="54000" marT="54000" marB="54000" anchor="ctr" anchorCtr="0" horzOverflow="overflow"/>
                </a:tc>
                <a:tc>
                  <a:txBody>
                    <a:bodyPr/>
                    <a:lstStyle/>
                    <a:p>
                      <a:pPr>
                        <a:defRPr sz="1800"/>
                      </a:pPr>
                      <a:r>
                        <a:rPr b="1" sz="1400"/>
                        <a:t>Mean</a:t>
                      </a:r>
                    </a:p>
                  </a:txBody>
                  <a:tcPr marL="54000" marR="54000" marT="54000" marB="54000" anchor="ctr" anchorCtr="0" horzOverflow="overflow"/>
                </a:tc>
                <a:tc>
                  <a:txBody>
                    <a:bodyPr/>
                    <a:lstStyle/>
                    <a:p>
                      <a:pPr>
                        <a:defRPr sz="1800"/>
                      </a:pPr>
                      <a:r>
                        <a:rPr b="1" sz="1400"/>
                        <a:t>Median</a:t>
                      </a:r>
                    </a:p>
                  </a:txBody>
                  <a:tcPr marL="54000" marR="54000" marT="54000" marB="54000" anchor="ctr" anchorCtr="0" horzOverflow="overflow"/>
                </a:tc>
                <a:tc>
                  <a:txBody>
                    <a:bodyPr/>
                    <a:lstStyle/>
                    <a:p>
                      <a:pPr>
                        <a:defRPr sz="1800"/>
                      </a:pPr>
                      <a:r>
                        <a:rPr b="1" sz="1400"/>
                        <a:t>Min.</a:t>
                      </a:r>
                    </a:p>
                  </a:txBody>
                  <a:tcPr marL="54000" marR="54000" marT="54000" marB="54000" anchor="ctr" anchorCtr="0" horzOverflow="overflow"/>
                </a:tc>
                <a:tc>
                  <a:txBody>
                    <a:bodyPr/>
                    <a:lstStyle/>
                    <a:p>
                      <a:pPr>
                        <a:defRPr sz="1800"/>
                      </a:pPr>
                      <a:r>
                        <a:rPr b="1" sz="1400"/>
                        <a:t>Max.</a:t>
                      </a:r>
                    </a:p>
                  </a:txBody>
                  <a:tcPr marL="54000" marR="54000" marT="54000" marB="54000" anchor="ctr" anchorCtr="0" horzOverflow="overflow"/>
                </a:tc>
                <a:tc>
                  <a:txBody>
                    <a:bodyPr/>
                    <a:lstStyle/>
                    <a:p>
                      <a:pPr>
                        <a:defRPr sz="1800"/>
                      </a:pPr>
                      <a:r>
                        <a:rPr b="1" sz="1400"/>
                        <a:t>Std.</a:t>
                      </a:r>
                    </a:p>
                  </a:txBody>
                  <a:tcPr marL="54000" marR="54000" marT="54000" marB="54000" anchor="ctr" anchorCtr="0" horzOverflow="overflow"/>
                </a:tc>
              </a:tr>
              <a:tr h="381000">
                <a:tc>
                  <a:txBody>
                    <a:bodyPr/>
                    <a:lstStyle/>
                    <a:p>
                      <a:pPr>
                        <a:defRPr sz="1800"/>
                      </a:pPr>
                      <a:r>
                        <a:rPr sz="1400"/>
                        <a:t>XP</a:t>
                      </a:r>
                    </a:p>
                  </a:txBody>
                  <a:tcPr marL="54000" marR="54000" marT="54000" marB="54000" anchor="ctr" anchorCtr="0" horzOverflow="overflow"/>
                </a:tc>
                <a:tc>
                  <a:txBody>
                    <a:bodyPr/>
                    <a:lstStyle/>
                    <a:p>
                      <a:pPr>
                        <a:defRPr sz="1800"/>
                      </a:pPr>
                      <a:r>
                        <a:rPr sz="1400"/>
                        <a:t>458.42</a:t>
                      </a:r>
                    </a:p>
                  </a:txBody>
                  <a:tcPr marL="54000" marR="54000" marT="54000" marB="54000" anchor="ctr" anchorCtr="0" horzOverflow="overflow"/>
                </a:tc>
                <a:tc>
                  <a:txBody>
                    <a:bodyPr/>
                    <a:lstStyle/>
                    <a:p>
                      <a:pPr>
                        <a:defRPr sz="1800"/>
                      </a:pPr>
                      <a:r>
                        <a:rPr sz="1400"/>
                        <a:t>360.00</a:t>
                      </a:r>
                    </a:p>
                  </a:txBody>
                  <a:tcPr marL="54000" marR="54000" marT="54000" marB="54000" anchor="ctr" anchorCtr="0" horzOverflow="overflow"/>
                </a:tc>
                <a:tc>
                  <a:txBody>
                    <a:bodyPr/>
                    <a:lstStyle/>
                    <a:p>
                      <a:pPr>
                        <a:defRPr sz="1800"/>
                      </a:pPr>
                      <a:r>
                        <a:rPr sz="1400"/>
                        <a:t>0</a:t>
                      </a:r>
                    </a:p>
                  </a:txBody>
                  <a:tcPr marL="54000" marR="54000" marT="54000" marB="54000" anchor="ctr" anchorCtr="0" horzOverflow="overflow"/>
                </a:tc>
                <a:tc>
                  <a:txBody>
                    <a:bodyPr/>
                    <a:lstStyle/>
                    <a:p>
                      <a:pPr>
                        <a:defRPr sz="1800"/>
                      </a:pPr>
                      <a:r>
                        <a:rPr sz="1400"/>
                        <a:t>2450</a:t>
                      </a:r>
                    </a:p>
                  </a:txBody>
                  <a:tcPr marL="54000" marR="54000" marT="54000" marB="54000" anchor="ctr" anchorCtr="0" horzOverflow="overflow"/>
                </a:tc>
                <a:tc>
                  <a:txBody>
                    <a:bodyPr/>
                    <a:lstStyle/>
                    <a:p>
                      <a:pPr>
                        <a:defRPr sz="1800"/>
                      </a:pPr>
                      <a:r>
                        <a:rPr sz="1400"/>
                        <a:t>556.59</a:t>
                      </a:r>
                    </a:p>
                  </a:txBody>
                  <a:tcPr marL="54000" marR="54000" marT="54000" marB="54000" anchor="ctr" anchorCtr="0" horzOverflow="overflow"/>
                </a:tc>
              </a:tr>
              <a:tr h="381000">
                <a:tc>
                  <a:txBody>
                    <a:bodyPr/>
                    <a:lstStyle/>
                    <a:p>
                      <a:pPr>
                        <a:defRPr sz="1800"/>
                      </a:pPr>
                      <a:r>
                        <a:rPr sz="1400"/>
                        <a:t>Level</a:t>
                      </a:r>
                    </a:p>
                  </a:txBody>
                  <a:tcPr marL="54000" marR="54000" marT="54000" marB="54000" anchor="ctr" anchorCtr="0" horzOverflow="overflow"/>
                </a:tc>
                <a:tc>
                  <a:txBody>
                    <a:bodyPr/>
                    <a:lstStyle/>
                    <a:p>
                      <a:pPr>
                        <a:defRPr sz="1800"/>
                      </a:pPr>
                      <a:r>
                        <a:rPr sz="1400"/>
                        <a:t>1.84</a:t>
                      </a:r>
                    </a:p>
                  </a:txBody>
                  <a:tcPr marL="54000" marR="54000" marT="54000" marB="54000" anchor="ctr" anchorCtr="0" horzOverflow="overflow"/>
                </a:tc>
                <a:tc>
                  <a:txBody>
                    <a:bodyPr/>
                    <a:lstStyle/>
                    <a:p>
                      <a:pPr>
                        <a:defRPr sz="1800"/>
                      </a:pPr>
                      <a:r>
                        <a:rPr sz="1400"/>
                        <a:t>2.00</a:t>
                      </a:r>
                    </a:p>
                  </a:txBody>
                  <a:tcPr marL="54000" marR="54000" marT="54000" marB="54000" anchor="ctr" anchorCtr="0" horzOverflow="overflow"/>
                </a:tc>
                <a:tc>
                  <a:txBody>
                    <a:bodyPr/>
                    <a:lstStyle/>
                    <a:p>
                      <a:pPr>
                        <a:defRPr sz="1800"/>
                      </a:pPr>
                      <a:r>
                        <a:rPr sz="1400"/>
                        <a:t>0</a:t>
                      </a:r>
                    </a:p>
                  </a:txBody>
                  <a:tcPr marL="54000" marR="54000" marT="54000" marB="54000" anchor="ctr" anchorCtr="0" horzOverflow="overflow"/>
                </a:tc>
                <a:tc>
                  <a:txBody>
                    <a:bodyPr/>
                    <a:lstStyle/>
                    <a:p>
                      <a:pPr>
                        <a:defRPr sz="1800"/>
                      </a:pPr>
                      <a:r>
                        <a:rPr sz="1400"/>
                        <a:t>6</a:t>
                      </a:r>
                    </a:p>
                  </a:txBody>
                  <a:tcPr marL="54000" marR="54000" marT="54000" marB="54000" anchor="ctr" anchorCtr="0" horzOverflow="overflow"/>
                </a:tc>
                <a:tc>
                  <a:txBody>
                    <a:bodyPr/>
                    <a:lstStyle/>
                    <a:p>
                      <a:pPr>
                        <a:defRPr sz="1800"/>
                      </a:pPr>
                      <a:r>
                        <a:rPr sz="1400"/>
                        <a:t>1.35</a:t>
                      </a:r>
                    </a:p>
                  </a:txBody>
                  <a:tcPr marL="54000" marR="54000" marT="54000" marB="54000" anchor="ctr" anchorCtr="0" horzOverflow="overflow"/>
                </a:tc>
              </a:tr>
              <a:tr h="381000">
                <a:tc>
                  <a:txBody>
                    <a:bodyPr/>
                    <a:lstStyle/>
                    <a:p>
                      <a:pPr>
                        <a:defRPr sz="1800"/>
                      </a:pPr>
                      <a:r>
                        <a:rPr sz="1400"/>
                        <a:t>Daily Streaks</a:t>
                      </a:r>
                    </a:p>
                  </a:txBody>
                  <a:tcPr marL="54000" marR="54000" marT="54000" marB="54000" anchor="ctr" anchorCtr="0" horzOverflow="overflow"/>
                </a:tc>
                <a:tc>
                  <a:txBody>
                    <a:bodyPr/>
                    <a:lstStyle/>
                    <a:p>
                      <a:pPr>
                        <a:defRPr sz="1800"/>
                      </a:pPr>
                      <a:r>
                        <a:rPr sz="1400"/>
                        <a:t>3.37</a:t>
                      </a:r>
                    </a:p>
                  </a:txBody>
                  <a:tcPr marL="54000" marR="54000" marT="54000" marB="54000" anchor="ctr" anchorCtr="0" horzOverflow="overflow"/>
                </a:tc>
                <a:tc>
                  <a:txBody>
                    <a:bodyPr/>
                    <a:lstStyle/>
                    <a:p>
                      <a:pPr>
                        <a:defRPr sz="1800"/>
                      </a:pPr>
                      <a:r>
                        <a:rPr sz="1400"/>
                        <a:t>2.00</a:t>
                      </a:r>
                    </a:p>
                  </a:txBody>
                  <a:tcPr marL="54000" marR="54000" marT="54000" marB="54000" anchor="ctr" anchorCtr="0" horzOverflow="overflow"/>
                </a:tc>
                <a:tc>
                  <a:txBody>
                    <a:bodyPr/>
                    <a:lstStyle/>
                    <a:p>
                      <a:pPr>
                        <a:defRPr sz="1800"/>
                      </a:pPr>
                      <a:r>
                        <a:rPr sz="1400"/>
                        <a:t>1</a:t>
                      </a:r>
                    </a:p>
                  </a:txBody>
                  <a:tcPr marL="54000" marR="54000" marT="54000" marB="54000" anchor="ctr" anchorCtr="0" horzOverflow="overflow"/>
                </a:tc>
                <a:tc>
                  <a:txBody>
                    <a:bodyPr/>
                    <a:lstStyle/>
                    <a:p>
                      <a:pPr>
                        <a:defRPr sz="1800"/>
                      </a:pPr>
                      <a:r>
                        <a:rPr sz="1400"/>
                        <a:t>15</a:t>
                      </a:r>
                    </a:p>
                  </a:txBody>
                  <a:tcPr marL="54000" marR="54000" marT="54000" marB="54000" anchor="ctr" anchorCtr="0" horzOverflow="overflow"/>
                </a:tc>
                <a:tc>
                  <a:txBody>
                    <a:bodyPr/>
                    <a:lstStyle/>
                    <a:p>
                      <a:pPr>
                        <a:defRPr sz="1800"/>
                      </a:pPr>
                      <a:r>
                        <a:rPr sz="1400"/>
                        <a:t>3.50</a:t>
                      </a:r>
                    </a:p>
                  </a:txBody>
                  <a:tcPr marL="54000" marR="54000" marT="54000" marB="54000" anchor="ctr" anchorCtr="0" horzOverflow="overflow"/>
                </a:tc>
              </a:tr>
              <a:tr h="381000">
                <a:tc>
                  <a:txBody>
                    <a:bodyPr/>
                    <a:lstStyle/>
                    <a:p>
                      <a:pPr>
                        <a:defRPr sz="1800"/>
                      </a:pPr>
                      <a:r>
                        <a:rPr sz="1400"/>
                        <a:t>Weekly Streaks</a:t>
                      </a:r>
                    </a:p>
                  </a:txBody>
                  <a:tcPr marL="54000" marR="54000" marT="54000" marB="54000" anchor="ctr" anchorCtr="0" horzOverflow="overflow"/>
                </a:tc>
                <a:tc>
                  <a:txBody>
                    <a:bodyPr/>
                    <a:lstStyle/>
                    <a:p>
                      <a:pPr>
                        <a:defRPr sz="1800"/>
                      </a:pPr>
                      <a:r>
                        <a:rPr sz="1400"/>
                        <a:t>0.16</a:t>
                      </a:r>
                    </a:p>
                  </a:txBody>
                  <a:tcPr marL="54000" marR="54000" marT="54000" marB="54000" anchor="ctr" anchorCtr="0" horzOverflow="overflow"/>
                </a:tc>
                <a:tc>
                  <a:txBody>
                    <a:bodyPr/>
                    <a:lstStyle/>
                    <a:p>
                      <a:pPr>
                        <a:defRPr sz="1800"/>
                      </a:pPr>
                      <a:r>
                        <a:rPr sz="1400"/>
                        <a:t>0.00</a:t>
                      </a:r>
                    </a:p>
                  </a:txBody>
                  <a:tcPr marL="54000" marR="54000" marT="54000" marB="54000" anchor="ctr" anchorCtr="0" horzOverflow="overflow"/>
                </a:tc>
                <a:tc>
                  <a:txBody>
                    <a:bodyPr/>
                    <a:lstStyle/>
                    <a:p>
                      <a:pPr>
                        <a:defRPr sz="1800"/>
                      </a:pPr>
                      <a:r>
                        <a:rPr sz="1400"/>
                        <a:t>0</a:t>
                      </a:r>
                    </a:p>
                  </a:txBody>
                  <a:tcPr marL="54000" marR="54000" marT="54000" marB="54000" anchor="ctr" anchorCtr="0" horzOverflow="overflow"/>
                </a:tc>
                <a:tc>
                  <a:txBody>
                    <a:bodyPr/>
                    <a:lstStyle/>
                    <a:p>
                      <a:pPr>
                        <a:defRPr sz="1800"/>
                      </a:pPr>
                      <a:r>
                        <a:rPr sz="1400"/>
                        <a:t>2</a:t>
                      </a:r>
                    </a:p>
                  </a:txBody>
                  <a:tcPr marL="54000" marR="54000" marT="54000" marB="54000" anchor="ctr" anchorCtr="0" horzOverflow="overflow"/>
                </a:tc>
                <a:tc>
                  <a:txBody>
                    <a:bodyPr/>
                    <a:lstStyle/>
                    <a:p>
                      <a:pPr>
                        <a:defRPr sz="1800"/>
                      </a:pPr>
                      <a:r>
                        <a:rPr sz="1400"/>
                        <a:t>0.49</a:t>
                      </a:r>
                    </a:p>
                  </a:txBody>
                  <a:tcPr marL="54000" marR="54000" marT="54000" marB="54000" anchor="ctr" anchorCtr="0" horzOverflow="overflow"/>
                </a:tc>
              </a:tr>
              <a:tr h="381000">
                <a:tc>
                  <a:txBody>
                    <a:bodyPr/>
                    <a:lstStyle/>
                    <a:p>
                      <a:pPr>
                        <a:defRPr sz="1800"/>
                      </a:pPr>
                      <a:r>
                        <a:rPr sz="1400"/>
                        <a:t>Badges Count</a:t>
                      </a:r>
                    </a:p>
                  </a:txBody>
                  <a:tcPr marL="54000" marR="54000" marT="54000" marB="54000" anchor="ctr" anchorCtr="0" horzOverflow="overflow"/>
                </a:tc>
                <a:tc>
                  <a:txBody>
                    <a:bodyPr/>
                    <a:lstStyle/>
                    <a:p>
                      <a:pPr>
                        <a:defRPr sz="1800"/>
                      </a:pPr>
                      <a:r>
                        <a:rPr sz="1400"/>
                        <a:t>0.58</a:t>
                      </a:r>
                    </a:p>
                  </a:txBody>
                  <a:tcPr marL="54000" marR="54000" marT="54000" marB="54000" anchor="ctr" anchorCtr="0" horzOverflow="overflow"/>
                </a:tc>
                <a:tc>
                  <a:txBody>
                    <a:bodyPr/>
                    <a:lstStyle/>
                    <a:p>
                      <a:pPr>
                        <a:defRPr sz="1800"/>
                      </a:pPr>
                      <a:r>
                        <a:rPr sz="1400"/>
                        <a:t>1.00</a:t>
                      </a:r>
                    </a:p>
                  </a:txBody>
                  <a:tcPr marL="54000" marR="54000" marT="54000" marB="54000" anchor="ctr" anchorCtr="0" horzOverflow="overflow"/>
                </a:tc>
                <a:tc>
                  <a:txBody>
                    <a:bodyPr/>
                    <a:lstStyle/>
                    <a:p>
                      <a:pPr>
                        <a:defRPr sz="1800"/>
                      </a:pPr>
                      <a:r>
                        <a:rPr sz="1400"/>
                        <a:t>0</a:t>
                      </a:r>
                    </a:p>
                  </a:txBody>
                  <a:tcPr marL="54000" marR="54000" marT="54000" marB="54000" anchor="ctr" anchorCtr="0" horzOverflow="overflow"/>
                </a:tc>
                <a:tc>
                  <a:txBody>
                    <a:bodyPr/>
                    <a:lstStyle/>
                    <a:p>
                      <a:pPr>
                        <a:defRPr sz="1800"/>
                      </a:pPr>
                      <a:r>
                        <a:rPr sz="1400"/>
                        <a:t>2</a:t>
                      </a:r>
                    </a:p>
                  </a:txBody>
                  <a:tcPr marL="54000" marR="54000" marT="54000" marB="54000" anchor="ctr" anchorCtr="0" horzOverflow="overflow"/>
                </a:tc>
                <a:tc>
                  <a:txBody>
                    <a:bodyPr/>
                    <a:lstStyle/>
                    <a:p>
                      <a:pPr>
                        <a:defRPr sz="1800"/>
                      </a:pPr>
                      <a:r>
                        <a:rPr sz="1400"/>
                        <a:t>0.59</a:t>
                      </a:r>
                    </a:p>
                  </a:txBody>
                  <a:tcPr marL="54000" marR="54000" marT="54000" marB="54000" anchor="ctr" anchorCtr="0" horzOverflow="overflow"/>
                </a:tc>
              </a:tr>
            </a:tbl>
          </a:graphicData>
        </a:graphic>
      </p:graphicFrame>
      <p:sp>
        <p:nvSpPr>
          <p:cNvPr id="693" name="Google Shape;420;p59"/>
          <p:cNvSpPr txBox="1"/>
          <p:nvPr/>
        </p:nvSpPr>
        <p:spPr>
          <a:xfrm>
            <a:off x="384174" y="1679017"/>
            <a:ext cx="5145902" cy="27513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5900" indent="-215900">
              <a:lnSpc>
                <a:spcPct val="150000"/>
              </a:lnSpc>
              <a:buClr>
                <a:srgbClr val="00549F"/>
              </a:buClr>
              <a:buSzPts val="1800"/>
              <a:buFont typeface="Arial"/>
              <a:buChar char="•"/>
              <a:defRPr sz="1800"/>
            </a:pPr>
            <a:r>
              <a:t>19 participants</a:t>
            </a:r>
          </a:p>
          <a:p>
            <a:pPr lvl="1" marL="431800" indent="-215900">
              <a:lnSpc>
                <a:spcPct val="150000"/>
              </a:lnSpc>
              <a:buClr>
                <a:srgbClr val="00549F"/>
              </a:buClr>
              <a:buSzPts val="1600"/>
              <a:buFont typeface="Helvetica"/>
              <a:buChar char="−"/>
              <a:defRPr sz="1600"/>
            </a:pPr>
            <a:r>
              <a:t>5 undergraduates, 9 Bachelor’s degree and 5 Master’s degree students</a:t>
            </a:r>
          </a:p>
          <a:p>
            <a:pPr marL="215900" indent="-215900">
              <a:lnSpc>
                <a:spcPct val="150000"/>
              </a:lnSpc>
              <a:buClr>
                <a:srgbClr val="00549F"/>
              </a:buClr>
              <a:buSzPts val="1800"/>
              <a:buFont typeface="Arial"/>
              <a:buChar char="•"/>
              <a:defRPr sz="1800"/>
            </a:pPr>
            <a:r>
              <a:t>Duration: 3 weeks</a:t>
            </a:r>
          </a:p>
          <a:p>
            <a:pPr marL="215900" indent="-215900">
              <a:lnSpc>
                <a:spcPct val="150000"/>
              </a:lnSpc>
              <a:buClr>
                <a:srgbClr val="00549F"/>
              </a:buClr>
              <a:buSzPts val="1800"/>
              <a:buFont typeface="Arial"/>
              <a:buChar char="•"/>
              <a:defRPr sz="1800"/>
            </a:pPr>
            <a:r>
              <a:t>Pre- and post-tests</a:t>
            </a:r>
          </a:p>
          <a:p>
            <a:pPr lvl="1" marL="431800" indent="-215900">
              <a:lnSpc>
                <a:spcPct val="150000"/>
              </a:lnSpc>
              <a:buClr>
                <a:srgbClr val="00549F"/>
              </a:buClr>
              <a:buSzPts val="1600"/>
              <a:buFont typeface="Helvetica"/>
              <a:buChar char="−"/>
              <a:defRPr sz="1600"/>
            </a:pPr>
            <a:r>
              <a:t>Text of 300 words ± 10% and same topic</a:t>
            </a:r>
          </a:p>
          <a:p>
            <a:pPr marL="215900" indent="-215900">
              <a:lnSpc>
                <a:spcPct val="150000"/>
              </a:lnSpc>
              <a:buClr>
                <a:srgbClr val="00549F"/>
              </a:buClr>
              <a:buSzPts val="1800"/>
              <a:buFont typeface="Arial"/>
              <a:buChar char="•"/>
              <a:defRPr sz="1800"/>
            </a:pPr>
            <a:r>
              <a:t>System usability scale</a:t>
            </a:r>
          </a:p>
        </p:txBody>
      </p:sp>
      <p:sp>
        <p:nvSpPr>
          <p:cNvPr id="694" name="Google Shape;421;p59"/>
          <p:cNvSpPr txBox="1"/>
          <p:nvPr>
            <p:ph type="body" idx="21"/>
          </p:nvPr>
        </p:nvSpPr>
        <p:spPr>
          <a:xfrm>
            <a:off x="384000" y="1075800"/>
            <a:ext cx="11484000" cy="252001"/>
          </a:xfrm>
          <a:prstGeom prst="rect">
            <a:avLst/>
          </a:prstGeom>
          <a:extLst>
            <a:ext uri="{C572A759-6A51-4108-AA02-DFA0A04FC94B}">
              <ma14:wrappingTextBoxFlag xmlns:ma14="http://schemas.microsoft.com/office/mac/drawingml/2011/main" val="1"/>
            </a:ext>
          </a:extLst>
        </p:spPr>
        <p:txBody>
          <a:bodyPr/>
          <a:lstStyle>
            <a:lvl1pPr defTabSz="777240">
              <a:defRPr b="1" sz="1700"/>
            </a:lvl1pPr>
          </a:lstStyle>
          <a:p>
            <a:pPr/>
            <a:r>
              <a:t>Study Design and Submission/Gamification Data</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97" name="Google Shape;426;p60"/>
          <p:cNvSpPr txBox="1"/>
          <p:nvPr>
            <p:ph type="title"/>
          </p:nvPr>
        </p:nvSpPr>
        <p:spPr>
          <a:xfrm>
            <a:off x="384175" y="201612"/>
            <a:ext cx="11484000" cy="543001"/>
          </a:xfrm>
          <a:prstGeom prst="rect">
            <a:avLst/>
          </a:prstGeom>
        </p:spPr>
        <p:txBody>
          <a:bodyPr/>
          <a:lstStyle/>
          <a:p>
            <a:pPr/>
            <a:r>
              <a:t>Evaluation</a:t>
            </a:r>
          </a:p>
        </p:txBody>
      </p:sp>
      <p:graphicFrame>
        <p:nvGraphicFramePr>
          <p:cNvPr id="698" name="Google Shape;427;p60"/>
          <p:cNvGraphicFramePr/>
          <p:nvPr/>
        </p:nvGraphicFramePr>
        <p:xfrm>
          <a:off x="1127062" y="2046625"/>
          <a:ext cx="4218001" cy="34407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00875"/>
                <a:gridCol w="924925"/>
                <a:gridCol w="687100"/>
                <a:gridCol w="832524"/>
                <a:gridCol w="572575"/>
              </a:tblGrid>
              <a:tr h="408100">
                <a:tc>
                  <a:txBody>
                    <a:bodyPr/>
                    <a:lstStyle/>
                    <a:p>
                      <a:pPr>
                        <a:defRPr sz="1800"/>
                      </a:pPr>
                      <a:r>
                        <a:rPr b="1" sz="1400"/>
                        <a:t>Writing Element</a:t>
                      </a:r>
                    </a:p>
                  </a:txBody>
                  <a:tcPr marL="54000" marR="54000" marT="54000" marB="54000" anchor="ctr" anchorCtr="0" horzOverflow="overflow"/>
                </a:tc>
                <a:tc>
                  <a:txBody>
                    <a:bodyPr/>
                    <a:lstStyle/>
                    <a:p>
                      <a:pPr>
                        <a:defRPr sz="1800"/>
                      </a:pPr>
                      <a:r>
                        <a:rPr b="1" sz="1400"/>
                        <a:t>Test</a:t>
                      </a:r>
                    </a:p>
                  </a:txBody>
                  <a:tcPr marL="54000" marR="54000" marT="54000" marB="54000" anchor="ctr" anchorCtr="0" horzOverflow="overflow"/>
                </a:tc>
                <a:tc>
                  <a:txBody>
                    <a:bodyPr/>
                    <a:lstStyle/>
                    <a:p>
                      <a:pPr>
                        <a:defRPr sz="1800"/>
                      </a:pPr>
                      <a:r>
                        <a:rPr b="1" sz="1400"/>
                        <a:t>Mean</a:t>
                      </a:r>
                    </a:p>
                  </a:txBody>
                  <a:tcPr marL="54000" marR="54000" marT="54000" marB="54000" anchor="ctr" anchorCtr="0" horzOverflow="overflow"/>
                </a:tc>
                <a:tc>
                  <a:txBody>
                    <a:bodyPr/>
                    <a:lstStyle/>
                    <a:p>
                      <a:pPr>
                        <a:defRPr sz="1800"/>
                      </a:pPr>
                      <a:r>
                        <a:rPr b="1" sz="1400"/>
                        <a:t>Median</a:t>
                      </a:r>
                    </a:p>
                  </a:txBody>
                  <a:tcPr marL="54000" marR="54000" marT="54000" marB="54000" anchor="ctr" anchorCtr="0" horzOverflow="overflow"/>
                </a:tc>
                <a:tc>
                  <a:txBody>
                    <a:bodyPr/>
                    <a:lstStyle/>
                    <a:p>
                      <a:pPr>
                        <a:defRPr sz="1800"/>
                      </a:pPr>
                      <a:r>
                        <a:rPr b="1" sz="1400"/>
                        <a:t>Std.</a:t>
                      </a:r>
                    </a:p>
                  </a:txBody>
                  <a:tcPr marL="54000" marR="54000" marT="54000" marB="54000" anchor="ctr" anchorCtr="0" horzOverflow="overflow"/>
                </a:tc>
              </a:tr>
              <a:tr h="325850">
                <a:tc rowSpan="2">
                  <a:txBody>
                    <a:bodyPr/>
                    <a:lstStyle/>
                    <a:p>
                      <a:pPr>
                        <a:defRPr sz="1800"/>
                      </a:pPr>
                      <a:r>
                        <a:rPr sz="1400"/>
                        <a:t>Grammar</a:t>
                      </a:r>
                    </a:p>
                  </a:txBody>
                  <a:tcPr marL="54000" marR="54000" marT="54000" marB="54000" anchor="ctr" anchorCtr="0" horzOverflow="overflow"/>
                </a:tc>
                <a:tc>
                  <a:txBody>
                    <a:bodyPr/>
                    <a:lstStyle/>
                    <a:p>
                      <a:pPr>
                        <a:defRPr sz="1800"/>
                      </a:pPr>
                      <a:r>
                        <a:rPr sz="1400"/>
                        <a:t>Pre-Test</a:t>
                      </a:r>
                    </a:p>
                  </a:txBody>
                  <a:tcPr marL="54000" marR="54000" marT="54000" marB="54000" anchor="t" anchorCtr="0" horzOverflow="overflow"/>
                </a:tc>
                <a:tc>
                  <a:txBody>
                    <a:bodyPr/>
                    <a:lstStyle/>
                    <a:p>
                      <a:pPr>
                        <a:defRPr sz="1800"/>
                      </a:pPr>
                      <a:r>
                        <a:rPr sz="1400"/>
                        <a:t>6.22</a:t>
                      </a:r>
                    </a:p>
                  </a:txBody>
                  <a:tcPr marL="54000" marR="54000" marT="54000" marB="54000" anchor="t" anchorCtr="0" horzOverflow="overflow"/>
                </a:tc>
                <a:tc>
                  <a:txBody>
                    <a:bodyPr/>
                    <a:lstStyle/>
                    <a:p>
                      <a:pPr>
                        <a:defRPr sz="1800"/>
                      </a:pPr>
                      <a:r>
                        <a:rPr sz="1400"/>
                        <a:t>6.40</a:t>
                      </a:r>
                    </a:p>
                  </a:txBody>
                  <a:tcPr marL="54000" marR="54000" marT="54000" marB="54000" anchor="t" anchorCtr="0" horzOverflow="overflow"/>
                </a:tc>
                <a:tc>
                  <a:txBody>
                    <a:bodyPr/>
                    <a:lstStyle/>
                    <a:p>
                      <a:pPr>
                        <a:defRPr sz="1800"/>
                      </a:pPr>
                      <a:r>
                        <a:rPr sz="1400"/>
                        <a:t>0.94</a:t>
                      </a:r>
                    </a:p>
                  </a:txBody>
                  <a:tcPr marL="54000" marR="54000" marT="54000" marB="54000" anchor="t" anchorCtr="0" horzOverflow="overflow"/>
                </a:tc>
              </a:tr>
              <a:tr h="101600">
                <a:tc vMerge="1">
                  <a:tcPr/>
                </a:tc>
                <a:tc>
                  <a:txBody>
                    <a:bodyPr/>
                    <a:lstStyle/>
                    <a:p>
                      <a:pPr>
                        <a:defRPr sz="1800"/>
                      </a:pPr>
                      <a:r>
                        <a:rPr sz="1400"/>
                        <a:t>Post-Test</a:t>
                      </a:r>
                    </a:p>
                  </a:txBody>
                  <a:tcPr marL="54000" marR="54000" marT="54000" marB="54000" anchor="t" anchorCtr="0" horzOverflow="overflow"/>
                </a:tc>
                <a:tc>
                  <a:txBody>
                    <a:bodyPr/>
                    <a:lstStyle/>
                    <a:p>
                      <a:pPr>
                        <a:defRPr sz="1800"/>
                      </a:pPr>
                      <a:r>
                        <a:rPr b="1" sz="1400"/>
                        <a:t>6.76</a:t>
                      </a:r>
                    </a:p>
                  </a:txBody>
                  <a:tcPr marL="54000" marR="54000" marT="54000" marB="54000" anchor="t" anchorCtr="0" horzOverflow="overflow"/>
                </a:tc>
                <a:tc>
                  <a:txBody>
                    <a:bodyPr/>
                    <a:lstStyle/>
                    <a:p>
                      <a:pPr>
                        <a:defRPr sz="1800"/>
                      </a:pPr>
                      <a:r>
                        <a:rPr b="1" sz="1400"/>
                        <a:t>6.90</a:t>
                      </a:r>
                    </a:p>
                  </a:txBody>
                  <a:tcPr marL="54000" marR="54000" marT="54000" marB="54000" anchor="t" anchorCtr="0" horzOverflow="overflow"/>
                </a:tc>
                <a:tc>
                  <a:txBody>
                    <a:bodyPr/>
                    <a:lstStyle/>
                    <a:p>
                      <a:pPr>
                        <a:defRPr sz="1800"/>
                      </a:pPr>
                      <a:r>
                        <a:rPr b="1" sz="1400"/>
                        <a:t>0.65</a:t>
                      </a:r>
                    </a:p>
                  </a:txBody>
                  <a:tcPr marL="54000" marR="54000" marT="54000" marB="54000" anchor="t" anchorCtr="0" horzOverflow="overflow"/>
                </a:tc>
              </a:tr>
              <a:tr h="325850">
                <a:tc rowSpan="2">
                  <a:txBody>
                    <a:bodyPr/>
                    <a:lstStyle/>
                    <a:p>
                      <a:pPr>
                        <a:defRPr sz="1800"/>
                      </a:pPr>
                      <a:r>
                        <a:rPr sz="1400"/>
                        <a:t>Vocabulary</a:t>
                      </a:r>
                    </a:p>
                  </a:txBody>
                  <a:tcPr marL="54000" marR="54000" marT="54000" marB="54000" anchor="ctr" anchorCtr="0" horzOverflow="overflow"/>
                </a:tc>
                <a:tc>
                  <a:txBody>
                    <a:bodyPr/>
                    <a:lstStyle/>
                    <a:p>
                      <a:pPr>
                        <a:defRPr sz="1800"/>
                      </a:pPr>
                      <a:r>
                        <a:rPr sz="1400"/>
                        <a:t>Pre-Test</a:t>
                      </a:r>
                    </a:p>
                  </a:txBody>
                  <a:tcPr marL="54000" marR="54000" marT="54000" marB="54000" anchor="t" anchorCtr="0" horzOverflow="overflow"/>
                </a:tc>
                <a:tc>
                  <a:txBody>
                    <a:bodyPr/>
                    <a:lstStyle/>
                    <a:p>
                      <a:pPr>
                        <a:defRPr sz="1800"/>
                      </a:pPr>
                      <a:r>
                        <a:rPr sz="1400"/>
                        <a:t>6.35</a:t>
                      </a:r>
                    </a:p>
                  </a:txBody>
                  <a:tcPr marL="54000" marR="54000" marT="54000" marB="54000" anchor="t" anchorCtr="0" horzOverflow="overflow"/>
                </a:tc>
                <a:tc>
                  <a:txBody>
                    <a:bodyPr/>
                    <a:lstStyle/>
                    <a:p>
                      <a:pPr>
                        <a:defRPr sz="1800"/>
                      </a:pPr>
                      <a:r>
                        <a:rPr sz="1400"/>
                        <a:t>6.40</a:t>
                      </a:r>
                    </a:p>
                  </a:txBody>
                  <a:tcPr marL="54000" marR="54000" marT="54000" marB="54000" anchor="t" anchorCtr="0" horzOverflow="overflow"/>
                </a:tc>
                <a:tc>
                  <a:txBody>
                    <a:bodyPr/>
                    <a:lstStyle/>
                    <a:p>
                      <a:pPr>
                        <a:defRPr sz="1800"/>
                      </a:pPr>
                      <a:r>
                        <a:rPr sz="1400"/>
                        <a:t>0.71</a:t>
                      </a:r>
                    </a:p>
                  </a:txBody>
                  <a:tcPr marL="54000" marR="54000" marT="54000" marB="54000" anchor="t" anchorCtr="0" horzOverflow="overflow"/>
                </a:tc>
              </a:tr>
              <a:tr h="325850">
                <a:tc vMerge="1">
                  <a:tcPr/>
                </a:tc>
                <a:tc>
                  <a:txBody>
                    <a:bodyPr/>
                    <a:lstStyle/>
                    <a:p>
                      <a:pPr>
                        <a:defRPr sz="1800"/>
                      </a:pPr>
                      <a:r>
                        <a:rPr sz="1400"/>
                        <a:t>Post-Test</a:t>
                      </a:r>
                    </a:p>
                  </a:txBody>
                  <a:tcPr marL="54000" marR="54000" marT="54000" marB="54000" anchor="t" anchorCtr="0" horzOverflow="overflow"/>
                </a:tc>
                <a:tc>
                  <a:txBody>
                    <a:bodyPr/>
                    <a:lstStyle/>
                    <a:p>
                      <a:pPr>
                        <a:defRPr sz="1800"/>
                      </a:pPr>
                      <a:r>
                        <a:rPr b="1" sz="1400"/>
                        <a:t>6.72</a:t>
                      </a:r>
                    </a:p>
                  </a:txBody>
                  <a:tcPr marL="54000" marR="54000" marT="54000" marB="54000" anchor="t" anchorCtr="0" horzOverflow="overflow"/>
                </a:tc>
                <a:tc>
                  <a:txBody>
                    <a:bodyPr/>
                    <a:lstStyle/>
                    <a:p>
                      <a:pPr>
                        <a:defRPr sz="1800"/>
                      </a:pPr>
                      <a:r>
                        <a:rPr b="1" sz="1400"/>
                        <a:t>6.60</a:t>
                      </a:r>
                    </a:p>
                  </a:txBody>
                  <a:tcPr marL="54000" marR="54000" marT="54000" marB="54000" anchor="t" anchorCtr="0" horzOverflow="overflow"/>
                </a:tc>
                <a:tc>
                  <a:txBody>
                    <a:bodyPr/>
                    <a:lstStyle/>
                    <a:p>
                      <a:pPr>
                        <a:defRPr sz="1800"/>
                      </a:pPr>
                      <a:r>
                        <a:rPr b="1" sz="1400"/>
                        <a:t>0.70</a:t>
                      </a:r>
                    </a:p>
                  </a:txBody>
                  <a:tcPr marL="54000" marR="54000" marT="54000" marB="54000" anchor="t" anchorCtr="0" horzOverflow="overflow"/>
                </a:tc>
              </a:tr>
              <a:tr h="325850">
                <a:tc rowSpan="2">
                  <a:txBody>
                    <a:bodyPr/>
                    <a:lstStyle/>
                    <a:p>
                      <a:pPr>
                        <a:defRPr sz="1800"/>
                      </a:pPr>
                      <a:r>
                        <a:rPr sz="1400"/>
                        <a:t>Organization</a:t>
                      </a:r>
                    </a:p>
                  </a:txBody>
                  <a:tcPr marL="54000" marR="54000" marT="54000" marB="54000" anchor="ctr" anchorCtr="0" horzOverflow="overflow"/>
                </a:tc>
                <a:tc>
                  <a:txBody>
                    <a:bodyPr/>
                    <a:lstStyle/>
                    <a:p>
                      <a:pPr>
                        <a:defRPr sz="1800"/>
                      </a:pPr>
                      <a:r>
                        <a:rPr sz="1400"/>
                        <a:t>Pre-Test</a:t>
                      </a:r>
                    </a:p>
                  </a:txBody>
                  <a:tcPr marL="54000" marR="54000" marT="54000" marB="54000" anchor="t" anchorCtr="0" horzOverflow="overflow"/>
                </a:tc>
                <a:tc>
                  <a:txBody>
                    <a:bodyPr/>
                    <a:lstStyle/>
                    <a:p>
                      <a:pPr>
                        <a:defRPr sz="1800"/>
                      </a:pPr>
                      <a:r>
                        <a:rPr sz="1400"/>
                        <a:t>7.11</a:t>
                      </a:r>
                    </a:p>
                  </a:txBody>
                  <a:tcPr marL="54000" marR="54000" marT="54000" marB="54000" anchor="t" anchorCtr="0" horzOverflow="overflow"/>
                </a:tc>
                <a:tc>
                  <a:txBody>
                    <a:bodyPr/>
                    <a:lstStyle/>
                    <a:p>
                      <a:pPr>
                        <a:defRPr sz="1800"/>
                      </a:pPr>
                      <a:r>
                        <a:rPr sz="1400"/>
                        <a:t>7.20</a:t>
                      </a:r>
                    </a:p>
                  </a:txBody>
                  <a:tcPr marL="54000" marR="54000" marT="54000" marB="54000" anchor="t" anchorCtr="0" horzOverflow="overflow"/>
                </a:tc>
                <a:tc>
                  <a:txBody>
                    <a:bodyPr/>
                    <a:lstStyle/>
                    <a:p>
                      <a:pPr>
                        <a:defRPr sz="1800"/>
                      </a:pPr>
                      <a:r>
                        <a:rPr sz="1400"/>
                        <a:t>0.73</a:t>
                      </a:r>
                    </a:p>
                  </a:txBody>
                  <a:tcPr marL="54000" marR="54000" marT="54000" marB="54000" anchor="t" anchorCtr="0" horzOverflow="overflow"/>
                </a:tc>
              </a:tr>
              <a:tr h="325850">
                <a:tc vMerge="1">
                  <a:tcPr/>
                </a:tc>
                <a:tc>
                  <a:txBody>
                    <a:bodyPr/>
                    <a:lstStyle/>
                    <a:p>
                      <a:pPr>
                        <a:defRPr sz="1800"/>
                      </a:pPr>
                      <a:r>
                        <a:rPr sz="1400"/>
                        <a:t>Post-Test</a:t>
                      </a:r>
                    </a:p>
                  </a:txBody>
                  <a:tcPr marL="54000" marR="54000" marT="54000" marB="54000" anchor="t" anchorCtr="0" horzOverflow="overflow"/>
                </a:tc>
                <a:tc>
                  <a:txBody>
                    <a:bodyPr/>
                    <a:lstStyle/>
                    <a:p>
                      <a:pPr>
                        <a:defRPr sz="1800"/>
                      </a:pPr>
                      <a:r>
                        <a:rPr b="1" sz="1400"/>
                        <a:t>7.47</a:t>
                      </a:r>
                    </a:p>
                  </a:txBody>
                  <a:tcPr marL="54000" marR="54000" marT="54000" marB="54000" anchor="t" anchorCtr="0" horzOverflow="overflow"/>
                </a:tc>
                <a:tc>
                  <a:txBody>
                    <a:bodyPr/>
                    <a:lstStyle/>
                    <a:p>
                      <a:pPr>
                        <a:defRPr sz="1800"/>
                      </a:pPr>
                      <a:r>
                        <a:rPr b="1" sz="1400"/>
                        <a:t>7.60</a:t>
                      </a:r>
                    </a:p>
                  </a:txBody>
                  <a:tcPr marL="54000" marR="54000" marT="54000" marB="54000" anchor="t" anchorCtr="0" horzOverflow="overflow"/>
                </a:tc>
                <a:tc>
                  <a:txBody>
                    <a:bodyPr/>
                    <a:lstStyle/>
                    <a:p>
                      <a:pPr>
                        <a:defRPr sz="1800"/>
                      </a:pPr>
                      <a:r>
                        <a:rPr b="1" sz="1400"/>
                        <a:t>0.66</a:t>
                      </a:r>
                    </a:p>
                  </a:txBody>
                  <a:tcPr marL="54000" marR="54000" marT="54000" marB="54000" anchor="t" anchorCtr="0" horzOverflow="overflow"/>
                </a:tc>
              </a:tr>
              <a:tr h="325850">
                <a:tc rowSpan="2">
                  <a:txBody>
                    <a:bodyPr/>
                    <a:lstStyle/>
                    <a:p>
                      <a:pPr>
                        <a:defRPr sz="1800"/>
                      </a:pPr>
                      <a:r>
                        <a:rPr sz="1400"/>
                        <a:t>Coherence</a:t>
                      </a:r>
                    </a:p>
                  </a:txBody>
                  <a:tcPr marL="54000" marR="54000" marT="54000" marB="54000" anchor="ctr" anchorCtr="0" horzOverflow="overflow"/>
                </a:tc>
                <a:tc>
                  <a:txBody>
                    <a:bodyPr/>
                    <a:lstStyle/>
                    <a:p>
                      <a:pPr>
                        <a:defRPr sz="1800"/>
                      </a:pPr>
                      <a:r>
                        <a:rPr sz="1400"/>
                        <a:t>Pre-Test</a:t>
                      </a:r>
                    </a:p>
                  </a:txBody>
                  <a:tcPr marL="54000" marR="54000" marT="54000" marB="54000" anchor="t" anchorCtr="0" horzOverflow="overflow"/>
                </a:tc>
                <a:tc>
                  <a:txBody>
                    <a:bodyPr/>
                    <a:lstStyle/>
                    <a:p>
                      <a:pPr>
                        <a:defRPr sz="1800"/>
                      </a:pPr>
                      <a:r>
                        <a:rPr sz="1400"/>
                        <a:t>6.68</a:t>
                      </a:r>
                    </a:p>
                  </a:txBody>
                  <a:tcPr marL="54000" marR="54000" marT="54000" marB="54000" anchor="t" anchorCtr="0" horzOverflow="overflow"/>
                </a:tc>
                <a:tc>
                  <a:txBody>
                    <a:bodyPr/>
                    <a:lstStyle/>
                    <a:p>
                      <a:pPr>
                        <a:defRPr sz="1800"/>
                      </a:pPr>
                      <a:r>
                        <a:rPr sz="1400"/>
                        <a:t>6.80</a:t>
                      </a:r>
                    </a:p>
                  </a:txBody>
                  <a:tcPr marL="54000" marR="54000" marT="54000" marB="54000" anchor="t" anchorCtr="0" horzOverflow="overflow"/>
                </a:tc>
                <a:tc>
                  <a:txBody>
                    <a:bodyPr/>
                    <a:lstStyle/>
                    <a:p>
                      <a:pPr>
                        <a:defRPr sz="1800"/>
                      </a:pPr>
                      <a:r>
                        <a:rPr sz="1400"/>
                        <a:t>0.84</a:t>
                      </a:r>
                    </a:p>
                  </a:txBody>
                  <a:tcPr marL="54000" marR="54000" marT="54000" marB="54000" anchor="t" anchorCtr="0" horzOverflow="overflow"/>
                </a:tc>
              </a:tr>
              <a:tr h="325850">
                <a:tc vMerge="1">
                  <a:tcPr/>
                </a:tc>
                <a:tc>
                  <a:txBody>
                    <a:bodyPr/>
                    <a:lstStyle/>
                    <a:p>
                      <a:pPr>
                        <a:defRPr sz="1800"/>
                      </a:pPr>
                      <a:r>
                        <a:rPr sz="1400"/>
                        <a:t>Post-Test</a:t>
                      </a:r>
                    </a:p>
                  </a:txBody>
                  <a:tcPr marL="54000" marR="54000" marT="54000" marB="54000" anchor="t" anchorCtr="0" horzOverflow="overflow"/>
                </a:tc>
                <a:tc>
                  <a:txBody>
                    <a:bodyPr/>
                    <a:lstStyle/>
                    <a:p>
                      <a:pPr>
                        <a:defRPr sz="1800"/>
                      </a:pPr>
                      <a:r>
                        <a:rPr b="1" sz="1400"/>
                        <a:t>7.10</a:t>
                      </a:r>
                    </a:p>
                  </a:txBody>
                  <a:tcPr marL="54000" marR="54000" marT="54000" marB="54000" anchor="t" anchorCtr="0" horzOverflow="overflow"/>
                </a:tc>
                <a:tc>
                  <a:txBody>
                    <a:bodyPr/>
                    <a:lstStyle/>
                    <a:p>
                      <a:pPr>
                        <a:defRPr sz="1800"/>
                      </a:pPr>
                      <a:r>
                        <a:rPr b="1" sz="1400"/>
                        <a:t>7.20</a:t>
                      </a:r>
                    </a:p>
                  </a:txBody>
                  <a:tcPr marL="54000" marR="54000" marT="54000" marB="54000" anchor="t" anchorCtr="0" horzOverflow="overflow"/>
                </a:tc>
                <a:tc>
                  <a:txBody>
                    <a:bodyPr/>
                    <a:lstStyle/>
                    <a:p>
                      <a:pPr>
                        <a:defRPr sz="1800"/>
                      </a:pPr>
                      <a:r>
                        <a:rPr b="1" sz="1400"/>
                        <a:t>0.70</a:t>
                      </a:r>
                    </a:p>
                  </a:txBody>
                  <a:tcPr marL="54000" marR="54000" marT="54000" marB="54000" anchor="t" anchorCtr="0" horzOverflow="overflow"/>
                </a:tc>
              </a:tr>
              <a:tr h="325850">
                <a:tc rowSpan="2">
                  <a:txBody>
                    <a:bodyPr/>
                    <a:lstStyle/>
                    <a:p>
                      <a:pPr>
                        <a:defRPr sz="1800"/>
                      </a:pPr>
                      <a:r>
                        <a:rPr sz="1400"/>
                        <a:t>Writing Style</a:t>
                      </a:r>
                    </a:p>
                  </a:txBody>
                  <a:tcPr marL="54000" marR="54000" marT="54000" marB="54000" anchor="ctr" anchorCtr="0" horzOverflow="overflow"/>
                </a:tc>
                <a:tc>
                  <a:txBody>
                    <a:bodyPr/>
                    <a:lstStyle/>
                    <a:p>
                      <a:pPr>
                        <a:defRPr sz="1800"/>
                      </a:pPr>
                      <a:r>
                        <a:rPr sz="1400"/>
                        <a:t>Pre-Test</a:t>
                      </a:r>
                    </a:p>
                  </a:txBody>
                  <a:tcPr marL="54000" marR="54000" marT="54000" marB="54000" anchor="t" anchorCtr="0" horzOverflow="overflow"/>
                </a:tc>
                <a:tc>
                  <a:txBody>
                    <a:bodyPr/>
                    <a:lstStyle/>
                    <a:p>
                      <a:pPr>
                        <a:defRPr sz="1800"/>
                      </a:pPr>
                      <a:r>
                        <a:rPr sz="1400"/>
                        <a:t>6.07</a:t>
                      </a:r>
                    </a:p>
                  </a:txBody>
                  <a:tcPr marL="54000" marR="54000" marT="54000" marB="54000" anchor="t" anchorCtr="0" horzOverflow="overflow"/>
                </a:tc>
                <a:tc>
                  <a:txBody>
                    <a:bodyPr/>
                    <a:lstStyle/>
                    <a:p>
                      <a:pPr>
                        <a:defRPr sz="1800"/>
                      </a:pPr>
                      <a:r>
                        <a:rPr sz="1400"/>
                        <a:t>6.13</a:t>
                      </a:r>
                    </a:p>
                  </a:txBody>
                  <a:tcPr marL="54000" marR="54000" marT="54000" marB="54000" anchor="t" anchorCtr="0" horzOverflow="overflow"/>
                </a:tc>
                <a:tc>
                  <a:txBody>
                    <a:bodyPr/>
                    <a:lstStyle/>
                    <a:p>
                      <a:pPr>
                        <a:defRPr sz="1800"/>
                      </a:pPr>
                      <a:r>
                        <a:rPr sz="1400"/>
                        <a:t>0.76</a:t>
                      </a:r>
                    </a:p>
                  </a:txBody>
                  <a:tcPr marL="54000" marR="54000" marT="54000" marB="54000" anchor="t" anchorCtr="0" horzOverflow="overflow"/>
                </a:tc>
              </a:tr>
              <a:tr h="325850">
                <a:tc vMerge="1">
                  <a:tcPr/>
                </a:tc>
                <a:tc>
                  <a:txBody>
                    <a:bodyPr/>
                    <a:lstStyle/>
                    <a:p>
                      <a:pPr>
                        <a:defRPr sz="1800"/>
                      </a:pPr>
                      <a:r>
                        <a:rPr sz="1400"/>
                        <a:t>Post-Test</a:t>
                      </a:r>
                    </a:p>
                  </a:txBody>
                  <a:tcPr marL="54000" marR="54000" marT="54000" marB="54000" anchor="t" anchorCtr="0" horzOverflow="overflow"/>
                </a:tc>
                <a:tc>
                  <a:txBody>
                    <a:bodyPr/>
                    <a:lstStyle/>
                    <a:p>
                      <a:pPr>
                        <a:defRPr sz="1800"/>
                      </a:pPr>
                      <a:r>
                        <a:rPr b="1" sz="1400"/>
                        <a:t>6.45</a:t>
                      </a:r>
                    </a:p>
                  </a:txBody>
                  <a:tcPr marL="54000" marR="54000" marT="54000" marB="54000" anchor="t" anchorCtr="0" horzOverflow="overflow"/>
                </a:tc>
                <a:tc>
                  <a:txBody>
                    <a:bodyPr/>
                    <a:lstStyle/>
                    <a:p>
                      <a:pPr>
                        <a:defRPr sz="1800"/>
                      </a:pPr>
                      <a:r>
                        <a:rPr b="1" sz="1400"/>
                        <a:t>6.50</a:t>
                      </a:r>
                    </a:p>
                  </a:txBody>
                  <a:tcPr marL="54000" marR="54000" marT="54000" marB="54000" anchor="t" anchorCtr="0" horzOverflow="overflow"/>
                </a:tc>
                <a:tc>
                  <a:txBody>
                    <a:bodyPr/>
                    <a:lstStyle/>
                    <a:p>
                      <a:pPr>
                        <a:defRPr sz="1800"/>
                      </a:pPr>
                      <a:r>
                        <a:rPr b="1" sz="1400"/>
                        <a:t>0.60</a:t>
                      </a:r>
                    </a:p>
                  </a:txBody>
                  <a:tcPr marL="54000" marR="54000" marT="54000" marB="54000" anchor="t" anchorCtr="0" horzOverflow="overflow"/>
                </a:tc>
              </a:tr>
            </a:tbl>
          </a:graphicData>
        </a:graphic>
      </p:graphicFrame>
      <p:sp>
        <p:nvSpPr>
          <p:cNvPr id="699" name="Google Shape;428;p60"/>
          <p:cNvSpPr txBox="1"/>
          <p:nvPr/>
        </p:nvSpPr>
        <p:spPr>
          <a:xfrm>
            <a:off x="1035574" y="1492574"/>
            <a:ext cx="4401001" cy="5834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12:</a:t>
            </a:r>
            <a:r>
              <a:rPr>
                <a:solidFill>
                  <a:srgbClr val="000000"/>
                </a:solidFill>
              </a:rPr>
              <a:t> Descriptive statistics for pre- and post-test scores. Writing rubric score range: 1-9.</a:t>
            </a:r>
          </a:p>
        </p:txBody>
      </p:sp>
      <p:sp>
        <p:nvSpPr>
          <p:cNvPr id="700" name="Google Shape;429;p60"/>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Results RQ1</a:t>
            </a:r>
          </a:p>
        </p:txBody>
      </p:sp>
      <p:pic>
        <p:nvPicPr>
          <p:cNvPr id="701" name="Google Shape;430;p60" descr="Google Shape;430;p60"/>
          <p:cNvPicPr>
            <a:picLocks noChangeAspect="1"/>
          </p:cNvPicPr>
          <p:nvPr/>
        </p:nvPicPr>
        <p:blipFill>
          <a:blip r:embed="rId2">
            <a:extLst/>
          </a:blip>
          <a:stretch>
            <a:fillRect/>
          </a:stretch>
        </p:blipFill>
        <p:spPr>
          <a:xfrm>
            <a:off x="6032400" y="1416376"/>
            <a:ext cx="5502853" cy="4279997"/>
          </a:xfrm>
          <a:prstGeom prst="rect">
            <a:avLst/>
          </a:prstGeom>
          <a:ln w="12700">
            <a:miter lim="400000"/>
          </a:ln>
        </p:spPr>
      </p:pic>
      <p:sp>
        <p:nvSpPr>
          <p:cNvPr id="702" name="Google Shape;431;p60"/>
          <p:cNvSpPr txBox="1"/>
          <p:nvPr/>
        </p:nvSpPr>
        <p:spPr>
          <a:xfrm>
            <a:off x="5960074" y="5514625"/>
            <a:ext cx="5647502"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6:</a:t>
            </a:r>
            <a:r>
              <a:rPr>
                <a:solidFill>
                  <a:srgbClr val="000000"/>
                </a:solidFill>
              </a:rPr>
              <a:t> Pre-test vs post-test grammar and vocabulary mistakes.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4"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05" name="Google Shape;437;p61"/>
          <p:cNvSpPr txBox="1"/>
          <p:nvPr>
            <p:ph type="title"/>
          </p:nvPr>
        </p:nvSpPr>
        <p:spPr>
          <a:xfrm>
            <a:off x="384000" y="201600"/>
            <a:ext cx="11484000" cy="543601"/>
          </a:xfrm>
          <a:prstGeom prst="rect">
            <a:avLst/>
          </a:prstGeom>
        </p:spPr>
        <p:txBody>
          <a:bodyPr/>
          <a:lstStyle/>
          <a:p>
            <a:pPr/>
            <a:r>
              <a:t>Evaluation</a:t>
            </a:r>
          </a:p>
        </p:txBody>
      </p:sp>
      <p:graphicFrame>
        <p:nvGraphicFramePr>
          <p:cNvPr id="706" name="Google Shape;438;p61"/>
          <p:cNvGraphicFramePr/>
          <p:nvPr/>
        </p:nvGraphicFramePr>
        <p:xfrm>
          <a:off x="7178599" y="2369549"/>
          <a:ext cx="4037677" cy="16896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55800"/>
                <a:gridCol w="761050"/>
                <a:gridCol w="1013950"/>
                <a:gridCol w="706875"/>
              </a:tblGrid>
              <a:tr h="317925">
                <a:tc>
                  <a:txBody>
                    <a:bodyPr/>
                    <a:lstStyle/>
                    <a:p>
                      <a:pPr>
                        <a:defRPr sz="1800"/>
                      </a:pPr>
                      <a:r>
                        <a:rPr b="1" sz="1400"/>
                        <a:t>Writing Element</a:t>
                      </a:r>
                    </a:p>
                  </a:txBody>
                  <a:tcPr marL="54000" marR="54000" marT="54000" marB="54000" anchor="t" anchorCtr="0" horzOverflow="overflow"/>
                </a:tc>
                <a:tc>
                  <a:txBody>
                    <a:bodyPr/>
                    <a:lstStyle/>
                    <a:p>
                      <a:pPr>
                        <a:defRPr b="1" i="1" sz="1400"/>
                      </a:pPr>
                      <a:r>
                        <a:t>t</a:t>
                      </a:r>
                      <a:r>
                        <a:rPr i="0"/>
                        <a:t>-value</a:t>
                      </a:r>
                    </a:p>
                  </a:txBody>
                  <a:tcPr marL="54000" marR="54000" marT="54000" marB="54000" anchor="t" anchorCtr="0" horzOverflow="overflow"/>
                </a:tc>
                <a:tc>
                  <a:txBody>
                    <a:bodyPr/>
                    <a:lstStyle/>
                    <a:p>
                      <a:pPr>
                        <a:defRPr b="1" i="1" sz="1400"/>
                      </a:pPr>
                      <a:r>
                        <a:t>p</a:t>
                      </a:r>
                      <a:r>
                        <a:rPr i="0"/>
                        <a:t>-value</a:t>
                      </a:r>
                    </a:p>
                  </a:txBody>
                  <a:tcPr marL="54000" marR="54000" marT="54000" marB="54000" anchor="t" anchorCtr="0" horzOverflow="overflow"/>
                </a:tc>
                <a:tc>
                  <a:txBody>
                    <a:bodyPr/>
                    <a:lstStyle/>
                    <a:p>
                      <a:pPr>
                        <a:defRPr sz="1800"/>
                      </a:pPr>
                      <a:r>
                        <a:rPr b="1" i="1" sz="1400"/>
                        <a:t>d</a:t>
                      </a:r>
                    </a:p>
                  </a:txBody>
                  <a:tcPr marL="54000" marR="54000" marT="54000" marB="54000" anchor="t" anchorCtr="0" horzOverflow="overflow"/>
                </a:tc>
              </a:tr>
              <a:tr h="101600">
                <a:tc>
                  <a:txBody>
                    <a:bodyPr/>
                    <a:lstStyle/>
                    <a:p>
                      <a:pPr>
                        <a:defRPr sz="1800"/>
                      </a:pPr>
                      <a:r>
                        <a:rPr sz="1400"/>
                        <a:t>Grammar</a:t>
                      </a:r>
                    </a:p>
                  </a:txBody>
                  <a:tcPr marL="54000" marR="54000" marT="54000" marB="54000" anchor="t" anchorCtr="0" horzOverflow="overflow"/>
                </a:tc>
                <a:tc>
                  <a:txBody>
                    <a:bodyPr/>
                    <a:lstStyle/>
                    <a:p>
                      <a:pPr>
                        <a:defRPr sz="1800"/>
                      </a:pPr>
                      <a:r>
                        <a:rPr sz="1400"/>
                        <a:t>-1.98</a:t>
                      </a:r>
                    </a:p>
                  </a:txBody>
                  <a:tcPr marL="54000" marR="54000" marT="54000" marB="54000" anchor="t" anchorCtr="0" horzOverflow="overflow"/>
                </a:tc>
                <a:tc>
                  <a:txBody>
                    <a:bodyPr/>
                    <a:lstStyle/>
                    <a:p>
                      <a:pPr>
                        <a:defRPr sz="1800"/>
                      </a:pPr>
                      <a:r>
                        <a:rPr sz="1400"/>
                        <a:t>0.063</a:t>
                      </a:r>
                    </a:p>
                  </a:txBody>
                  <a:tcPr marL="54000" marR="54000" marT="54000" marB="54000" anchor="t" anchorCtr="0" horzOverflow="overflow"/>
                </a:tc>
                <a:tc>
                  <a:txBody>
                    <a:bodyPr/>
                    <a:lstStyle/>
                    <a:p>
                      <a:pPr>
                        <a:defRPr sz="1800"/>
                      </a:pPr>
                      <a:r>
                        <a:rPr sz="1400"/>
                        <a:t>0.454</a:t>
                      </a:r>
                    </a:p>
                  </a:txBody>
                  <a:tcPr marL="54000" marR="54000" marT="54000" marB="54000" anchor="t" anchorCtr="0" horzOverflow="overflow"/>
                </a:tc>
              </a:tr>
              <a:tr h="317925">
                <a:tc>
                  <a:txBody>
                    <a:bodyPr/>
                    <a:lstStyle/>
                    <a:p>
                      <a:pPr>
                        <a:defRPr sz="1800"/>
                      </a:pPr>
                      <a:r>
                        <a:rPr sz="1400"/>
                        <a:t>Vocabulary</a:t>
                      </a:r>
                    </a:p>
                  </a:txBody>
                  <a:tcPr marL="54000" marR="54000" marT="54000" marB="54000" anchor="t" anchorCtr="0" horzOverflow="overflow"/>
                </a:tc>
                <a:tc>
                  <a:txBody>
                    <a:bodyPr/>
                    <a:lstStyle/>
                    <a:p>
                      <a:pPr>
                        <a:defRPr sz="1800"/>
                      </a:pPr>
                      <a:r>
                        <a:rPr sz="1400"/>
                        <a:t>-1.66</a:t>
                      </a:r>
                    </a:p>
                  </a:txBody>
                  <a:tcPr marL="54000" marR="54000" marT="54000" marB="54000" anchor="t" anchorCtr="0" horzOverflow="overflow"/>
                </a:tc>
                <a:tc>
                  <a:txBody>
                    <a:bodyPr/>
                    <a:lstStyle/>
                    <a:p>
                      <a:pPr>
                        <a:defRPr sz="1800"/>
                      </a:pPr>
                      <a:r>
                        <a:rPr sz="1400"/>
                        <a:t>0.115</a:t>
                      </a:r>
                    </a:p>
                  </a:txBody>
                  <a:tcPr marL="54000" marR="54000" marT="54000" marB="54000" anchor="t" anchorCtr="0" horzOverflow="overflow"/>
                </a:tc>
                <a:tc>
                  <a:txBody>
                    <a:bodyPr/>
                    <a:lstStyle/>
                    <a:p>
                      <a:pPr>
                        <a:defRPr sz="1800"/>
                      </a:pPr>
                      <a:r>
                        <a:rPr sz="1400"/>
                        <a:t>0.380</a:t>
                      </a:r>
                    </a:p>
                  </a:txBody>
                  <a:tcPr marL="54000" marR="54000" marT="54000" marB="54000" anchor="t" anchorCtr="0" horzOverflow="overflow"/>
                </a:tc>
              </a:tr>
              <a:tr h="317925">
                <a:tc>
                  <a:txBody>
                    <a:bodyPr/>
                    <a:lstStyle/>
                    <a:p>
                      <a:pPr>
                        <a:defRPr sz="1800"/>
                      </a:pPr>
                      <a:r>
                        <a:rPr sz="1400"/>
                        <a:t>Organization</a:t>
                      </a:r>
                    </a:p>
                  </a:txBody>
                  <a:tcPr marL="54000" marR="54000" marT="54000" marB="54000" anchor="t" anchorCtr="0" horzOverflow="overflow"/>
                </a:tc>
                <a:tc>
                  <a:txBody>
                    <a:bodyPr/>
                    <a:lstStyle/>
                    <a:p>
                      <a:pPr>
                        <a:defRPr sz="1800"/>
                      </a:pPr>
                      <a:r>
                        <a:rPr sz="1400"/>
                        <a:t>-1.57</a:t>
                      </a:r>
                    </a:p>
                  </a:txBody>
                  <a:tcPr marL="54000" marR="54000" marT="54000" marB="54000" anchor="t" anchorCtr="0" horzOverflow="overflow"/>
                </a:tc>
                <a:tc>
                  <a:txBody>
                    <a:bodyPr/>
                    <a:lstStyle/>
                    <a:p>
                      <a:pPr>
                        <a:defRPr sz="1800"/>
                      </a:pPr>
                      <a:r>
                        <a:rPr sz="1400"/>
                        <a:t>0.133</a:t>
                      </a:r>
                    </a:p>
                  </a:txBody>
                  <a:tcPr marL="54000" marR="54000" marT="54000" marB="54000" anchor="t" anchorCtr="0" horzOverflow="overflow"/>
                </a:tc>
                <a:tc>
                  <a:txBody>
                    <a:bodyPr/>
                    <a:lstStyle/>
                    <a:p>
                      <a:pPr>
                        <a:defRPr sz="1800"/>
                      </a:pPr>
                      <a:r>
                        <a:rPr sz="1400"/>
                        <a:t>0.361</a:t>
                      </a:r>
                    </a:p>
                  </a:txBody>
                  <a:tcPr marL="54000" marR="54000" marT="54000" marB="54000" anchor="t" anchorCtr="0" horzOverflow="overflow"/>
                </a:tc>
              </a:tr>
              <a:tr h="317925">
                <a:tc>
                  <a:txBody>
                    <a:bodyPr/>
                    <a:lstStyle/>
                    <a:p>
                      <a:pPr>
                        <a:defRPr sz="1800"/>
                      </a:pPr>
                      <a:r>
                        <a:rPr sz="1400"/>
                        <a:t>Coherence</a:t>
                      </a:r>
                    </a:p>
                  </a:txBody>
                  <a:tcPr marL="54000" marR="54000" marT="54000" marB="54000" anchor="t" anchorCtr="0" horzOverflow="overflow"/>
                </a:tc>
                <a:tc>
                  <a:txBody>
                    <a:bodyPr/>
                    <a:lstStyle/>
                    <a:p>
                      <a:pPr>
                        <a:defRPr sz="1800"/>
                      </a:pPr>
                      <a:r>
                        <a:rPr sz="1400"/>
                        <a:t>-1.74</a:t>
                      </a:r>
                    </a:p>
                  </a:txBody>
                  <a:tcPr marL="54000" marR="54000" marT="54000" marB="54000" anchor="t" anchorCtr="0" horzOverflow="overflow"/>
                </a:tc>
                <a:tc>
                  <a:txBody>
                    <a:bodyPr/>
                    <a:lstStyle/>
                    <a:p>
                      <a:pPr>
                        <a:defRPr sz="1800"/>
                      </a:pPr>
                      <a:r>
                        <a:rPr sz="1400"/>
                        <a:t>0.100</a:t>
                      </a:r>
                    </a:p>
                  </a:txBody>
                  <a:tcPr marL="54000" marR="54000" marT="54000" marB="54000" anchor="t" anchorCtr="0" horzOverflow="overflow"/>
                </a:tc>
                <a:tc>
                  <a:txBody>
                    <a:bodyPr/>
                    <a:lstStyle/>
                    <a:p>
                      <a:pPr>
                        <a:defRPr sz="1800"/>
                      </a:pPr>
                      <a:r>
                        <a:rPr sz="1400"/>
                        <a:t>0.398</a:t>
                      </a:r>
                    </a:p>
                  </a:txBody>
                  <a:tcPr marL="54000" marR="54000" marT="54000" marB="54000" anchor="t" anchorCtr="0" horzOverflow="overflow"/>
                </a:tc>
              </a:tr>
              <a:tr h="317925">
                <a:tc>
                  <a:txBody>
                    <a:bodyPr/>
                    <a:lstStyle/>
                    <a:p>
                      <a:pPr>
                        <a:defRPr sz="1800"/>
                      </a:pPr>
                      <a:r>
                        <a:rPr sz="1400"/>
                        <a:t>Writing Style</a:t>
                      </a:r>
                    </a:p>
                  </a:txBody>
                  <a:tcPr marL="54000" marR="54000" marT="54000" marB="54000" anchor="t" anchorCtr="0" horzOverflow="overflow"/>
                </a:tc>
                <a:tc>
                  <a:txBody>
                    <a:bodyPr/>
                    <a:lstStyle/>
                    <a:p>
                      <a:pPr>
                        <a:defRPr sz="1800"/>
                      </a:pPr>
                      <a:r>
                        <a:rPr sz="1400"/>
                        <a:t>-1.93</a:t>
                      </a:r>
                    </a:p>
                  </a:txBody>
                  <a:tcPr marL="54000" marR="54000" marT="54000" marB="54000" anchor="t" anchorCtr="0" horzOverflow="overflow"/>
                </a:tc>
                <a:tc>
                  <a:txBody>
                    <a:bodyPr/>
                    <a:lstStyle/>
                    <a:p>
                      <a:pPr>
                        <a:defRPr sz="1800"/>
                      </a:pPr>
                      <a:r>
                        <a:rPr sz="1400"/>
                        <a:t>0.069</a:t>
                      </a:r>
                    </a:p>
                  </a:txBody>
                  <a:tcPr marL="54000" marR="54000" marT="54000" marB="54000" anchor="t" anchorCtr="0" horzOverflow="overflow"/>
                </a:tc>
                <a:tc>
                  <a:txBody>
                    <a:bodyPr/>
                    <a:lstStyle/>
                    <a:p>
                      <a:pPr>
                        <a:defRPr sz="1800"/>
                      </a:pPr>
                      <a:r>
                        <a:rPr sz="1400"/>
                        <a:t>0.443</a:t>
                      </a:r>
                    </a:p>
                  </a:txBody>
                  <a:tcPr marL="54000" marR="54000" marT="54000" marB="54000" anchor="t" anchorCtr="0" horzOverflow="overflow"/>
                </a:tc>
              </a:tr>
            </a:tbl>
          </a:graphicData>
        </a:graphic>
      </p:graphicFrame>
      <p:sp>
        <p:nvSpPr>
          <p:cNvPr id="707" name="Google Shape;439;p61"/>
          <p:cNvSpPr txBox="1"/>
          <p:nvPr/>
        </p:nvSpPr>
        <p:spPr>
          <a:xfrm>
            <a:off x="7271300" y="1999325"/>
            <a:ext cx="38523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13:</a:t>
            </a:r>
            <a:r>
              <a:rPr>
                <a:solidFill>
                  <a:srgbClr val="000000"/>
                </a:solidFill>
              </a:rPr>
              <a:t> Paired t-test results and Cohens’d.</a:t>
            </a:r>
          </a:p>
        </p:txBody>
      </p:sp>
      <p:sp>
        <p:nvSpPr>
          <p:cNvPr id="708" name="Google Shape;440;p61"/>
          <p:cNvSpPr txBox="1"/>
          <p:nvPr>
            <p:ph type="body" sz="quarter" idx="1"/>
          </p:nvPr>
        </p:nvSpPr>
        <p:spPr>
          <a:xfrm>
            <a:off x="384175" y="1692449"/>
            <a:ext cx="7247400" cy="1598701"/>
          </a:xfrm>
          <a:prstGeom prst="rect">
            <a:avLst/>
          </a:prstGeom>
        </p:spPr>
        <p:txBody>
          <a:bodyPr/>
          <a:lstStyle/>
          <a:p>
            <a:pPr marL="215900" indent="-215900">
              <a:lnSpc>
                <a:spcPct val="150000"/>
              </a:lnSpc>
              <a:defRPr b="1"/>
            </a:pPr>
            <a:r>
              <a:t>Paired T-Test</a:t>
            </a:r>
            <a:r>
              <a:rPr b="0"/>
              <a:t>: Tests for significant mean differences (</a:t>
            </a:r>
            <a:r>
              <a:rPr b="0" i="1"/>
              <a:t>p</a:t>
            </a:r>
            <a:r>
              <a:rPr b="0"/>
              <a:t> &lt; 0.05)</a:t>
            </a:r>
            <a:endParaRPr b="0"/>
          </a:p>
          <a:p>
            <a:pPr lvl="1" marL="431800" indent="-215900">
              <a:lnSpc>
                <a:spcPct val="150000"/>
              </a:lnSpc>
              <a:buSzPts val="1600"/>
              <a:buFont typeface="Helvetica"/>
              <a:defRPr sz="1600"/>
            </a:pPr>
            <a:r>
              <a:t>No significant differences</a:t>
            </a:r>
          </a:p>
          <a:p>
            <a:pPr marL="215900" indent="-215900">
              <a:lnSpc>
                <a:spcPct val="150000"/>
              </a:lnSpc>
              <a:defRPr b="1"/>
            </a:pPr>
            <a:r>
              <a:t>Cohen’s </a:t>
            </a:r>
            <a:r>
              <a:rPr i="1"/>
              <a:t>d</a:t>
            </a:r>
            <a:r>
              <a:rPr b="0"/>
              <a:t>: Measures effect size</a:t>
            </a:r>
            <a:endParaRPr b="0"/>
          </a:p>
          <a:p>
            <a:pPr lvl="1" marL="431800" indent="-215900">
              <a:lnSpc>
                <a:spcPct val="150000"/>
              </a:lnSpc>
              <a:buSzPts val="1600"/>
              <a:buFont typeface="Helvetica"/>
              <a:defRPr sz="1600"/>
            </a:pPr>
            <a:r>
              <a:t>Medium effects [Brydges, 2019]</a:t>
            </a:r>
          </a:p>
        </p:txBody>
      </p:sp>
      <p:sp>
        <p:nvSpPr>
          <p:cNvPr id="709" name="Google Shape;441;p61"/>
          <p:cNvSpPr txBox="1"/>
          <p:nvPr>
            <p:ph type="body" idx="21"/>
          </p:nvPr>
        </p:nvSpPr>
        <p:spPr>
          <a:xfrm>
            <a:off x="384000" y="1075800"/>
            <a:ext cx="11484000" cy="252001"/>
          </a:xfrm>
          <a:prstGeom prst="rect">
            <a:avLst/>
          </a:prstGeom>
          <a:extLst>
            <a:ext uri="{C572A759-6A51-4108-AA02-DFA0A04FC94B}">
              <ma14:wrappingTextBoxFlag xmlns:ma14="http://schemas.microsoft.com/office/mac/drawingml/2011/main" val="1"/>
            </a:ext>
          </a:extLst>
        </p:spPr>
        <p:txBody>
          <a:bodyPr/>
          <a:lstStyle>
            <a:lvl1pPr defTabSz="777240">
              <a:defRPr b="1" sz="1700"/>
            </a:lvl1pPr>
          </a:lstStyle>
          <a:p>
            <a:pPr/>
            <a:r>
              <a:t>Results RQ1</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1"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12" name="Google Shape;446;p62"/>
          <p:cNvSpPr txBox="1"/>
          <p:nvPr>
            <p:ph type="title"/>
          </p:nvPr>
        </p:nvSpPr>
        <p:spPr>
          <a:xfrm>
            <a:off x="384175" y="201612"/>
            <a:ext cx="11484000" cy="543001"/>
          </a:xfrm>
          <a:prstGeom prst="rect">
            <a:avLst/>
          </a:prstGeom>
        </p:spPr>
        <p:txBody>
          <a:bodyPr/>
          <a:lstStyle/>
          <a:p>
            <a:pPr/>
            <a:r>
              <a:t>Evaluation</a:t>
            </a:r>
          </a:p>
        </p:txBody>
      </p:sp>
      <p:sp>
        <p:nvSpPr>
          <p:cNvPr id="713" name="Google Shape;447;p62"/>
          <p:cNvSpPr txBox="1"/>
          <p:nvPr/>
        </p:nvSpPr>
        <p:spPr>
          <a:xfrm>
            <a:off x="4169850" y="1660712"/>
            <a:ext cx="3852301"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14:</a:t>
            </a:r>
            <a:r>
              <a:rPr>
                <a:solidFill>
                  <a:srgbClr val="000000"/>
                </a:solidFill>
              </a:rPr>
              <a:t> Summary of quiz data.</a:t>
            </a:r>
          </a:p>
        </p:txBody>
      </p:sp>
      <p:graphicFrame>
        <p:nvGraphicFramePr>
          <p:cNvPr id="714" name="Google Shape;448;p62"/>
          <p:cNvGraphicFramePr/>
          <p:nvPr/>
        </p:nvGraphicFramePr>
        <p:xfrm>
          <a:off x="4627062" y="2038412"/>
          <a:ext cx="2937876" cy="212485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28125"/>
                <a:gridCol w="809750"/>
              </a:tblGrid>
              <a:tr h="303550">
                <a:tc>
                  <a:txBody>
                    <a:bodyPr/>
                    <a:lstStyle/>
                    <a:p>
                      <a:pPr>
                        <a:defRPr sz="1800"/>
                      </a:pPr>
                      <a:r>
                        <a:rPr b="1" sz="1400"/>
                        <a:t>Global Statistics</a:t>
                      </a:r>
                    </a:p>
                  </a:txBody>
                  <a:tcPr marL="54000" marR="54000" marT="54000" marB="54000" anchor="ctr" anchorCtr="0" horzOverflow="overflow"/>
                </a:tc>
                <a:tc>
                  <a:txBody>
                    <a:bodyPr/>
                    <a:lstStyle/>
                    <a:p>
                      <a:pPr>
                        <a:defRPr sz="1800"/>
                      </a:pPr>
                      <a:r>
                        <a:rPr b="1" sz="1400"/>
                        <a:t>Values</a:t>
                      </a:r>
                    </a:p>
                  </a:txBody>
                  <a:tcPr marL="54000" marR="54000" marT="54000" marB="54000" anchor="ctr" anchorCtr="0" horzOverflow="overflow"/>
                </a:tc>
              </a:tr>
              <a:tr h="303550">
                <a:tc>
                  <a:txBody>
                    <a:bodyPr/>
                    <a:lstStyle/>
                    <a:p>
                      <a:pPr>
                        <a:defRPr sz="1800"/>
                      </a:pPr>
                      <a:r>
                        <a:rPr sz="1400"/>
                        <a:t>Quizzes Generated</a:t>
                      </a:r>
                    </a:p>
                  </a:txBody>
                  <a:tcPr marL="54000" marR="54000" marT="54000" marB="54000" anchor="ctr" anchorCtr="0" horzOverflow="overflow"/>
                </a:tc>
                <a:tc>
                  <a:txBody>
                    <a:bodyPr/>
                    <a:lstStyle/>
                    <a:p>
                      <a:pPr>
                        <a:defRPr sz="1800"/>
                      </a:pPr>
                      <a:r>
                        <a:rPr sz="1400"/>
                        <a:t>47</a:t>
                      </a:r>
                    </a:p>
                  </a:txBody>
                  <a:tcPr marL="54000" marR="54000" marT="54000" marB="54000" anchor="ctr" anchorCtr="0" horzOverflow="overflow"/>
                </a:tc>
              </a:tr>
              <a:tr h="303550">
                <a:tc>
                  <a:txBody>
                    <a:bodyPr/>
                    <a:lstStyle/>
                    <a:p>
                      <a:pPr>
                        <a:defRPr sz="1800"/>
                      </a:pPr>
                      <a:r>
                        <a:rPr sz="1400"/>
                        <a:t>Quizzes Completed</a:t>
                      </a:r>
                    </a:p>
                  </a:txBody>
                  <a:tcPr marL="54000" marR="54000" marT="54000" marB="54000" anchor="ctr" anchorCtr="0" horzOverflow="overflow"/>
                </a:tc>
                <a:tc>
                  <a:txBody>
                    <a:bodyPr/>
                    <a:lstStyle/>
                    <a:p>
                      <a:pPr>
                        <a:defRPr sz="1800"/>
                      </a:pPr>
                      <a:r>
                        <a:rPr sz="1400"/>
                        <a:t>20</a:t>
                      </a:r>
                    </a:p>
                  </a:txBody>
                  <a:tcPr marL="54000" marR="54000" marT="54000" marB="54000" anchor="ctr" anchorCtr="0" horzOverflow="overflow"/>
                </a:tc>
              </a:tr>
              <a:tr h="303550">
                <a:tc>
                  <a:txBody>
                    <a:bodyPr/>
                    <a:lstStyle/>
                    <a:p>
                      <a:pPr>
                        <a:defRPr sz="1800"/>
                      </a:pPr>
                      <a:r>
                        <a:rPr sz="1400"/>
                        <a:t>Questions Attempted</a:t>
                      </a:r>
                    </a:p>
                  </a:txBody>
                  <a:tcPr marL="54000" marR="54000" marT="54000" marB="54000" anchor="ctr" anchorCtr="0" horzOverflow="overflow"/>
                </a:tc>
                <a:tc>
                  <a:txBody>
                    <a:bodyPr/>
                    <a:lstStyle/>
                    <a:p>
                      <a:pPr>
                        <a:defRPr sz="1800"/>
                      </a:pPr>
                      <a:r>
                        <a:rPr sz="1400"/>
                        <a:t>56</a:t>
                      </a:r>
                    </a:p>
                  </a:txBody>
                  <a:tcPr marL="54000" marR="54000" marT="54000" marB="54000" anchor="ctr" anchorCtr="0" horzOverflow="overflow"/>
                </a:tc>
              </a:tr>
              <a:tr h="303550">
                <a:tc>
                  <a:txBody>
                    <a:bodyPr/>
                    <a:lstStyle/>
                    <a:p>
                      <a:pPr>
                        <a:defRPr sz="1800"/>
                      </a:pPr>
                      <a:r>
                        <a:rPr sz="1400"/>
                        <a:t>Questions Correct</a:t>
                      </a:r>
                    </a:p>
                  </a:txBody>
                  <a:tcPr marL="54000" marR="54000" marT="54000" marB="54000" anchor="ctr" anchorCtr="0" horzOverflow="overflow"/>
                </a:tc>
                <a:tc>
                  <a:txBody>
                    <a:bodyPr/>
                    <a:lstStyle/>
                    <a:p>
                      <a:pPr>
                        <a:defRPr sz="1800"/>
                      </a:pPr>
                      <a:r>
                        <a:rPr sz="1400"/>
                        <a:t>35</a:t>
                      </a:r>
                    </a:p>
                  </a:txBody>
                  <a:tcPr marL="54000" marR="54000" marT="54000" marB="54000" anchor="ctr" anchorCtr="0" horzOverflow="overflow"/>
                </a:tc>
              </a:tr>
              <a:tr h="303550">
                <a:tc>
                  <a:txBody>
                    <a:bodyPr/>
                    <a:lstStyle/>
                    <a:p>
                      <a:pPr>
                        <a:defRPr sz="1800"/>
                      </a:pPr>
                      <a:r>
                        <a:rPr sz="1400"/>
                        <a:t>Completion Rate</a:t>
                      </a:r>
                    </a:p>
                  </a:txBody>
                  <a:tcPr marL="54000" marR="54000" marT="54000" marB="54000" anchor="ctr" anchorCtr="0" horzOverflow="overflow"/>
                </a:tc>
                <a:tc>
                  <a:txBody>
                    <a:bodyPr/>
                    <a:lstStyle/>
                    <a:p>
                      <a:pPr>
                        <a:defRPr sz="1800"/>
                      </a:pPr>
                      <a:r>
                        <a:rPr sz="1400"/>
                        <a:t>42.55%</a:t>
                      </a:r>
                    </a:p>
                  </a:txBody>
                  <a:tcPr marL="54000" marR="54000" marT="54000" marB="54000" anchor="ctr" anchorCtr="0" horzOverflow="overflow"/>
                </a:tc>
              </a:tr>
              <a:tr h="303550">
                <a:tc>
                  <a:txBody>
                    <a:bodyPr/>
                    <a:lstStyle/>
                    <a:p>
                      <a:pPr>
                        <a:defRPr sz="1800"/>
                      </a:pPr>
                      <a:r>
                        <a:rPr sz="1400"/>
                        <a:t>Accuracy Rate</a:t>
                      </a:r>
                    </a:p>
                  </a:txBody>
                  <a:tcPr marL="54000" marR="54000" marT="54000" marB="54000" anchor="ctr" anchorCtr="0" horzOverflow="overflow"/>
                </a:tc>
                <a:tc>
                  <a:txBody>
                    <a:bodyPr/>
                    <a:lstStyle/>
                    <a:p>
                      <a:pPr>
                        <a:defRPr sz="1800"/>
                      </a:pPr>
                      <a:r>
                        <a:rPr sz="1400"/>
                        <a:t>62.50%</a:t>
                      </a:r>
                    </a:p>
                  </a:txBody>
                  <a:tcPr marL="54000" marR="54000" marT="54000" marB="54000" anchor="ctr" anchorCtr="0" horzOverflow="overflow"/>
                </a:tc>
              </a:tr>
            </a:tbl>
          </a:graphicData>
        </a:graphic>
      </p:graphicFrame>
      <p:sp>
        <p:nvSpPr>
          <p:cNvPr id="715" name="Google Shape;449;p62"/>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Quiz Data</a:t>
            </a:r>
          </a:p>
        </p:txBody>
      </p:sp>
      <p:sp>
        <p:nvSpPr>
          <p:cNvPr id="716" name="Google Shape;450;p62"/>
          <p:cNvSpPr txBox="1"/>
          <p:nvPr/>
        </p:nvSpPr>
        <p:spPr>
          <a:xfrm>
            <a:off x="675974" y="4620774"/>
            <a:ext cx="5091902" cy="757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5900" indent="-215900">
              <a:lnSpc>
                <a:spcPct val="150000"/>
              </a:lnSpc>
              <a:buClr>
                <a:srgbClr val="00549F"/>
              </a:buClr>
              <a:buSzPts val="1800"/>
              <a:buFont typeface="Arial"/>
              <a:buChar char="➔"/>
              <a:defRPr sz="1800"/>
            </a:pPr>
            <a:r>
              <a:t> Low quiz feature engagement</a:t>
            </a:r>
          </a:p>
          <a:p>
            <a:pPr marL="215900" indent="-215900">
              <a:lnSpc>
                <a:spcPct val="150000"/>
              </a:lnSpc>
              <a:buClr>
                <a:srgbClr val="00549F"/>
              </a:buClr>
              <a:buSzPts val="1800"/>
              <a:buFont typeface="Arial"/>
              <a:buChar char="➔"/>
              <a:defRPr sz="1800"/>
            </a:pPr>
            <a:r>
              <a:t> </a:t>
            </a:r>
            <a:r>
              <a:t>Possible reason: UI</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8"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19" name="Google Shape;455;p63"/>
          <p:cNvSpPr txBox="1"/>
          <p:nvPr>
            <p:ph type="title"/>
          </p:nvPr>
        </p:nvSpPr>
        <p:spPr>
          <a:xfrm>
            <a:off x="384175" y="201612"/>
            <a:ext cx="11484000" cy="543001"/>
          </a:xfrm>
          <a:prstGeom prst="rect">
            <a:avLst/>
          </a:prstGeom>
        </p:spPr>
        <p:txBody>
          <a:bodyPr/>
          <a:lstStyle/>
          <a:p>
            <a:pPr/>
            <a:r>
              <a:t>Evaluation</a:t>
            </a:r>
          </a:p>
        </p:txBody>
      </p:sp>
      <p:graphicFrame>
        <p:nvGraphicFramePr>
          <p:cNvPr id="720" name="Google Shape;456;p63"/>
          <p:cNvGraphicFramePr/>
          <p:nvPr/>
        </p:nvGraphicFramePr>
        <p:xfrm>
          <a:off x="7120425" y="2730674"/>
          <a:ext cx="3111426" cy="197447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43825"/>
                <a:gridCol w="741975"/>
                <a:gridCol w="725625"/>
              </a:tblGrid>
              <a:tr h="329100">
                <a:tc>
                  <a:txBody>
                    <a:bodyPr/>
                    <a:lstStyle/>
                    <a:p>
                      <a:pPr>
                        <a:defRPr sz="1800"/>
                      </a:pPr>
                      <a:r>
                        <a:rPr b="1" sz="1400"/>
                        <a:t>Writing Element</a:t>
                      </a:r>
                    </a:p>
                  </a:txBody>
                  <a:tcPr marL="54000" marR="54000" marT="54000" marB="54000" anchor="ctr" anchorCtr="0" horzOverflow="overflow"/>
                </a:tc>
                <a:tc>
                  <a:txBody>
                    <a:bodyPr/>
                    <a:lstStyle/>
                    <a:p>
                      <a:pPr>
                        <a:defRPr sz="1800"/>
                      </a:pPr>
                      <a:r>
                        <a:rPr b="1" i="1" sz="1400"/>
                        <a:t>F</a:t>
                      </a:r>
                    </a:p>
                  </a:txBody>
                  <a:tcPr marL="54000" marR="54000" marT="54000" marB="54000" anchor="ctr" anchorCtr="0" horzOverflow="overflow"/>
                </a:tc>
                <a:tc>
                  <a:txBody>
                    <a:bodyPr/>
                    <a:lstStyle/>
                    <a:p>
                      <a:pPr>
                        <a:defRPr sz="1800"/>
                      </a:pPr>
                      <a:r>
                        <a:rPr b="1" sz="1400"/>
                        <a:t>Sig.</a:t>
                      </a:r>
                    </a:p>
                  </a:txBody>
                  <a:tcPr marL="54000" marR="54000" marT="54000" marB="54000" anchor="ctr" anchorCtr="0" horzOverflow="overflow"/>
                </a:tc>
              </a:tr>
              <a:tr h="142825">
                <a:tc rowSpan="2">
                  <a:txBody>
                    <a:bodyPr/>
                    <a:lstStyle/>
                    <a:p>
                      <a:pPr>
                        <a:defRPr sz="1800"/>
                      </a:pPr>
                      <a:r>
                        <a:rPr sz="1400"/>
                        <a:t>Grammar</a:t>
                      </a:r>
                    </a:p>
                  </a:txBody>
                  <a:tcPr marL="54000" marR="54000" marT="54000" marB="54000" anchor="ctr" anchorCtr="0" horzOverflow="overflow"/>
                </a:tc>
                <a:tc rowSpan="2">
                  <a:txBody>
                    <a:bodyPr/>
                    <a:lstStyle/>
                    <a:p>
                      <a:pPr>
                        <a:defRPr sz="1800"/>
                      </a:pPr>
                      <a:r>
                        <a:rPr sz="1400"/>
                        <a:t>0.699</a:t>
                      </a:r>
                    </a:p>
                  </a:txBody>
                  <a:tcPr marL="54000" marR="54000" marT="54000" marB="54000" anchor="ctr" anchorCtr="0" horzOverflow="overflow"/>
                </a:tc>
                <a:tc rowSpan="2">
                  <a:txBody>
                    <a:bodyPr/>
                    <a:lstStyle/>
                    <a:p>
                      <a:pPr>
                        <a:defRPr sz="1800"/>
                      </a:pPr>
                      <a:r>
                        <a:rPr sz="1400"/>
                        <a:t>0.520</a:t>
                      </a:r>
                    </a:p>
                  </a:txBody>
                  <a:tcPr marL="54000" marR="54000" marT="54000" marB="54000" anchor="ctr" anchorCtr="0" horzOverflow="overflow"/>
                </a:tc>
              </a:tr>
              <a:tr h="186250">
                <a:tc vMerge="1">
                  <a:tcPr/>
                </a:tc>
                <a:tc vMerge="1">
                  <a:tcPr/>
                </a:tc>
                <a:tc vMerge="1">
                  <a:tcPr/>
                </a:tc>
              </a:tr>
              <a:tr h="142825">
                <a:tc rowSpan="2">
                  <a:txBody>
                    <a:bodyPr/>
                    <a:lstStyle/>
                    <a:p>
                      <a:pPr>
                        <a:defRPr sz="1800"/>
                      </a:pPr>
                      <a:r>
                        <a:rPr sz="1400"/>
                        <a:t>Vocabulary</a:t>
                      </a:r>
                    </a:p>
                  </a:txBody>
                  <a:tcPr marL="54000" marR="54000" marT="54000" marB="54000" anchor="ctr" anchorCtr="0" horzOverflow="overflow"/>
                </a:tc>
                <a:tc rowSpan="2">
                  <a:txBody>
                    <a:bodyPr/>
                    <a:lstStyle/>
                    <a:p>
                      <a:pPr>
                        <a:defRPr sz="1800"/>
                      </a:pPr>
                      <a:r>
                        <a:rPr sz="1400"/>
                        <a:t>0.683</a:t>
                      </a:r>
                    </a:p>
                  </a:txBody>
                  <a:tcPr marL="54000" marR="54000" marT="54000" marB="54000" anchor="ctr" anchorCtr="0" horzOverflow="overflow"/>
                </a:tc>
                <a:tc rowSpan="2">
                  <a:txBody>
                    <a:bodyPr/>
                    <a:lstStyle/>
                    <a:p>
                      <a:pPr>
                        <a:defRPr sz="1800"/>
                      </a:pPr>
                      <a:r>
                        <a:rPr sz="1400"/>
                        <a:t>0.527</a:t>
                      </a:r>
                    </a:p>
                  </a:txBody>
                  <a:tcPr marL="54000" marR="54000" marT="54000" marB="54000" anchor="ctr" anchorCtr="0" horzOverflow="overflow"/>
                </a:tc>
              </a:tr>
              <a:tr h="186250">
                <a:tc vMerge="1">
                  <a:tcPr/>
                </a:tc>
                <a:tc vMerge="1">
                  <a:tcPr/>
                </a:tc>
                <a:tc vMerge="1">
                  <a:tcPr/>
                </a:tc>
              </a:tr>
              <a:tr h="148175">
                <a:tc rowSpan="2">
                  <a:txBody>
                    <a:bodyPr/>
                    <a:lstStyle/>
                    <a:p>
                      <a:pPr>
                        <a:defRPr sz="1800"/>
                      </a:pPr>
                      <a:r>
                        <a:rPr sz="1400"/>
                        <a:t>Organization</a:t>
                      </a:r>
                    </a:p>
                  </a:txBody>
                  <a:tcPr marL="54000" marR="54000" marT="54000" marB="54000" anchor="ctr" anchorCtr="0" horzOverflow="overflow"/>
                </a:tc>
                <a:tc rowSpan="2">
                  <a:txBody>
                    <a:bodyPr/>
                    <a:lstStyle/>
                    <a:p>
                      <a:pPr>
                        <a:defRPr sz="1800"/>
                      </a:pPr>
                      <a:r>
                        <a:rPr sz="1400"/>
                        <a:t>0.144</a:t>
                      </a:r>
                    </a:p>
                  </a:txBody>
                  <a:tcPr marL="54000" marR="54000" marT="54000" marB="54000" anchor="ctr" anchorCtr="0" horzOverflow="overflow"/>
                </a:tc>
                <a:tc rowSpan="2">
                  <a:txBody>
                    <a:bodyPr/>
                    <a:lstStyle/>
                    <a:p>
                      <a:pPr>
                        <a:defRPr sz="1800"/>
                      </a:pPr>
                      <a:r>
                        <a:rPr sz="1400"/>
                        <a:t>0.868</a:t>
                      </a:r>
                    </a:p>
                  </a:txBody>
                  <a:tcPr marL="54000" marR="54000" marT="54000" marB="54000" anchor="ctr" anchorCtr="0" horzOverflow="overflow"/>
                </a:tc>
              </a:tr>
              <a:tr h="180900">
                <a:tc vMerge="1">
                  <a:tcPr/>
                </a:tc>
                <a:tc vMerge="1">
                  <a:tcPr/>
                </a:tc>
                <a:tc vMerge="1">
                  <a:tcPr/>
                </a:tc>
              </a:tr>
              <a:tr h="142825">
                <a:tc rowSpan="2">
                  <a:txBody>
                    <a:bodyPr/>
                    <a:lstStyle/>
                    <a:p>
                      <a:pPr>
                        <a:defRPr sz="1800"/>
                      </a:pPr>
                      <a:r>
                        <a:rPr sz="1400"/>
                        <a:t>Coherence</a:t>
                      </a:r>
                    </a:p>
                  </a:txBody>
                  <a:tcPr marL="54000" marR="54000" marT="54000" marB="54000" anchor="ctr" anchorCtr="0" horzOverflow="overflow"/>
                </a:tc>
                <a:tc rowSpan="2">
                  <a:txBody>
                    <a:bodyPr/>
                    <a:lstStyle/>
                    <a:p>
                      <a:pPr>
                        <a:defRPr sz="1800"/>
                      </a:pPr>
                      <a:r>
                        <a:rPr sz="1400"/>
                        <a:t>0.010</a:t>
                      </a:r>
                    </a:p>
                  </a:txBody>
                  <a:tcPr marL="54000" marR="54000" marT="54000" marB="54000" anchor="ctr" anchorCtr="0" horzOverflow="overflow"/>
                </a:tc>
                <a:tc rowSpan="2">
                  <a:txBody>
                    <a:bodyPr/>
                    <a:lstStyle/>
                    <a:p>
                      <a:pPr>
                        <a:defRPr sz="1800"/>
                      </a:pPr>
                      <a:r>
                        <a:rPr sz="1400"/>
                        <a:t>0.990</a:t>
                      </a:r>
                    </a:p>
                  </a:txBody>
                  <a:tcPr marL="54000" marR="54000" marT="54000" marB="54000" anchor="ctr" anchorCtr="0" horzOverflow="overflow"/>
                </a:tc>
              </a:tr>
              <a:tr h="186250">
                <a:tc vMerge="1">
                  <a:tcPr/>
                </a:tc>
                <a:tc vMerge="1">
                  <a:tcPr/>
                </a:tc>
                <a:tc vMerge="1">
                  <a:tcPr/>
                </a:tc>
              </a:tr>
              <a:tr h="142825">
                <a:tc rowSpan="2">
                  <a:txBody>
                    <a:bodyPr/>
                    <a:lstStyle/>
                    <a:p>
                      <a:pPr>
                        <a:defRPr sz="1800"/>
                      </a:pPr>
                      <a:r>
                        <a:rPr sz="1400"/>
                        <a:t>Writing Style</a:t>
                      </a:r>
                    </a:p>
                  </a:txBody>
                  <a:tcPr marL="54000" marR="54000" marT="54000" marB="54000" anchor="ctr" anchorCtr="0" horzOverflow="overflow"/>
                </a:tc>
                <a:tc rowSpan="2">
                  <a:txBody>
                    <a:bodyPr/>
                    <a:lstStyle/>
                    <a:p>
                      <a:pPr>
                        <a:defRPr sz="1800"/>
                      </a:pPr>
                      <a:r>
                        <a:rPr sz="1400"/>
                        <a:t>0.414</a:t>
                      </a:r>
                    </a:p>
                  </a:txBody>
                  <a:tcPr marL="54000" marR="54000" marT="54000" marB="54000" anchor="ctr" anchorCtr="0" horzOverflow="overflow"/>
                </a:tc>
                <a:tc rowSpan="2">
                  <a:txBody>
                    <a:bodyPr/>
                    <a:lstStyle/>
                    <a:p>
                      <a:pPr>
                        <a:defRPr sz="1800"/>
                      </a:pPr>
                      <a:r>
                        <a:rPr sz="1400"/>
                        <a:t>0.672</a:t>
                      </a:r>
                    </a:p>
                  </a:txBody>
                  <a:tcPr marL="54000" marR="54000" marT="54000" marB="54000" anchor="ctr" anchorCtr="0" horzOverflow="overflow"/>
                </a:tc>
              </a:tr>
              <a:tr h="186250">
                <a:tc vMerge="1">
                  <a:tcPr/>
                </a:tc>
                <a:tc vMerge="1">
                  <a:tcPr/>
                </a:tc>
                <a:tc vMerge="1">
                  <a:tcPr/>
                </a:tc>
              </a:tr>
            </a:tbl>
          </a:graphicData>
        </a:graphic>
      </p:graphicFrame>
      <p:sp>
        <p:nvSpPr>
          <p:cNvPr id="721" name="Google Shape;457;p63"/>
          <p:cNvSpPr txBox="1"/>
          <p:nvPr/>
        </p:nvSpPr>
        <p:spPr>
          <a:xfrm>
            <a:off x="7120487" y="2152839"/>
            <a:ext cx="3111301" cy="5834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15:</a:t>
            </a:r>
            <a:r>
              <a:rPr>
                <a:solidFill>
                  <a:srgbClr val="000000"/>
                </a:solidFill>
              </a:rPr>
              <a:t> ANOVA results based on quiz completion rate.</a:t>
            </a:r>
          </a:p>
        </p:txBody>
      </p:sp>
      <p:sp>
        <p:nvSpPr>
          <p:cNvPr id="722" name="Google Shape;458;p63"/>
          <p:cNvSpPr txBox="1"/>
          <p:nvPr>
            <p:ph type="body" sz="half" idx="1"/>
          </p:nvPr>
        </p:nvSpPr>
        <p:spPr>
          <a:xfrm>
            <a:off x="384174" y="1663050"/>
            <a:ext cx="6070202" cy="3486900"/>
          </a:xfrm>
          <a:prstGeom prst="rect">
            <a:avLst/>
          </a:prstGeom>
        </p:spPr>
        <p:txBody>
          <a:bodyPr/>
          <a:lstStyle/>
          <a:p>
            <a:pPr marL="215900" indent="-215900">
              <a:lnSpc>
                <a:spcPct val="150000"/>
              </a:lnSpc>
            </a:pPr>
            <a:r>
              <a:t>Relationship between the quiz completion rates and changes in test scores</a:t>
            </a:r>
          </a:p>
          <a:p>
            <a:pPr marL="215900" indent="-215900">
              <a:lnSpc>
                <a:spcPct val="150000"/>
              </a:lnSpc>
              <a:defRPr b="1"/>
            </a:pPr>
            <a:r>
              <a:t>Groups</a:t>
            </a:r>
            <a:r>
              <a:rPr b="0"/>
              <a:t> by quiz completion rate</a:t>
            </a:r>
            <a:endParaRPr b="0"/>
          </a:p>
          <a:p>
            <a:pPr lvl="1" marL="431800" indent="-215900">
              <a:lnSpc>
                <a:spcPct val="150000"/>
              </a:lnSpc>
              <a:buSzPts val="1600"/>
              <a:buFont typeface="Helvetica"/>
              <a:defRPr sz="1600"/>
            </a:pPr>
            <a:r>
              <a:t>Low (&lt;25th percentile), Medium (25th-75th), High (&gt;75th) [Wellington et al., 2015]</a:t>
            </a:r>
          </a:p>
          <a:p>
            <a:pPr marL="215900" indent="-215900">
              <a:lnSpc>
                <a:spcPct val="150000"/>
              </a:lnSpc>
              <a:defRPr b="1"/>
            </a:pPr>
            <a:r>
              <a:t>One-way ANOVA</a:t>
            </a:r>
          </a:p>
          <a:p>
            <a:pPr lvl="1" marL="431800" indent="-215900">
              <a:lnSpc>
                <a:spcPct val="150000"/>
              </a:lnSpc>
              <a:buSzPts val="1600"/>
              <a:buFont typeface="Helvetica"/>
              <a:defRPr sz="1600"/>
            </a:pPr>
            <a:r>
              <a:t>No significant differences (Sig. &gt; 0.05)</a:t>
            </a:r>
          </a:p>
          <a:p>
            <a:pPr marL="215900" indent="-215900">
              <a:lnSpc>
                <a:spcPct val="150000"/>
              </a:lnSpc>
            </a:pPr>
            <a:r>
              <a:t>Possible reason: Low engagement</a:t>
            </a:r>
          </a:p>
        </p:txBody>
      </p:sp>
      <p:sp>
        <p:nvSpPr>
          <p:cNvPr id="723" name="Google Shape;459;p63"/>
          <p:cNvSpPr txBox="1"/>
          <p:nvPr>
            <p:ph type="body" idx="21"/>
          </p:nvPr>
        </p:nvSpPr>
        <p:spPr>
          <a:xfrm>
            <a:off x="384000" y="1075800"/>
            <a:ext cx="11484000" cy="252001"/>
          </a:xfrm>
          <a:prstGeom prst="rect">
            <a:avLst/>
          </a:prstGeom>
          <a:extLst>
            <a:ext uri="{C572A759-6A51-4108-AA02-DFA0A04FC94B}">
              <ma14:wrappingTextBoxFlag xmlns:ma14="http://schemas.microsoft.com/office/mac/drawingml/2011/main" val="1"/>
            </a:ext>
          </a:extLst>
        </p:spPr>
        <p:txBody>
          <a:bodyPr/>
          <a:lstStyle>
            <a:lvl1pPr defTabSz="777240">
              <a:defRPr b="1" sz="1700"/>
            </a:lvl1pPr>
          </a:lstStyle>
          <a:p>
            <a:pPr/>
            <a:r>
              <a:t>Results RQ2</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5"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26" name="Google Shape;464;p64"/>
          <p:cNvSpPr txBox="1"/>
          <p:nvPr>
            <p:ph type="title"/>
          </p:nvPr>
        </p:nvSpPr>
        <p:spPr>
          <a:xfrm>
            <a:off x="384175" y="201612"/>
            <a:ext cx="11484000" cy="543001"/>
          </a:xfrm>
          <a:prstGeom prst="rect">
            <a:avLst/>
          </a:prstGeom>
        </p:spPr>
        <p:txBody>
          <a:bodyPr/>
          <a:lstStyle/>
          <a:p>
            <a:pPr/>
            <a:r>
              <a:t>Evaluation - Review Summary</a:t>
            </a:r>
          </a:p>
        </p:txBody>
      </p:sp>
      <p:sp>
        <p:nvSpPr>
          <p:cNvPr id="727" name="Google Shape;465;p64"/>
          <p:cNvSpPr txBox="1"/>
          <p:nvPr/>
        </p:nvSpPr>
        <p:spPr>
          <a:xfrm>
            <a:off x="4200025" y="1748775"/>
            <a:ext cx="38523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16:</a:t>
            </a:r>
            <a:r>
              <a:rPr>
                <a:solidFill>
                  <a:srgbClr val="000000"/>
                </a:solidFill>
              </a:rPr>
              <a:t> Summary of review data.</a:t>
            </a:r>
          </a:p>
        </p:txBody>
      </p:sp>
      <p:graphicFrame>
        <p:nvGraphicFramePr>
          <p:cNvPr id="728" name="Google Shape;466;p64"/>
          <p:cNvGraphicFramePr/>
          <p:nvPr/>
        </p:nvGraphicFramePr>
        <p:xfrm>
          <a:off x="3946638" y="2134874"/>
          <a:ext cx="4359076" cy="12142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524725"/>
                <a:gridCol w="834350"/>
              </a:tblGrid>
              <a:tr h="303550">
                <a:tc>
                  <a:txBody>
                    <a:bodyPr/>
                    <a:lstStyle/>
                    <a:p>
                      <a:pPr>
                        <a:defRPr sz="1800"/>
                      </a:pPr>
                      <a:r>
                        <a:rPr b="1" sz="1400"/>
                        <a:t>Global Review Data</a:t>
                      </a:r>
                    </a:p>
                  </a:txBody>
                  <a:tcPr marL="54000" marR="54000" marT="54000" marB="54000" anchor="ctr" anchorCtr="0" horzOverflow="overflow"/>
                </a:tc>
                <a:tc>
                  <a:txBody>
                    <a:bodyPr/>
                    <a:lstStyle/>
                    <a:p>
                      <a:pPr>
                        <a:defRPr sz="1800"/>
                      </a:pPr>
                      <a:r>
                        <a:rPr b="1" sz="1400"/>
                        <a:t>Values</a:t>
                      </a:r>
                    </a:p>
                  </a:txBody>
                  <a:tcPr marL="54000" marR="54000" marT="54000" marB="54000" anchor="ctr" anchorCtr="0" horzOverflow="overflow"/>
                </a:tc>
              </a:tr>
              <a:tr h="303550">
                <a:tc>
                  <a:txBody>
                    <a:bodyPr/>
                    <a:lstStyle/>
                    <a:p>
                      <a:pPr>
                        <a:defRPr sz="1800"/>
                      </a:pPr>
                      <a:r>
                        <a:rPr sz="1400"/>
                        <a:t>Total Reviews Generated Across All Users</a:t>
                      </a:r>
                    </a:p>
                  </a:txBody>
                  <a:tcPr marL="54000" marR="54000" marT="54000" marB="54000" anchor="ctr" anchorCtr="0" horzOverflow="overflow"/>
                </a:tc>
                <a:tc>
                  <a:txBody>
                    <a:bodyPr/>
                    <a:lstStyle/>
                    <a:p>
                      <a:pPr>
                        <a:defRPr sz="1800"/>
                      </a:pPr>
                      <a:r>
                        <a:rPr sz="1400"/>
                        <a:t>78</a:t>
                      </a:r>
                    </a:p>
                  </a:txBody>
                  <a:tcPr marL="54000" marR="54000" marT="54000" marB="54000" anchor="ctr" anchorCtr="0" horzOverflow="overflow"/>
                </a:tc>
              </a:tr>
              <a:tr h="303550">
                <a:tc>
                  <a:txBody>
                    <a:bodyPr/>
                    <a:lstStyle/>
                    <a:p>
                      <a:pPr>
                        <a:defRPr sz="1800"/>
                      </a:pPr>
                      <a:r>
                        <a:rPr sz="1400"/>
                        <a:t>Average Reviews Generated per User</a:t>
                      </a:r>
                    </a:p>
                  </a:txBody>
                  <a:tcPr marL="54000" marR="54000" marT="54000" marB="54000" anchor="ctr" anchorCtr="0" horzOverflow="overflow"/>
                </a:tc>
                <a:tc>
                  <a:txBody>
                    <a:bodyPr/>
                    <a:lstStyle/>
                    <a:p>
                      <a:pPr>
                        <a:defRPr sz="1800"/>
                      </a:pPr>
                      <a:r>
                        <a:rPr sz="1400"/>
                        <a:t>4.88</a:t>
                      </a:r>
                    </a:p>
                  </a:txBody>
                  <a:tcPr marL="54000" marR="54000" marT="54000" marB="54000" anchor="ctr" anchorCtr="0" horzOverflow="overflow"/>
                </a:tc>
              </a:tr>
              <a:tr h="303550">
                <a:tc>
                  <a:txBody>
                    <a:bodyPr/>
                    <a:lstStyle/>
                    <a:p>
                      <a:pPr>
                        <a:defRPr sz="1800"/>
                      </a:pPr>
                      <a:r>
                        <a:rPr sz="1400"/>
                        <a:t>Average Reviews Generated per Session</a:t>
                      </a:r>
                    </a:p>
                  </a:txBody>
                  <a:tcPr marL="54000" marR="54000" marT="54000" marB="54000" anchor="ctr" anchorCtr="0" horzOverflow="overflow"/>
                </a:tc>
                <a:tc>
                  <a:txBody>
                    <a:bodyPr/>
                    <a:lstStyle/>
                    <a:p>
                      <a:pPr>
                        <a:defRPr sz="1800"/>
                      </a:pPr>
                      <a:r>
                        <a:rPr sz="1400"/>
                        <a:t>1.77</a:t>
                      </a:r>
                    </a:p>
                  </a:txBody>
                  <a:tcPr marL="54000" marR="54000" marT="54000" marB="54000" anchor="ctr" anchorCtr="0" horzOverflow="overflow"/>
                </a:tc>
              </a:tr>
            </a:tbl>
          </a:graphicData>
        </a:graphic>
      </p:graphicFrame>
      <p:sp>
        <p:nvSpPr>
          <p:cNvPr id="729" name="Google Shape;467;p64"/>
          <p:cNvSpPr txBox="1"/>
          <p:nvPr>
            <p:ph type="body" sz="quarter" idx="1"/>
          </p:nvPr>
        </p:nvSpPr>
        <p:spPr>
          <a:xfrm>
            <a:off x="536574" y="4020949"/>
            <a:ext cx="5091902" cy="764701"/>
          </a:xfrm>
          <a:prstGeom prst="rect">
            <a:avLst/>
          </a:prstGeom>
        </p:spPr>
        <p:txBody>
          <a:bodyPr/>
          <a:lstStyle/>
          <a:p>
            <a:pPr marL="215900" indent="-215900">
              <a:lnSpc>
                <a:spcPct val="150000"/>
              </a:lnSpc>
              <a:buChar char="➔"/>
            </a:pPr>
            <a:r>
              <a:t> Moderate review feature engagement</a:t>
            </a:r>
          </a:p>
          <a:p>
            <a:pPr marL="215900" indent="-215900">
              <a:lnSpc>
                <a:spcPct val="150000"/>
              </a:lnSpc>
              <a:buChar char="➔"/>
            </a:pPr>
            <a:r>
              <a:t> Possible reason: UI</a:t>
            </a:r>
          </a:p>
        </p:txBody>
      </p:sp>
      <p:sp>
        <p:nvSpPr>
          <p:cNvPr id="730" name="Google Shape;468;p64"/>
          <p:cNvSpPr txBox="1"/>
          <p:nvPr>
            <p:ph type="body" idx="21"/>
          </p:nvPr>
        </p:nvSpPr>
        <p:spPr>
          <a:xfrm>
            <a:off x="384000" y="1075800"/>
            <a:ext cx="11484000" cy="252001"/>
          </a:xfrm>
          <a:prstGeom prst="rect">
            <a:avLst/>
          </a:prstGeom>
          <a:extLst>
            <a:ext uri="{C572A759-6A51-4108-AA02-DFA0A04FC94B}">
              <ma14:wrappingTextBoxFlag xmlns:ma14="http://schemas.microsoft.com/office/mac/drawingml/2011/main" val="1"/>
            </a:ext>
          </a:extLst>
        </p:spPr>
        <p:txBody>
          <a:bodyPr/>
          <a:lstStyle>
            <a:lvl1pPr defTabSz="777240">
              <a:defRPr b="1" sz="1700"/>
            </a:lvl1pPr>
          </a:lstStyle>
          <a:p>
            <a:pPr/>
            <a:r>
              <a:t>Review Data</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2"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33" name="Google Shape;473;p65"/>
          <p:cNvSpPr txBox="1"/>
          <p:nvPr>
            <p:ph type="title"/>
          </p:nvPr>
        </p:nvSpPr>
        <p:spPr>
          <a:xfrm>
            <a:off x="384175" y="201612"/>
            <a:ext cx="11484000" cy="543001"/>
          </a:xfrm>
          <a:prstGeom prst="rect">
            <a:avLst/>
          </a:prstGeom>
        </p:spPr>
        <p:txBody>
          <a:bodyPr/>
          <a:lstStyle/>
          <a:p>
            <a:pPr/>
            <a:r>
              <a:t>Evaluation</a:t>
            </a:r>
          </a:p>
        </p:txBody>
      </p:sp>
      <p:graphicFrame>
        <p:nvGraphicFramePr>
          <p:cNvPr id="734" name="Google Shape;474;p65"/>
          <p:cNvGraphicFramePr/>
          <p:nvPr/>
        </p:nvGraphicFramePr>
        <p:xfrm>
          <a:off x="6608099" y="2736438"/>
          <a:ext cx="4719876" cy="1300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94075"/>
                <a:gridCol w="1496150"/>
                <a:gridCol w="963550"/>
                <a:gridCol w="666100"/>
              </a:tblGrid>
              <a:tr h="216800">
                <a:tc>
                  <a:txBody>
                    <a:bodyPr/>
                    <a:lstStyle/>
                    <a:p>
                      <a:pPr>
                        <a:defRPr sz="1800"/>
                      </a:pPr>
                      <a:r>
                        <a:rPr b="1" sz="1400"/>
                        <a:t>Writing Element</a:t>
                      </a:r>
                    </a:p>
                  </a:txBody>
                  <a:tcPr marL="54000" marR="54000" marT="54000" marB="54000" anchor="ctr" anchorCtr="0" horzOverflow="overflow"/>
                </a:tc>
                <a:tc>
                  <a:txBody>
                    <a:bodyPr/>
                    <a:lstStyle/>
                    <a:p>
                      <a:pPr>
                        <a:defRPr sz="1800"/>
                      </a:pPr>
                      <a:r>
                        <a:rPr b="1" sz="1400"/>
                        <a:t>Test Type</a:t>
                      </a:r>
                    </a:p>
                  </a:txBody>
                  <a:tcPr marL="54000" marR="54000" marT="54000" marB="54000" anchor="ctr" anchorCtr="0" horzOverflow="overflow"/>
                </a:tc>
                <a:tc>
                  <a:txBody>
                    <a:bodyPr/>
                    <a:lstStyle/>
                    <a:p>
                      <a:pPr>
                        <a:defRPr sz="1800"/>
                      </a:pPr>
                      <a:r>
                        <a:rPr b="1" i="1" sz="1400"/>
                        <a:t>F/H</a:t>
                      </a:r>
                    </a:p>
                  </a:txBody>
                  <a:tcPr marL="54000" marR="54000" marT="54000" marB="54000" anchor="ctr" anchorCtr="0" horzOverflow="overflow"/>
                </a:tc>
                <a:tc>
                  <a:txBody>
                    <a:bodyPr/>
                    <a:lstStyle/>
                    <a:p>
                      <a:pPr>
                        <a:defRPr sz="1800"/>
                      </a:pPr>
                      <a:r>
                        <a:rPr b="1" sz="1400"/>
                        <a:t>Sig.</a:t>
                      </a:r>
                    </a:p>
                  </a:txBody>
                  <a:tcPr marL="54000" marR="54000" marT="54000" marB="54000" anchor="ctr" anchorCtr="0" horzOverflow="overflow"/>
                </a:tc>
              </a:tr>
              <a:tr h="101600">
                <a:tc rowSpan="2">
                  <a:txBody>
                    <a:bodyPr/>
                    <a:lstStyle/>
                    <a:p>
                      <a:pPr>
                        <a:defRPr sz="1800"/>
                      </a:pPr>
                      <a:r>
                        <a:rPr sz="1400"/>
                        <a:t>Grammar</a:t>
                      </a:r>
                    </a:p>
                  </a:txBody>
                  <a:tcPr marL="54000" marR="54000" marT="54000" marB="54000" anchor="ctr" anchorCtr="0" horzOverflow="overflow"/>
                </a:tc>
                <a:tc rowSpan="2">
                  <a:txBody>
                    <a:bodyPr/>
                    <a:lstStyle/>
                    <a:p>
                      <a:pPr>
                        <a:defRPr sz="1800"/>
                      </a:pPr>
                      <a:r>
                        <a:rPr sz="1400"/>
                        <a:t>ANOVA</a:t>
                      </a:r>
                    </a:p>
                  </a:txBody>
                  <a:tcPr marL="54000" marR="54000" marT="54000" marB="54000" anchor="ctr" anchorCtr="0" horzOverflow="overflow"/>
                </a:tc>
                <a:tc rowSpan="2">
                  <a:txBody>
                    <a:bodyPr/>
                    <a:lstStyle/>
                    <a:p>
                      <a:pPr>
                        <a:defRPr sz="1800"/>
                      </a:pPr>
                      <a:r>
                        <a:rPr sz="1400"/>
                        <a:t>F = 1.392</a:t>
                      </a:r>
                    </a:p>
                  </a:txBody>
                  <a:tcPr marL="54000" marR="54000" marT="54000" marB="54000" anchor="ctr" anchorCtr="0" horzOverflow="overflow"/>
                </a:tc>
                <a:tc rowSpan="2">
                  <a:txBody>
                    <a:bodyPr/>
                    <a:lstStyle/>
                    <a:p>
                      <a:pPr>
                        <a:defRPr sz="1800"/>
                      </a:pPr>
                      <a:r>
                        <a:rPr sz="1400"/>
                        <a:t>0.283</a:t>
                      </a:r>
                    </a:p>
                  </a:txBody>
                  <a:tcPr marL="54000" marR="54000" marT="54000" marB="54000" anchor="ctr" anchorCtr="0" horzOverflow="overflow"/>
                </a:tc>
              </a:tr>
              <a:tr h="150650">
                <a:tc vMerge="1">
                  <a:tcPr/>
                </a:tc>
                <a:tc vMerge="1">
                  <a:tcPr/>
                </a:tc>
                <a:tc vMerge="1">
                  <a:tcPr/>
                </a:tc>
                <a:tc vMerge="1">
                  <a:tcPr/>
                </a:tc>
              </a:tr>
              <a:tr h="101600">
                <a:tc rowSpan="2">
                  <a:txBody>
                    <a:bodyPr/>
                    <a:lstStyle/>
                    <a:p>
                      <a:pPr>
                        <a:defRPr sz="1800"/>
                      </a:pPr>
                      <a:r>
                        <a:rPr sz="1400"/>
                        <a:t>Vocabulary</a:t>
                      </a:r>
                    </a:p>
                  </a:txBody>
                  <a:tcPr marL="54000" marR="54000" marT="54000" marB="54000" anchor="ctr" anchorCtr="0" horzOverflow="overflow"/>
                </a:tc>
                <a:tc rowSpan="2">
                  <a:txBody>
                    <a:bodyPr/>
                    <a:lstStyle/>
                    <a:p>
                      <a:pPr>
                        <a:defRPr sz="1800"/>
                      </a:pPr>
                      <a:r>
                        <a:rPr sz="1400"/>
                        <a:t>ANOVA</a:t>
                      </a:r>
                    </a:p>
                  </a:txBody>
                  <a:tcPr marL="54000" marR="54000" marT="54000" marB="54000" anchor="ctr" anchorCtr="0" horzOverflow="overflow"/>
                </a:tc>
                <a:tc rowSpan="2">
                  <a:txBody>
                    <a:bodyPr/>
                    <a:lstStyle/>
                    <a:p>
                      <a:pPr>
                        <a:defRPr sz="1800"/>
                      </a:pPr>
                      <a:r>
                        <a:rPr sz="1400"/>
                        <a:t>F = 2.489</a:t>
                      </a:r>
                    </a:p>
                  </a:txBody>
                  <a:tcPr marL="54000" marR="54000" marT="54000" marB="54000" anchor="ctr" anchorCtr="0" horzOverflow="overflow"/>
                </a:tc>
                <a:tc rowSpan="2">
                  <a:txBody>
                    <a:bodyPr/>
                    <a:lstStyle/>
                    <a:p>
                      <a:pPr>
                        <a:defRPr sz="1800"/>
                      </a:pPr>
                      <a:r>
                        <a:rPr sz="1400"/>
                        <a:t>0.122</a:t>
                      </a:r>
                    </a:p>
                  </a:txBody>
                  <a:tcPr marL="54000" marR="54000" marT="54000" marB="54000" anchor="ctr" anchorCtr="0" horzOverflow="overflow"/>
                </a:tc>
              </a:tr>
              <a:tr h="150650">
                <a:tc vMerge="1">
                  <a:tcPr/>
                </a:tc>
                <a:tc vMerge="1">
                  <a:tcPr/>
                </a:tc>
                <a:tc vMerge="1">
                  <a:tcPr/>
                </a:tc>
                <a:tc vMerge="1">
                  <a:tcPr/>
                </a:tc>
              </a:tr>
              <a:tr h="216800">
                <a:tc>
                  <a:txBody>
                    <a:bodyPr/>
                    <a:lstStyle/>
                    <a:p>
                      <a:pPr>
                        <a:defRPr sz="1800"/>
                      </a:pPr>
                      <a:r>
                        <a:rPr sz="1400"/>
                        <a:t>Organization</a:t>
                      </a:r>
                    </a:p>
                  </a:txBody>
                  <a:tcPr marL="54000" marR="54000" marT="54000" marB="54000" anchor="ctr" anchorCtr="0" horzOverflow="overflow"/>
                </a:tc>
                <a:tc>
                  <a:txBody>
                    <a:bodyPr/>
                    <a:lstStyle/>
                    <a:p>
                      <a:pPr>
                        <a:defRPr sz="1800"/>
                      </a:pPr>
                      <a:r>
                        <a:rPr sz="1400"/>
                        <a:t>Kruskal-Wallis</a:t>
                      </a:r>
                    </a:p>
                  </a:txBody>
                  <a:tcPr marL="54000" marR="54000" marT="54000" marB="54000" anchor="ctr" anchorCtr="0" horzOverflow="overflow"/>
                </a:tc>
                <a:tc>
                  <a:txBody>
                    <a:bodyPr/>
                    <a:lstStyle/>
                    <a:p>
                      <a:pPr>
                        <a:defRPr sz="1800"/>
                      </a:pPr>
                      <a:r>
                        <a:rPr sz="1400"/>
                        <a:t>H = 0.992</a:t>
                      </a:r>
                    </a:p>
                  </a:txBody>
                  <a:tcPr marL="54000" marR="54000" marT="54000" marB="54000" anchor="ctr" anchorCtr="0" horzOverflow="overflow"/>
                </a:tc>
                <a:tc>
                  <a:txBody>
                    <a:bodyPr/>
                    <a:lstStyle/>
                    <a:p>
                      <a:pPr>
                        <a:defRPr sz="1800"/>
                      </a:pPr>
                      <a:r>
                        <a:rPr sz="1400"/>
                        <a:t>0.609</a:t>
                      </a:r>
                    </a:p>
                  </a:txBody>
                  <a:tcPr marL="54000" marR="54000" marT="54000" marB="54000" anchor="ctr" anchorCtr="0" horzOverflow="overflow"/>
                </a:tc>
              </a:tr>
              <a:tr h="101600">
                <a:tc rowSpan="2">
                  <a:txBody>
                    <a:bodyPr/>
                    <a:lstStyle/>
                    <a:p>
                      <a:pPr>
                        <a:defRPr sz="1800"/>
                      </a:pPr>
                      <a:r>
                        <a:rPr sz="1400"/>
                        <a:t>Coherence</a:t>
                      </a:r>
                    </a:p>
                  </a:txBody>
                  <a:tcPr marL="54000" marR="54000" marT="54000" marB="54000" anchor="ctr" anchorCtr="0" horzOverflow="overflow"/>
                </a:tc>
                <a:tc rowSpan="2">
                  <a:txBody>
                    <a:bodyPr/>
                    <a:lstStyle/>
                    <a:p>
                      <a:pPr>
                        <a:defRPr sz="1800"/>
                      </a:pPr>
                      <a:r>
                        <a:rPr sz="1400"/>
                        <a:t>ANOVA</a:t>
                      </a:r>
                    </a:p>
                  </a:txBody>
                  <a:tcPr marL="54000" marR="54000" marT="54000" marB="54000" anchor="ctr" anchorCtr="0" horzOverflow="overflow"/>
                </a:tc>
                <a:tc rowSpan="2">
                  <a:txBody>
                    <a:bodyPr/>
                    <a:lstStyle/>
                    <a:p>
                      <a:pPr>
                        <a:defRPr sz="1800"/>
                      </a:pPr>
                      <a:r>
                        <a:rPr sz="1400"/>
                        <a:t>F = 0.303</a:t>
                      </a:r>
                    </a:p>
                  </a:txBody>
                  <a:tcPr marL="54000" marR="54000" marT="54000" marB="54000" anchor="ctr" anchorCtr="0" horzOverflow="overflow"/>
                </a:tc>
                <a:tc rowSpan="2">
                  <a:txBody>
                    <a:bodyPr/>
                    <a:lstStyle/>
                    <a:p>
                      <a:pPr>
                        <a:defRPr sz="1800"/>
                      </a:pPr>
                      <a:r>
                        <a:rPr sz="1400"/>
                        <a:t>0.744</a:t>
                      </a:r>
                    </a:p>
                  </a:txBody>
                  <a:tcPr marL="54000" marR="54000" marT="54000" marB="54000" anchor="ctr" anchorCtr="0" horzOverflow="overflow"/>
                </a:tc>
              </a:tr>
              <a:tr h="150650">
                <a:tc vMerge="1">
                  <a:tcPr/>
                </a:tc>
                <a:tc vMerge="1">
                  <a:tcPr/>
                </a:tc>
                <a:tc vMerge="1">
                  <a:tcPr/>
                </a:tc>
                <a:tc vMerge="1">
                  <a:tcPr/>
                </a:tc>
              </a:tr>
              <a:tr h="101600">
                <a:tc rowSpan="2">
                  <a:txBody>
                    <a:bodyPr/>
                    <a:lstStyle/>
                    <a:p>
                      <a:pPr>
                        <a:defRPr sz="1800"/>
                      </a:pPr>
                      <a:r>
                        <a:rPr sz="1400"/>
                        <a:t>Writing Style</a:t>
                      </a:r>
                    </a:p>
                  </a:txBody>
                  <a:tcPr marL="54000" marR="54000" marT="54000" marB="54000" anchor="ctr" anchorCtr="0" horzOverflow="overflow"/>
                </a:tc>
                <a:tc rowSpan="2">
                  <a:txBody>
                    <a:bodyPr/>
                    <a:lstStyle/>
                    <a:p>
                      <a:pPr>
                        <a:defRPr sz="1800"/>
                      </a:pPr>
                      <a:r>
                        <a:rPr sz="1400"/>
                        <a:t>ANOVA</a:t>
                      </a:r>
                    </a:p>
                  </a:txBody>
                  <a:tcPr marL="54000" marR="54000" marT="54000" marB="54000" anchor="ctr" anchorCtr="0" horzOverflow="overflow"/>
                </a:tc>
                <a:tc rowSpan="2">
                  <a:txBody>
                    <a:bodyPr/>
                    <a:lstStyle/>
                    <a:p>
                      <a:pPr>
                        <a:defRPr sz="1800"/>
                      </a:pPr>
                      <a:r>
                        <a:rPr sz="1400"/>
                        <a:t>F = 0.971</a:t>
                      </a:r>
                    </a:p>
                  </a:txBody>
                  <a:tcPr marL="54000" marR="54000" marT="54000" marB="54000" anchor="ctr" anchorCtr="0" horzOverflow="overflow"/>
                </a:tc>
                <a:tc rowSpan="2">
                  <a:txBody>
                    <a:bodyPr/>
                    <a:lstStyle/>
                    <a:p>
                      <a:pPr>
                        <a:defRPr sz="1800"/>
                      </a:pPr>
                      <a:r>
                        <a:rPr sz="1400"/>
                        <a:t>0.405</a:t>
                      </a:r>
                    </a:p>
                  </a:txBody>
                  <a:tcPr marL="54000" marR="54000" marT="54000" marB="54000" anchor="ctr" anchorCtr="0" horzOverflow="overflow"/>
                </a:tc>
              </a:tr>
              <a:tr h="150650">
                <a:tc vMerge="1">
                  <a:tcPr/>
                </a:tc>
                <a:tc vMerge="1">
                  <a:tcPr/>
                </a:tc>
                <a:tc vMerge="1">
                  <a:tcPr/>
                </a:tc>
                <a:tc vMerge="1">
                  <a:tcPr/>
                </a:tc>
              </a:tr>
            </a:tbl>
          </a:graphicData>
        </a:graphic>
      </p:graphicFrame>
      <p:sp>
        <p:nvSpPr>
          <p:cNvPr id="735" name="Google Shape;475;p65"/>
          <p:cNvSpPr txBox="1"/>
          <p:nvPr/>
        </p:nvSpPr>
        <p:spPr>
          <a:xfrm>
            <a:off x="6401387" y="2193450"/>
            <a:ext cx="5133302" cy="5834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17:</a:t>
            </a:r>
            <a:r>
              <a:rPr>
                <a:solidFill>
                  <a:srgbClr val="000000"/>
                </a:solidFill>
              </a:rPr>
              <a:t> ANOVA/Kruskal-Wallis results based on review generation count.</a:t>
            </a:r>
          </a:p>
        </p:txBody>
      </p:sp>
      <p:sp>
        <p:nvSpPr>
          <p:cNvPr id="736" name="Google Shape;476;p65"/>
          <p:cNvSpPr txBox="1"/>
          <p:nvPr>
            <p:ph type="body" sz="half" idx="1"/>
          </p:nvPr>
        </p:nvSpPr>
        <p:spPr>
          <a:xfrm>
            <a:off x="384174" y="1663050"/>
            <a:ext cx="5636102" cy="3213601"/>
          </a:xfrm>
          <a:prstGeom prst="rect">
            <a:avLst/>
          </a:prstGeom>
        </p:spPr>
        <p:txBody>
          <a:bodyPr/>
          <a:lstStyle/>
          <a:p>
            <a:pPr marL="215900" indent="-215900">
              <a:lnSpc>
                <a:spcPct val="150000"/>
              </a:lnSpc>
            </a:pPr>
            <a:r>
              <a:t>Relationship between the review generation count and changes in test scores</a:t>
            </a:r>
          </a:p>
          <a:p>
            <a:pPr marL="215900" indent="-215900">
              <a:lnSpc>
                <a:spcPct val="150000"/>
              </a:lnSpc>
              <a:defRPr b="1"/>
            </a:pPr>
            <a:r>
              <a:t>Groups</a:t>
            </a:r>
            <a:r>
              <a:rPr b="0"/>
              <a:t> by review generation count</a:t>
            </a:r>
            <a:endParaRPr b="0"/>
          </a:p>
          <a:p>
            <a:pPr lvl="1" marL="431800" indent="-215900">
              <a:lnSpc>
                <a:spcPct val="150000"/>
              </a:lnSpc>
              <a:buSzPts val="1600"/>
              <a:buFont typeface="Helvetica"/>
              <a:defRPr sz="1600"/>
            </a:pPr>
            <a:r>
              <a:t>Low (&lt;25th percentile), Medium (25th-75th), High (&gt;75th) [Wellington et al., 2015]</a:t>
            </a:r>
          </a:p>
          <a:p>
            <a:pPr marL="215900" indent="-215900">
              <a:lnSpc>
                <a:spcPct val="150000"/>
              </a:lnSpc>
              <a:defRPr b="1"/>
            </a:pPr>
            <a:r>
              <a:t>Kruskal-Wallis Test</a:t>
            </a:r>
          </a:p>
          <a:p>
            <a:pPr lvl="1" marL="431800" indent="-215900">
              <a:lnSpc>
                <a:spcPct val="150000"/>
              </a:lnSpc>
              <a:buSzPts val="1600"/>
              <a:buFont typeface="Helvetica"/>
              <a:defRPr sz="1600"/>
            </a:pPr>
            <a:r>
              <a:t>No significant differences (Sig. &gt; 0.05)</a:t>
            </a:r>
          </a:p>
        </p:txBody>
      </p:sp>
      <p:sp>
        <p:nvSpPr>
          <p:cNvPr id="737" name="Google Shape;477;p65"/>
          <p:cNvSpPr txBox="1"/>
          <p:nvPr>
            <p:ph type="body" idx="21"/>
          </p:nvPr>
        </p:nvSpPr>
        <p:spPr>
          <a:xfrm>
            <a:off x="384000" y="1075800"/>
            <a:ext cx="11484000" cy="252001"/>
          </a:xfrm>
          <a:prstGeom prst="rect">
            <a:avLst/>
          </a:prstGeom>
          <a:extLst>
            <a:ext uri="{C572A759-6A51-4108-AA02-DFA0A04FC94B}">
              <ma14:wrappingTextBoxFlag xmlns:ma14="http://schemas.microsoft.com/office/mac/drawingml/2011/main" val="1"/>
            </a:ext>
          </a:extLst>
        </p:spPr>
        <p:txBody>
          <a:bodyPr/>
          <a:lstStyle>
            <a:lvl1pPr defTabSz="777240">
              <a:defRPr b="1" sz="1700"/>
            </a:lvl1pPr>
          </a:lstStyle>
          <a:p>
            <a:pPr/>
            <a:r>
              <a:t>Results RQ3</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9"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40" name="Google Shape;482;p66"/>
          <p:cNvSpPr txBox="1"/>
          <p:nvPr>
            <p:ph type="title"/>
          </p:nvPr>
        </p:nvSpPr>
        <p:spPr>
          <a:xfrm>
            <a:off x="384175" y="201612"/>
            <a:ext cx="11484000" cy="543001"/>
          </a:xfrm>
          <a:prstGeom prst="rect">
            <a:avLst/>
          </a:prstGeom>
        </p:spPr>
        <p:txBody>
          <a:bodyPr/>
          <a:lstStyle/>
          <a:p>
            <a:pPr/>
            <a:r>
              <a:t>Evaluation</a:t>
            </a:r>
          </a:p>
        </p:txBody>
      </p:sp>
      <p:sp>
        <p:nvSpPr>
          <p:cNvPr id="741" name="Google Shape;483;p66"/>
          <p:cNvSpPr txBox="1"/>
          <p:nvPr>
            <p:ph type="body" sz="quarter" idx="1"/>
          </p:nvPr>
        </p:nvSpPr>
        <p:spPr>
          <a:xfrm>
            <a:off x="384175" y="1963674"/>
            <a:ext cx="4808100" cy="1674901"/>
          </a:xfrm>
          <a:prstGeom prst="rect">
            <a:avLst/>
          </a:prstGeom>
        </p:spPr>
        <p:txBody>
          <a:bodyPr/>
          <a:lstStyle/>
          <a:p>
            <a:pPr marL="215900" indent="-215900">
              <a:lnSpc>
                <a:spcPct val="150000"/>
              </a:lnSpc>
            </a:pPr>
            <a:r>
              <a:t>Usability Score &gt; 68: Above average </a:t>
            </a:r>
          </a:p>
          <a:p>
            <a:pPr marL="215900" indent="-215900">
              <a:lnSpc>
                <a:spcPct val="150000"/>
              </a:lnSpc>
            </a:pPr>
            <a:r>
              <a:t>WILLM’s Average Score: </a:t>
            </a:r>
            <a:r>
              <a:rPr b="1"/>
              <a:t>84.21 (Grade: A+)</a:t>
            </a:r>
            <a:endParaRPr b="1"/>
          </a:p>
          <a:p>
            <a:pPr lvl="1" marL="431800" indent="-215900">
              <a:lnSpc>
                <a:spcPct val="150000"/>
              </a:lnSpc>
              <a:buSzPts val="1600"/>
              <a:buFont typeface="Helvetica"/>
              <a:buChar char="➔"/>
              <a:defRPr sz="1600"/>
            </a:pPr>
            <a:r>
              <a:rPr b="1"/>
              <a:t>High usability</a:t>
            </a:r>
          </a:p>
        </p:txBody>
      </p:sp>
      <p:sp>
        <p:nvSpPr>
          <p:cNvPr id="742" name="Google Shape;484;p66"/>
          <p:cNvSpPr txBox="1"/>
          <p:nvPr>
            <p:ph type="body" idx="21"/>
          </p:nvPr>
        </p:nvSpPr>
        <p:spPr>
          <a:xfrm>
            <a:off x="384000" y="1075800"/>
            <a:ext cx="5263801" cy="583201"/>
          </a:xfrm>
          <a:prstGeom prst="rect">
            <a:avLst/>
          </a:prstGeom>
          <a:extLst>
            <a:ext uri="{C572A759-6A51-4108-AA02-DFA0A04FC94B}">
              <ma14:wrappingTextBoxFlag xmlns:ma14="http://schemas.microsoft.com/office/mac/drawingml/2011/main" val="1"/>
            </a:ext>
          </a:extLst>
        </p:spPr>
        <p:txBody>
          <a:bodyPr/>
          <a:lstStyle>
            <a:lvl1pPr>
              <a:defRPr b="1" sz="2000"/>
            </a:lvl1pPr>
          </a:lstStyle>
          <a:p>
            <a:pPr/>
            <a:r>
              <a:t>System Usability Scale [Sauro et al., 2016, Lewis, 2018]</a:t>
            </a:r>
          </a:p>
        </p:txBody>
      </p:sp>
      <p:graphicFrame>
        <p:nvGraphicFramePr>
          <p:cNvPr id="743" name="Google Shape;485;p66"/>
          <p:cNvGraphicFramePr/>
          <p:nvPr/>
        </p:nvGraphicFramePr>
        <p:xfrm>
          <a:off x="5819525" y="1403999"/>
          <a:ext cx="6106700" cy="310527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58650"/>
                <a:gridCol w="4848050"/>
              </a:tblGrid>
              <a:tr h="371925">
                <a:tc>
                  <a:txBody>
                    <a:bodyPr/>
                    <a:lstStyle/>
                    <a:p>
                      <a:pPr>
                        <a:defRPr sz="1800"/>
                      </a:pPr>
                      <a:r>
                        <a:rPr b="1" sz="1400"/>
                        <a:t>Question Nr.</a:t>
                      </a:r>
                    </a:p>
                  </a:txBody>
                  <a:tcPr marL="54000" marR="54000" marT="54000" marB="54000" anchor="t" anchorCtr="0" horzOverflow="overflow"/>
                </a:tc>
                <a:tc>
                  <a:txBody>
                    <a:bodyPr/>
                    <a:lstStyle/>
                    <a:p>
                      <a:pPr>
                        <a:defRPr sz="1800"/>
                      </a:pPr>
                      <a:r>
                        <a:rPr b="1" sz="1400"/>
                        <a:t>Question</a:t>
                      </a:r>
                    </a:p>
                  </a:txBody>
                  <a:tcPr marL="54000" marR="54000" marT="54000" marB="54000" anchor="t" anchorCtr="0" horzOverflow="overflow"/>
                </a:tc>
              </a:tr>
              <a:tr h="223525">
                <a:tc>
                  <a:txBody>
                    <a:bodyPr/>
                    <a:lstStyle/>
                    <a:p>
                      <a:pPr>
                        <a:defRPr sz="1800"/>
                      </a:pPr>
                      <a:r>
                        <a:rPr sz="1400"/>
                        <a:t>1</a:t>
                      </a:r>
                    </a:p>
                  </a:txBody>
                  <a:tcPr marL="54000" marR="54000" marT="54000" marB="54000" anchor="t" anchorCtr="0" horzOverflow="overflow"/>
                </a:tc>
                <a:tc>
                  <a:txBody>
                    <a:bodyPr/>
                    <a:lstStyle/>
                    <a:p>
                      <a:pPr>
                        <a:defRPr sz="1800"/>
                      </a:pPr>
                      <a:r>
                        <a:rPr sz="1400"/>
                        <a:t>I think that I would like to use this system frequently.</a:t>
                      </a:r>
                    </a:p>
                  </a:txBody>
                  <a:tcPr marL="54000" marR="54000" marT="54000" marB="54000" anchor="t" anchorCtr="0" horzOverflow="overflow"/>
                </a:tc>
              </a:tr>
              <a:tr h="223525">
                <a:tc>
                  <a:txBody>
                    <a:bodyPr/>
                    <a:lstStyle/>
                    <a:p>
                      <a:pPr>
                        <a:defRPr sz="1800"/>
                      </a:pPr>
                      <a:r>
                        <a:rPr sz="1400"/>
                        <a:t>2</a:t>
                      </a:r>
                    </a:p>
                  </a:txBody>
                  <a:tcPr marL="54000" marR="54000" marT="54000" marB="54000" anchor="t" anchorCtr="0" horzOverflow="overflow"/>
                </a:tc>
                <a:tc>
                  <a:txBody>
                    <a:bodyPr/>
                    <a:lstStyle/>
                    <a:p>
                      <a:pPr>
                        <a:defRPr sz="1800"/>
                      </a:pPr>
                      <a:r>
                        <a:rPr sz="1400"/>
                        <a:t>I found the system unnecessarily complex.</a:t>
                      </a:r>
                    </a:p>
                  </a:txBody>
                  <a:tcPr marL="54000" marR="54000" marT="54000" marB="54000" anchor="t" anchorCtr="0" horzOverflow="overflow"/>
                </a:tc>
              </a:tr>
              <a:tr h="223525">
                <a:tc>
                  <a:txBody>
                    <a:bodyPr/>
                    <a:lstStyle/>
                    <a:p>
                      <a:pPr>
                        <a:defRPr sz="1800"/>
                      </a:pPr>
                      <a:r>
                        <a:rPr sz="1400"/>
                        <a:t>3</a:t>
                      </a:r>
                    </a:p>
                  </a:txBody>
                  <a:tcPr marL="54000" marR="54000" marT="54000" marB="54000" anchor="t" anchorCtr="0" horzOverflow="overflow"/>
                </a:tc>
                <a:tc>
                  <a:txBody>
                    <a:bodyPr/>
                    <a:lstStyle/>
                    <a:p>
                      <a:pPr>
                        <a:defRPr sz="1800"/>
                      </a:pPr>
                      <a:r>
                        <a:rPr sz="1400"/>
                        <a:t>I thought the system was easy to use.</a:t>
                      </a:r>
                    </a:p>
                  </a:txBody>
                  <a:tcPr marL="54000" marR="54000" marT="54000" marB="54000" anchor="t" anchorCtr="0" horzOverflow="overflow"/>
                </a:tc>
              </a:tr>
              <a:tr h="371925">
                <a:tc>
                  <a:txBody>
                    <a:bodyPr/>
                    <a:lstStyle/>
                    <a:p>
                      <a:pPr>
                        <a:defRPr sz="1800"/>
                      </a:pPr>
                      <a:r>
                        <a:rPr sz="1400"/>
                        <a:t>4</a:t>
                      </a:r>
                    </a:p>
                  </a:txBody>
                  <a:tcPr marL="54000" marR="54000" marT="54000" marB="54000" anchor="t" anchorCtr="0" horzOverflow="overflow"/>
                </a:tc>
                <a:tc>
                  <a:txBody>
                    <a:bodyPr/>
                    <a:lstStyle/>
                    <a:p>
                      <a:pPr>
                        <a:defRPr sz="1800"/>
                      </a:pPr>
                      <a:r>
                        <a:rPr sz="1400"/>
                        <a:t>I think that I would need the support of a technical person to be able to use this system. </a:t>
                      </a:r>
                    </a:p>
                  </a:txBody>
                  <a:tcPr marL="54000" marR="54000" marT="54000" marB="54000" anchor="t" anchorCtr="0" horzOverflow="overflow"/>
                </a:tc>
              </a:tr>
              <a:tr h="276425">
                <a:tc>
                  <a:txBody>
                    <a:bodyPr/>
                    <a:lstStyle/>
                    <a:p>
                      <a:pPr>
                        <a:defRPr sz="1800"/>
                      </a:pPr>
                      <a:r>
                        <a:rPr sz="1400"/>
                        <a:t>5</a:t>
                      </a:r>
                    </a:p>
                  </a:txBody>
                  <a:tcPr marL="54000" marR="54000" marT="54000" marB="54000" anchor="t" anchorCtr="0" horzOverflow="overflow"/>
                </a:tc>
                <a:tc>
                  <a:txBody>
                    <a:bodyPr/>
                    <a:lstStyle/>
                    <a:p>
                      <a:pPr>
                        <a:defRPr sz="1800"/>
                      </a:pPr>
                      <a:r>
                        <a:rPr sz="1400"/>
                        <a:t>I found the various functions in this system were well integrated.</a:t>
                      </a:r>
                    </a:p>
                  </a:txBody>
                  <a:tcPr marL="54000" marR="54000" marT="54000" marB="54000" anchor="t" anchorCtr="0" horzOverflow="overflow"/>
                </a:tc>
              </a:tr>
              <a:tr h="223525">
                <a:tc>
                  <a:txBody>
                    <a:bodyPr/>
                    <a:lstStyle/>
                    <a:p>
                      <a:pPr>
                        <a:defRPr sz="1800"/>
                      </a:pPr>
                      <a:r>
                        <a:rPr sz="1400"/>
                        <a:t>6</a:t>
                      </a:r>
                    </a:p>
                  </a:txBody>
                  <a:tcPr marL="54000" marR="54000" marT="54000" marB="54000" anchor="t" anchorCtr="0" horzOverflow="overflow"/>
                </a:tc>
                <a:tc>
                  <a:txBody>
                    <a:bodyPr/>
                    <a:lstStyle/>
                    <a:p>
                      <a:pPr>
                        <a:defRPr sz="1800"/>
                      </a:pPr>
                      <a:r>
                        <a:rPr sz="1400"/>
                        <a:t>I thought there was too much inconsistency in this system.</a:t>
                      </a:r>
                    </a:p>
                  </a:txBody>
                  <a:tcPr marL="54000" marR="54000" marT="54000" marB="54000" anchor="t" anchorCtr="0" horzOverflow="overflow"/>
                </a:tc>
              </a:tr>
              <a:tr h="371925">
                <a:tc>
                  <a:txBody>
                    <a:bodyPr/>
                    <a:lstStyle/>
                    <a:p>
                      <a:pPr>
                        <a:defRPr sz="1800"/>
                      </a:pPr>
                      <a:r>
                        <a:rPr sz="1400"/>
                        <a:t>7</a:t>
                      </a:r>
                    </a:p>
                  </a:txBody>
                  <a:tcPr marL="54000" marR="54000" marT="54000" marB="54000" anchor="t" anchorCtr="0" horzOverflow="overflow"/>
                </a:tc>
                <a:tc>
                  <a:txBody>
                    <a:bodyPr/>
                    <a:lstStyle/>
                    <a:p>
                      <a:pPr>
                        <a:defRPr sz="1800"/>
                      </a:pPr>
                      <a:r>
                        <a:rPr sz="1400"/>
                        <a:t>I would imagine that most people would learn to use this system very quickly. </a:t>
                      </a:r>
                    </a:p>
                  </a:txBody>
                  <a:tcPr marL="54000" marR="54000" marT="54000" marB="54000" anchor="t" anchorCtr="0" horzOverflow="overflow"/>
                </a:tc>
              </a:tr>
              <a:tr h="223525">
                <a:tc>
                  <a:txBody>
                    <a:bodyPr/>
                    <a:lstStyle/>
                    <a:p>
                      <a:pPr>
                        <a:defRPr sz="1800"/>
                      </a:pPr>
                      <a:r>
                        <a:rPr sz="1400"/>
                        <a:t>8</a:t>
                      </a:r>
                    </a:p>
                  </a:txBody>
                  <a:tcPr marL="54000" marR="54000" marT="54000" marB="54000" anchor="t" anchorCtr="0" horzOverflow="overflow"/>
                </a:tc>
                <a:tc>
                  <a:txBody>
                    <a:bodyPr/>
                    <a:lstStyle/>
                    <a:p>
                      <a:pPr>
                        <a:defRPr sz="1800"/>
                      </a:pPr>
                      <a:r>
                        <a:rPr sz="1400"/>
                        <a:t>I found the system very cumbersome to use.</a:t>
                      </a:r>
                    </a:p>
                  </a:txBody>
                  <a:tcPr marL="54000" marR="54000" marT="54000" marB="54000" anchor="t" anchorCtr="0" horzOverflow="overflow"/>
                </a:tc>
              </a:tr>
              <a:tr h="223525">
                <a:tc>
                  <a:txBody>
                    <a:bodyPr/>
                    <a:lstStyle/>
                    <a:p>
                      <a:pPr>
                        <a:defRPr sz="1800"/>
                      </a:pPr>
                      <a:r>
                        <a:rPr sz="1400"/>
                        <a:t>9</a:t>
                      </a:r>
                    </a:p>
                  </a:txBody>
                  <a:tcPr marL="54000" marR="54000" marT="54000" marB="54000" anchor="t" anchorCtr="0" horzOverflow="overflow"/>
                </a:tc>
                <a:tc>
                  <a:txBody>
                    <a:bodyPr/>
                    <a:lstStyle/>
                    <a:p>
                      <a:pPr>
                        <a:defRPr sz="1800"/>
                      </a:pPr>
                      <a:r>
                        <a:rPr sz="1400"/>
                        <a:t>I felt very confident using the system. </a:t>
                      </a:r>
                    </a:p>
                  </a:txBody>
                  <a:tcPr marL="54000" marR="54000" marT="54000" marB="54000" anchor="t" anchorCtr="0" horzOverflow="overflow"/>
                </a:tc>
              </a:tr>
              <a:tr h="371925">
                <a:tc>
                  <a:txBody>
                    <a:bodyPr/>
                    <a:lstStyle/>
                    <a:p>
                      <a:pPr>
                        <a:defRPr sz="1800"/>
                      </a:pPr>
                      <a:r>
                        <a:rPr sz="1400"/>
                        <a:t>10</a:t>
                      </a:r>
                    </a:p>
                  </a:txBody>
                  <a:tcPr marL="54000" marR="54000" marT="54000" marB="54000" anchor="t" anchorCtr="0" horzOverflow="overflow"/>
                </a:tc>
                <a:tc>
                  <a:txBody>
                    <a:bodyPr/>
                    <a:lstStyle/>
                    <a:p>
                      <a:pPr>
                        <a:defRPr sz="1800"/>
                      </a:pPr>
                      <a:r>
                        <a:rPr sz="1400"/>
                        <a:t>I needed to learn a lot of things before I could get going with this system.</a:t>
                      </a:r>
                    </a:p>
                  </a:txBody>
                  <a:tcPr marL="54000" marR="54000" marT="54000" marB="54000" anchor="t" anchorCtr="0" horzOverflow="overflow"/>
                </a:tc>
              </a:tr>
            </a:tbl>
          </a:graphicData>
        </a:graphic>
      </p:graphicFrame>
      <p:sp>
        <p:nvSpPr>
          <p:cNvPr id="744" name="Google Shape;486;p66"/>
          <p:cNvSpPr txBox="1"/>
          <p:nvPr/>
        </p:nvSpPr>
        <p:spPr>
          <a:xfrm>
            <a:off x="6306225" y="1038899"/>
            <a:ext cx="5133301"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18:</a:t>
            </a:r>
            <a:r>
              <a:rPr>
                <a:solidFill>
                  <a:srgbClr val="000000"/>
                </a:solidFill>
              </a:rPr>
              <a:t> The questions from the SUS questionnaire</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47" name="Google Shape;491;p67"/>
          <p:cNvSpPr txBox="1"/>
          <p:nvPr>
            <p:ph type="body" sz="quarter" idx="1"/>
          </p:nvPr>
        </p:nvSpPr>
        <p:spPr>
          <a:xfrm>
            <a:off x="257194" y="2810626"/>
            <a:ext cx="11484000" cy="1236748"/>
          </a:xfrm>
          <a:prstGeom prst="rect">
            <a:avLst/>
          </a:prstGeom>
        </p:spPr>
        <p:txBody>
          <a:bodyPr/>
          <a:lstStyle/>
          <a:p>
            <a:pPr marL="215900" indent="-215900">
              <a:lnSpc>
                <a:spcPct val="150000"/>
              </a:lnSpc>
            </a:pPr>
            <a:r>
              <a:t>WILLM uses immediate feedback features in combination with LLMs for academic writing improvement.</a:t>
            </a:r>
          </a:p>
          <a:p>
            <a:pPr marL="215900" indent="-215900">
              <a:lnSpc>
                <a:spcPct val="150000"/>
              </a:lnSpc>
            </a:pPr>
            <a:r>
              <a:t>We introduced an approach with active recall quizzes based on spaced repetition principles and an approach for generating reviews based on reflection for long-term academic writing improvement using LLMs.</a:t>
            </a:r>
          </a:p>
        </p:txBody>
      </p:sp>
      <p:sp>
        <p:nvSpPr>
          <p:cNvPr id="748" name="Google Shape;492;p67"/>
          <p:cNvSpPr txBox="1"/>
          <p:nvPr>
            <p:ph type="title"/>
          </p:nvPr>
        </p:nvSpPr>
        <p:spPr>
          <a:xfrm>
            <a:off x="384175" y="201612"/>
            <a:ext cx="11484000" cy="543001"/>
          </a:xfrm>
          <a:prstGeom prst="rect">
            <a:avLst/>
          </a:prstGeom>
        </p:spPr>
        <p:txBody>
          <a:bodyPr/>
          <a:lstStyle/>
          <a:p>
            <a:pPr/>
            <a:r>
              <a:t>Conclusion</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0"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51" name="Google Shape;497;p68"/>
          <p:cNvSpPr txBox="1"/>
          <p:nvPr>
            <p:ph type="body" idx="1"/>
          </p:nvPr>
        </p:nvSpPr>
        <p:spPr>
          <a:xfrm>
            <a:off x="373063" y="1684338"/>
            <a:ext cx="11484000" cy="3194101"/>
          </a:xfrm>
          <a:prstGeom prst="rect">
            <a:avLst/>
          </a:prstGeom>
        </p:spPr>
        <p:txBody>
          <a:bodyPr/>
          <a:lstStyle/>
          <a:p>
            <a:pPr marL="215900" indent="-215900">
              <a:lnSpc>
                <a:spcPct val="150000"/>
              </a:lnSpc>
            </a:pPr>
            <a:r>
              <a:t>Increase participant sample size.</a:t>
            </a:r>
          </a:p>
          <a:p>
            <a:pPr marL="215900" indent="-215900">
              <a:lnSpc>
                <a:spcPct val="150000"/>
              </a:lnSpc>
            </a:pPr>
            <a:r>
              <a:t>Refine UI to make features like quizzes and reviews more accessible.</a:t>
            </a:r>
          </a:p>
          <a:p>
            <a:pPr marL="215900" indent="-215900">
              <a:lnSpc>
                <a:spcPct val="150000"/>
              </a:lnSpc>
            </a:pPr>
            <a:r>
              <a:t>Further personalize user experience by adjusting the quiz difficulty based on user performance</a:t>
            </a:r>
          </a:p>
          <a:p>
            <a:pPr marL="215900" indent="-215900">
              <a:lnSpc>
                <a:spcPct val="150000"/>
              </a:lnSpc>
            </a:pPr>
            <a:r>
              <a:t>Integrate a chatbot which enables users to ask specific questions</a:t>
            </a:r>
          </a:p>
        </p:txBody>
      </p:sp>
      <p:sp>
        <p:nvSpPr>
          <p:cNvPr id="752" name="Google Shape;498;p68"/>
          <p:cNvSpPr txBox="1"/>
          <p:nvPr>
            <p:ph type="title"/>
          </p:nvPr>
        </p:nvSpPr>
        <p:spPr>
          <a:xfrm>
            <a:off x="384175" y="201612"/>
            <a:ext cx="11484000" cy="543001"/>
          </a:xfrm>
          <a:prstGeom prst="rect">
            <a:avLst/>
          </a:prstGeom>
        </p:spPr>
        <p:txBody>
          <a:bodyPr/>
          <a:lstStyle/>
          <a:p>
            <a:pPr/>
            <a:r>
              <a:t>Improvements and Future Work</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4"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55" name="Google Shape;504;p69"/>
          <p:cNvSpPr txBox="1"/>
          <p:nvPr>
            <p:ph type="title"/>
          </p:nvPr>
        </p:nvSpPr>
        <p:spPr>
          <a:xfrm>
            <a:off x="384175" y="201612"/>
            <a:ext cx="11484000" cy="543001"/>
          </a:xfrm>
          <a:prstGeom prst="rect">
            <a:avLst/>
          </a:prstGeom>
        </p:spPr>
        <p:txBody>
          <a:bodyPr/>
          <a:lstStyle/>
          <a:p>
            <a:pPr/>
            <a:r>
              <a:t>Demo</a:t>
            </a:r>
          </a:p>
        </p:txBody>
      </p:sp>
      <p:pic>
        <p:nvPicPr>
          <p:cNvPr id="756" name="qrcode.png" descr="qrcode.png">
            <a:hlinkClick r:id="rId2" invalidUrl="" action="" tgtFrame="" tooltip="" history="1" highlightClick="0" endSnd="0"/>
          </p:cNvPr>
          <p:cNvPicPr>
            <a:picLocks noChangeAspect="1"/>
          </p:cNvPicPr>
          <p:nvPr/>
        </p:nvPicPr>
        <p:blipFill>
          <a:blip r:embed="rId3">
            <a:extLst/>
          </a:blip>
          <a:srcRect l="0" t="0" r="0" b="0"/>
          <a:stretch>
            <a:fillRect/>
          </a:stretch>
        </p:blipFill>
        <p:spPr>
          <a:xfrm>
            <a:off x="3909231" y="1486087"/>
            <a:ext cx="3885825" cy="3885826"/>
          </a:xfrm>
          <a:prstGeom prst="rect">
            <a:avLst/>
          </a:prstGeom>
          <a:ln w="12700">
            <a:miter lim="400000"/>
          </a:ln>
        </p:spPr>
      </p:pic>
      <p:sp>
        <p:nvSpPr>
          <p:cNvPr id="757" name="Text"/>
          <p:cNvSpPr txBox="1"/>
          <p:nvPr/>
        </p:nvSpPr>
        <p:spPr>
          <a:xfrm>
            <a:off x="5926608" y="3330308"/>
            <a:ext cx="338784" cy="197384"/>
          </a:xfrm>
          <a:prstGeom prst="rect">
            <a:avLst/>
          </a:prstGeom>
          <a:ln w="12700">
            <a:miter lim="400000"/>
          </a:ln>
        </p:spPr>
        <p:txBody>
          <a:bodyPr wrap="none" lIns="0" tIns="0" rIns="0" bIns="0">
            <a:spAutoFit/>
          </a:bodyPr>
          <a:lstStyle/>
          <a:p>
            <a:pPr/>
          </a:p>
        </p:txBody>
      </p:sp>
      <p:sp>
        <p:nvSpPr>
          <p:cNvPr id="758" name="Mastering writing present a significant challenge for learners, despite occasional oversight regarding the critical role of writing proficiency for students. In particular, achiving proficiency in academic writing, which is one of the most important genr"/>
          <p:cNvSpPr txBox="1"/>
          <p:nvPr/>
        </p:nvSpPr>
        <p:spPr>
          <a:xfrm>
            <a:off x="190941" y="989649"/>
            <a:ext cx="12141201" cy="5334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defTabSz="457200">
              <a:defRPr sz="1200">
                <a:solidFill>
                  <a:srgbClr val="FFFFFF"/>
                </a:solidFill>
                <a:latin typeface="Times Roman"/>
                <a:ea typeface="Times Roman"/>
                <a:cs typeface="Times Roman"/>
                <a:sym typeface="Times Roman"/>
              </a:defRPr>
            </a:lvl1pPr>
          </a:lstStyle>
          <a:p>
            <a:pPr/>
            <a:r>
              <a:t>Mastering writing present a significant challenge for learners, despite occasional oversight regarding the critical role of writing proficiency for students. In particular, achiving proficiency in academic writing, which is one of the most important genres of writing, proves difficult for many due to it's complexity and the necessity for engaging in both critical thinking and high-quality writing techniques.</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0" name="Google Shape;510;p70"/>
          <p:cNvSpPr txBox="1"/>
          <p:nvPr>
            <p:ph type="body" sz="quarter" idx="1"/>
          </p:nvPr>
        </p:nvSpPr>
        <p:spPr>
          <a:xfrm>
            <a:off x="354000" y="5699750"/>
            <a:ext cx="11484000" cy="341401"/>
          </a:xfrm>
          <a:prstGeom prst="rect">
            <a:avLst/>
          </a:prstGeom>
        </p:spPr>
        <p:txBody>
          <a:bodyPr/>
          <a:lstStyle>
            <a:lvl1pPr marL="0">
              <a:defRPr sz="1400"/>
            </a:lvl1pPr>
          </a:lstStyle>
          <a:p>
            <a:pPr/>
            <a:r>
              <a:t>Icons designed by creators from Flaticon.com.</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2"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63" name="Google Shape;515;p71"/>
          <p:cNvSpPr txBox="1"/>
          <p:nvPr>
            <p:ph type="body" idx="1"/>
          </p:nvPr>
        </p:nvSpPr>
        <p:spPr>
          <a:xfrm>
            <a:off x="373075" y="1137923"/>
            <a:ext cx="11484000" cy="4785302"/>
          </a:xfrm>
          <a:prstGeom prst="rect">
            <a:avLst/>
          </a:prstGeom>
        </p:spPr>
        <p:txBody>
          <a:bodyPr/>
          <a:lstStyle/>
          <a:p>
            <a:pPr marL="0" indent="0">
              <a:buSzTx/>
              <a:buNone/>
              <a:defRPr sz="1600">
                <a:solidFill>
                  <a:srgbClr val="00549F"/>
                </a:solidFill>
              </a:defRPr>
            </a:pPr>
            <a:r>
              <a:t>Brydges C. R. (2019)</a:t>
            </a:r>
          </a:p>
          <a:p>
            <a:pPr marL="0" indent="0">
              <a:buSzTx/>
              <a:buNone/>
              <a:defRPr sz="1600"/>
            </a:pPr>
            <a:r>
              <a:t>Effect size guidelines, sample size calculations, and statistical power in gerontology.</a:t>
            </a:r>
            <a:br/>
            <a:r>
              <a:rPr>
                <a:solidFill>
                  <a:srgbClr val="8EBAE5"/>
                </a:solidFill>
              </a:rPr>
              <a:t>Innovation in aging, 3(4):igz036</a:t>
            </a:r>
            <a:endParaRPr>
              <a:solidFill>
                <a:srgbClr val="8EBAE5"/>
              </a:solidFill>
            </a:endParaRPr>
          </a:p>
          <a:p>
            <a:pPr marL="0" indent="0">
              <a:buSzTx/>
              <a:buNone/>
            </a:pPr>
            <a:endParaRPr sz="1600"/>
          </a:p>
          <a:p>
            <a:pPr marL="0" indent="0">
              <a:buSzTx/>
              <a:buNone/>
              <a:defRPr sz="1600">
                <a:solidFill>
                  <a:srgbClr val="00549F"/>
                </a:solidFill>
              </a:defRPr>
            </a:pPr>
            <a:r>
              <a:t>Cepeda, N. J., Vul, E., Rohrer, D., Wixted, J. T., Pashler, H. (2008)</a:t>
            </a:r>
          </a:p>
          <a:p>
            <a:pPr marL="0" indent="0">
              <a:buSzTx/>
              <a:buNone/>
              <a:defRPr sz="1600"/>
            </a:pPr>
            <a:r>
              <a:t>Spacing effects in learning: A temporal ridgeline of optimal retention.</a:t>
            </a:r>
          </a:p>
          <a:p>
            <a:pPr marL="0" indent="0">
              <a:buSzTx/>
              <a:buNone/>
              <a:defRPr sz="1600">
                <a:solidFill>
                  <a:srgbClr val="8EBAE5"/>
                </a:solidFill>
              </a:defRPr>
            </a:pPr>
            <a:r>
              <a:t>Psychological science, 19(11):1095–1102</a:t>
            </a:r>
          </a:p>
          <a:p>
            <a:pPr marL="0" indent="0">
              <a:buSzTx/>
              <a:buNone/>
            </a:pPr>
            <a:endParaRPr sz="1600"/>
          </a:p>
          <a:p>
            <a:pPr marL="0" indent="0">
              <a:buSzTx/>
              <a:buNone/>
              <a:defRPr sz="1600">
                <a:solidFill>
                  <a:srgbClr val="00549F"/>
                </a:solidFill>
              </a:defRPr>
            </a:pPr>
            <a:r>
              <a:t>Chang, B. (2019)</a:t>
            </a:r>
          </a:p>
          <a:p>
            <a:pPr marL="0" indent="0">
              <a:buSzTx/>
              <a:buNone/>
              <a:defRPr sz="1600"/>
            </a:pPr>
            <a:r>
              <a:t>Reflection in learning.</a:t>
            </a:r>
          </a:p>
          <a:p>
            <a:pPr marL="0" indent="0">
              <a:buSzTx/>
              <a:buNone/>
              <a:defRPr sz="1600">
                <a:solidFill>
                  <a:srgbClr val="8EBAE5"/>
                </a:solidFill>
              </a:defRPr>
            </a:pPr>
            <a:r>
              <a:t>Online learning, 23(1):95–110</a:t>
            </a:r>
          </a:p>
          <a:p>
            <a:pPr marL="0" indent="0">
              <a:buSzTx/>
              <a:buNone/>
            </a:pPr>
            <a:endParaRPr sz="1600"/>
          </a:p>
          <a:p>
            <a:pPr marL="0" indent="0">
              <a:buSzTx/>
              <a:buNone/>
              <a:defRPr sz="1600">
                <a:solidFill>
                  <a:srgbClr val="00549F"/>
                </a:solidFill>
              </a:defRPr>
            </a:pPr>
            <a:r>
              <a:t>Dunlosky, J., Rawson, K. A., Marsh, E. J., Nathan, M. J., Willingham, D. T. (2013) </a:t>
            </a:r>
          </a:p>
          <a:p>
            <a:pPr marL="0" indent="0">
              <a:buSzTx/>
              <a:buNone/>
              <a:defRPr sz="1600"/>
            </a:pPr>
            <a:r>
              <a:t>Improving students’ learning with effective learning techniques: Promising directions from cognitive and educational psychology.</a:t>
            </a:r>
          </a:p>
          <a:p>
            <a:pPr marL="0" indent="0">
              <a:buSzTx/>
              <a:buNone/>
              <a:defRPr sz="1600">
                <a:solidFill>
                  <a:srgbClr val="8EBAE5"/>
                </a:solidFill>
              </a:defRPr>
            </a:pPr>
            <a:r>
              <a:t>Psychological Science in the Public interest, 14(1):4–58</a:t>
            </a:r>
          </a:p>
          <a:p>
            <a:pPr marL="0" indent="0">
              <a:buSzTx/>
              <a:buNone/>
            </a:pPr>
            <a:endParaRPr sz="1600"/>
          </a:p>
          <a:p>
            <a:pPr marL="0" indent="0">
              <a:buSzTx/>
              <a:buNone/>
              <a:defRPr sz="1600">
                <a:solidFill>
                  <a:srgbClr val="00549F"/>
                </a:solidFill>
              </a:defRPr>
            </a:pPr>
            <a:r>
              <a:t>Karpicke, J. D., Bauernschmidt, A. (2011)</a:t>
            </a:r>
          </a:p>
          <a:p>
            <a:pPr marL="0" indent="0">
              <a:buSzTx/>
              <a:buNone/>
              <a:defRPr sz="1600"/>
            </a:pPr>
            <a:r>
              <a:t>Spaced retrieval: absolute spacing enhances learning regardless of relative spacing. </a:t>
            </a:r>
          </a:p>
          <a:p>
            <a:pPr marL="0" indent="0">
              <a:buSzTx/>
              <a:buNone/>
              <a:defRPr sz="1600">
                <a:solidFill>
                  <a:srgbClr val="8EBAE5"/>
                </a:solidFill>
              </a:defRPr>
            </a:pPr>
            <a:r>
              <a:t>Journal of Experimental Psychology: Learning, Memory, and Cognition, 37(5):1250</a:t>
            </a:r>
          </a:p>
        </p:txBody>
      </p:sp>
      <p:sp>
        <p:nvSpPr>
          <p:cNvPr id="764" name="Google Shape;516;p71"/>
          <p:cNvSpPr txBox="1"/>
          <p:nvPr>
            <p:ph type="title"/>
          </p:nvPr>
        </p:nvSpPr>
        <p:spPr>
          <a:xfrm>
            <a:off x="384175" y="201612"/>
            <a:ext cx="11484000" cy="543001"/>
          </a:xfrm>
          <a:prstGeom prst="rect">
            <a:avLst/>
          </a:prstGeom>
        </p:spPr>
        <p:txBody>
          <a:bodyPr/>
          <a:lstStyle/>
          <a:p>
            <a:pPr/>
            <a:r>
              <a:t>References</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67" name="Google Shape;521;p72"/>
          <p:cNvSpPr txBox="1"/>
          <p:nvPr>
            <p:ph type="title"/>
          </p:nvPr>
        </p:nvSpPr>
        <p:spPr>
          <a:xfrm>
            <a:off x="384175" y="201612"/>
            <a:ext cx="11484000" cy="543001"/>
          </a:xfrm>
          <a:prstGeom prst="rect">
            <a:avLst/>
          </a:prstGeom>
        </p:spPr>
        <p:txBody>
          <a:bodyPr/>
          <a:lstStyle/>
          <a:p>
            <a:pPr/>
            <a:r>
              <a:t>References</a:t>
            </a:r>
          </a:p>
        </p:txBody>
      </p:sp>
      <p:sp>
        <p:nvSpPr>
          <p:cNvPr id="768" name="Google Shape;522;p72"/>
          <p:cNvSpPr txBox="1"/>
          <p:nvPr>
            <p:ph type="body" idx="1"/>
          </p:nvPr>
        </p:nvSpPr>
        <p:spPr>
          <a:xfrm>
            <a:off x="373075" y="1137923"/>
            <a:ext cx="11484000" cy="4785302"/>
          </a:xfrm>
          <a:prstGeom prst="rect">
            <a:avLst/>
          </a:prstGeom>
        </p:spPr>
        <p:txBody>
          <a:bodyPr/>
          <a:lstStyle/>
          <a:p>
            <a:pPr marL="0" indent="0">
              <a:buSzTx/>
              <a:buNone/>
              <a:defRPr sz="1600">
                <a:solidFill>
                  <a:srgbClr val="00549F"/>
                </a:solidFill>
              </a:defRPr>
            </a:pPr>
            <a:r>
              <a:t>Lewis, J. R. (2018)</a:t>
            </a:r>
          </a:p>
          <a:p>
            <a:pPr marL="0" indent="0">
              <a:buSzTx/>
              <a:buNone/>
              <a:defRPr sz="1600"/>
            </a:pPr>
            <a:r>
              <a:t>The system usability scale: past, present, and future. </a:t>
            </a:r>
          </a:p>
          <a:p>
            <a:pPr marL="0" indent="0">
              <a:buSzTx/>
              <a:buNone/>
              <a:defRPr sz="1600">
                <a:solidFill>
                  <a:srgbClr val="8EBAE5"/>
                </a:solidFill>
              </a:defRPr>
            </a:pPr>
            <a:r>
              <a:t>International Journal of Human–Computer Interaction, 34(7):577–590</a:t>
            </a:r>
          </a:p>
          <a:p>
            <a:pPr marL="0" indent="0">
              <a:buSzTx/>
              <a:buNone/>
            </a:pPr>
            <a:endParaRPr sz="1600"/>
          </a:p>
          <a:p>
            <a:pPr marL="0" indent="0">
              <a:buSzTx/>
              <a:buNone/>
              <a:defRPr sz="1600">
                <a:solidFill>
                  <a:srgbClr val="00549F"/>
                </a:solidFill>
              </a:defRPr>
            </a:pPr>
            <a:r>
              <a:t>Mansour, W., Albatarni, S., Eltanbouly, S., Elsayed, T. (2024)</a:t>
            </a:r>
          </a:p>
          <a:p>
            <a:pPr marL="0" indent="0">
              <a:buSzTx/>
              <a:buNone/>
              <a:defRPr sz="1600"/>
            </a:pPr>
            <a:r>
              <a:t>Can large language models automatically score proficiency of written essays? </a:t>
            </a:r>
          </a:p>
          <a:p>
            <a:pPr marL="0" indent="0">
              <a:buSzTx/>
              <a:buNone/>
              <a:defRPr sz="1600">
                <a:solidFill>
                  <a:srgbClr val="8EBAE5"/>
                </a:solidFill>
              </a:defRPr>
            </a:pPr>
            <a:r>
              <a:t>arXiv preprint arXiv:2403.06149</a:t>
            </a:r>
          </a:p>
          <a:p>
            <a:pPr marL="0" indent="0">
              <a:buSzTx/>
              <a:buNone/>
            </a:pPr>
            <a:endParaRPr b="1" sz="1600"/>
          </a:p>
          <a:p>
            <a:pPr marL="0" indent="0">
              <a:buSzTx/>
              <a:buNone/>
              <a:defRPr sz="1600">
                <a:solidFill>
                  <a:srgbClr val="00549F"/>
                </a:solidFill>
              </a:defRPr>
            </a:pPr>
            <a:r>
              <a:t>Mizumoto, A., Eguchi, M. (2023)</a:t>
            </a:r>
          </a:p>
          <a:p>
            <a:pPr marL="0" indent="0">
              <a:buSzTx/>
              <a:buNone/>
              <a:defRPr sz="1600"/>
            </a:pPr>
            <a:r>
              <a:t>Exploring the potential of using an ai language model for automated essay scoring. </a:t>
            </a:r>
          </a:p>
          <a:p>
            <a:pPr marL="0" indent="0">
              <a:buSzTx/>
              <a:buNone/>
              <a:defRPr sz="1600">
                <a:solidFill>
                  <a:srgbClr val="8EBAE5"/>
                </a:solidFill>
              </a:defRPr>
            </a:pPr>
            <a:r>
              <a:t>Research Methods in Applied Linguistics, 2(2):100050</a:t>
            </a:r>
          </a:p>
          <a:p>
            <a:pPr marL="0" indent="0">
              <a:buSzTx/>
              <a:buNone/>
            </a:pPr>
            <a:endParaRPr sz="1600"/>
          </a:p>
          <a:p>
            <a:pPr marL="0" indent="0">
              <a:buSzTx/>
              <a:buNone/>
              <a:defRPr sz="1600">
                <a:solidFill>
                  <a:srgbClr val="00549F"/>
                </a:solidFill>
              </a:defRPr>
            </a:pPr>
            <a:r>
              <a:t>Ruan, S., Jiang, L., Xu, J., Tham, B. J.-K., Qiu, Z., Zhu, Y., Murnane, E. L., Brunskill, E., Landay, J. A. (2019)</a:t>
            </a:r>
          </a:p>
          <a:p>
            <a:pPr marL="0" indent="0">
              <a:buSzTx/>
              <a:buNone/>
              <a:defRPr sz="1600"/>
            </a:pPr>
            <a:r>
              <a:t>Quizbot: A dialogue-based adaptive learning system for factual knowledge. </a:t>
            </a:r>
          </a:p>
          <a:p>
            <a:pPr marL="0" indent="0">
              <a:buSzTx/>
              <a:buNone/>
              <a:defRPr sz="1600">
                <a:solidFill>
                  <a:srgbClr val="8EBAE5"/>
                </a:solidFill>
              </a:defRPr>
            </a:pPr>
            <a:r>
              <a:t>In Proceedings of the 2019 CHI conference on human factors in computing systems, pages 1–13</a:t>
            </a:r>
          </a:p>
          <a:p>
            <a:pPr marL="0" indent="0">
              <a:buSzTx/>
              <a:buNone/>
            </a:pPr>
            <a:endParaRPr sz="1600"/>
          </a:p>
          <a:p>
            <a:pPr marL="0" indent="0">
              <a:buSzTx/>
              <a:buNone/>
              <a:defRPr sz="1600">
                <a:solidFill>
                  <a:srgbClr val="00549F"/>
                </a:solidFill>
              </a:defRPr>
            </a:pPr>
            <a:r>
              <a:t>Sauro, J., Lewis, J. R. (2016) </a:t>
            </a:r>
          </a:p>
          <a:p>
            <a:pPr marL="0" indent="0">
              <a:buSzTx/>
              <a:buNone/>
              <a:defRPr sz="1600"/>
            </a:pPr>
            <a:r>
              <a:t>Quantifying the user experience: Practical statistics for user research. </a:t>
            </a:r>
          </a:p>
          <a:p>
            <a:pPr marL="0" indent="0">
              <a:buSzTx/>
              <a:buNone/>
              <a:defRPr sz="1600">
                <a:solidFill>
                  <a:srgbClr val="8EBAE5"/>
                </a:solidFill>
              </a:defRPr>
            </a:pPr>
            <a:r>
              <a:t>Morgan Kaufmann</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0"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71" name="Google Shape;527;p73"/>
          <p:cNvSpPr txBox="1"/>
          <p:nvPr>
            <p:ph type="title"/>
          </p:nvPr>
        </p:nvSpPr>
        <p:spPr>
          <a:xfrm>
            <a:off x="384175" y="201612"/>
            <a:ext cx="11484000" cy="543001"/>
          </a:xfrm>
          <a:prstGeom prst="rect">
            <a:avLst/>
          </a:prstGeom>
        </p:spPr>
        <p:txBody>
          <a:bodyPr/>
          <a:lstStyle/>
          <a:p>
            <a:pPr/>
            <a:r>
              <a:t>References</a:t>
            </a:r>
          </a:p>
        </p:txBody>
      </p:sp>
      <p:sp>
        <p:nvSpPr>
          <p:cNvPr id="772" name="Google Shape;528;p73"/>
          <p:cNvSpPr txBox="1"/>
          <p:nvPr>
            <p:ph type="body" idx="1"/>
          </p:nvPr>
        </p:nvSpPr>
        <p:spPr>
          <a:xfrm>
            <a:off x="373075" y="1137923"/>
            <a:ext cx="11484000" cy="4785302"/>
          </a:xfrm>
          <a:prstGeom prst="rect">
            <a:avLst/>
          </a:prstGeom>
        </p:spPr>
        <p:txBody>
          <a:bodyPr anchor="ctr"/>
          <a:lstStyle/>
          <a:p>
            <a:pPr marL="0" indent="0">
              <a:buSzTx/>
              <a:buNone/>
              <a:defRPr sz="1600">
                <a:solidFill>
                  <a:srgbClr val="00549F"/>
                </a:solidFill>
              </a:defRPr>
            </a:pPr>
            <a:r>
              <a:t>Song, C., Song, Y. (2023)</a:t>
            </a:r>
          </a:p>
          <a:p>
            <a:pPr marL="0" indent="0">
              <a:buSzTx/>
              <a:buNone/>
              <a:defRPr sz="1600"/>
            </a:pPr>
            <a:r>
              <a:t>Enhancing academic writing skills and motivation: assessing the efficacy of chatgpt in ai-assisted language learning for efl students. </a:t>
            </a:r>
          </a:p>
          <a:p>
            <a:pPr marL="0" indent="0">
              <a:buSzTx/>
              <a:buNone/>
              <a:defRPr sz="1600">
                <a:solidFill>
                  <a:srgbClr val="8EBAE5"/>
                </a:solidFill>
              </a:defRPr>
            </a:pPr>
            <a:r>
              <a:t>Frontiers in Psychology, 14:1260843</a:t>
            </a:r>
          </a:p>
          <a:p>
            <a:pPr marL="0" indent="0">
              <a:buSzTx/>
              <a:buNone/>
            </a:pPr>
            <a:endParaRPr sz="1600"/>
          </a:p>
          <a:p>
            <a:pPr marL="0" indent="0">
              <a:buSzTx/>
              <a:buNone/>
              <a:defRPr sz="1600">
                <a:solidFill>
                  <a:srgbClr val="00549F"/>
                </a:solidFill>
              </a:defRPr>
            </a:pPr>
            <a:r>
              <a:t>Tran, T. T. H. (2023) </a:t>
            </a:r>
          </a:p>
          <a:p>
            <a:pPr marL="0" indent="0">
              <a:buSzTx/>
              <a:buNone/>
              <a:defRPr sz="1600"/>
            </a:pPr>
            <a:r>
              <a:t>Ai tools in teaching and learning english academic writing skills. </a:t>
            </a:r>
          </a:p>
          <a:p>
            <a:pPr marL="0" indent="0">
              <a:buSzTx/>
              <a:buNone/>
              <a:defRPr sz="1600">
                <a:solidFill>
                  <a:srgbClr val="8EBAE5"/>
                </a:solidFill>
              </a:defRPr>
            </a:pPr>
            <a:r>
              <a:t>In Proceedings of the AsiaCALL International Conference, volume 4, pages 170–187</a:t>
            </a:r>
          </a:p>
          <a:p>
            <a:pPr marL="0" indent="0">
              <a:buSzTx/>
              <a:buNone/>
            </a:pPr>
            <a:endParaRPr sz="1600"/>
          </a:p>
          <a:p>
            <a:pPr marL="0" indent="0">
              <a:buSzTx/>
              <a:buNone/>
              <a:defRPr sz="1600">
                <a:solidFill>
                  <a:srgbClr val="00549F"/>
                </a:solidFill>
              </a:defRPr>
            </a:pPr>
            <a:r>
              <a:t>Wellington, W., Hutchinson, D., Faria, A. J. (2015)</a:t>
            </a:r>
          </a:p>
          <a:p>
            <a:pPr marL="0" indent="0">
              <a:buSzTx/>
              <a:buNone/>
              <a:defRPr sz="1600"/>
            </a:pPr>
            <a:r>
              <a:t>The effectiveness of online quizzing as a repetitive learning tool in a marketing class: A field study of the testing effect. </a:t>
            </a:r>
          </a:p>
          <a:p>
            <a:pPr marL="0" indent="0">
              <a:buSzTx/>
              <a:buNone/>
              <a:defRPr sz="1600">
                <a:solidFill>
                  <a:srgbClr val="8EBAE5"/>
                </a:solidFill>
              </a:defRPr>
            </a:pPr>
            <a:r>
              <a:t>In Developments in business simulation and experiential learning: Proceedings of the annual ABSEL conference, volume 42</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4" name="Google Shape;534;p74"/>
          <p:cNvSpPr txBox="1"/>
          <p:nvPr>
            <p:ph type="title"/>
          </p:nvPr>
        </p:nvSpPr>
        <p:spPr>
          <a:xfrm>
            <a:off x="384000" y="2487599"/>
            <a:ext cx="11484000" cy="540001"/>
          </a:xfrm>
          <a:prstGeom prst="rect">
            <a:avLst/>
          </a:prstGeom>
        </p:spPr>
        <p:txBody>
          <a:bodyPr/>
          <a:lstStyle/>
          <a:p>
            <a:pPr/>
            <a:r>
              <a:t>Appendix</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77" name="Google Shape;539;p75"/>
          <p:cNvSpPr txBox="1"/>
          <p:nvPr>
            <p:ph type="title"/>
          </p:nvPr>
        </p:nvSpPr>
        <p:spPr>
          <a:xfrm>
            <a:off x="384175" y="201612"/>
            <a:ext cx="11484000" cy="543001"/>
          </a:xfrm>
          <a:prstGeom prst="rect">
            <a:avLst/>
          </a:prstGeom>
        </p:spPr>
        <p:txBody>
          <a:bodyPr/>
          <a:lstStyle/>
          <a:p>
            <a:pPr/>
            <a:r>
              <a:t>Conceptualization</a:t>
            </a:r>
          </a:p>
        </p:txBody>
      </p:sp>
      <p:graphicFrame>
        <p:nvGraphicFramePr>
          <p:cNvPr id="778" name="Google Shape;540;p75"/>
          <p:cNvGraphicFramePr/>
          <p:nvPr/>
        </p:nvGraphicFramePr>
        <p:xfrm>
          <a:off x="952500" y="2225163"/>
          <a:ext cx="10287000" cy="2286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78950"/>
                <a:gridCol w="8208050"/>
              </a:tblGrid>
              <a:tr h="381000">
                <a:tc>
                  <a:txBody>
                    <a:bodyPr/>
                    <a:lstStyle/>
                    <a:p>
                      <a:pPr>
                        <a:defRPr sz="1800"/>
                      </a:pPr>
                      <a:r>
                        <a:rPr b="1" sz="1600"/>
                        <a:t>Requirement</a:t>
                      </a:r>
                    </a:p>
                  </a:txBody>
                  <a:tcPr marL="91425" marR="91425" marT="91425" marB="91425" anchor="t" anchorCtr="0" horzOverflow="overflow"/>
                </a:tc>
                <a:tc>
                  <a:txBody>
                    <a:bodyPr/>
                    <a:lstStyle/>
                    <a:p>
                      <a:pPr>
                        <a:defRPr sz="1800"/>
                      </a:pPr>
                      <a:r>
                        <a:rPr b="1" sz="1600"/>
                        <a:t>What?</a:t>
                      </a:r>
                    </a:p>
                  </a:txBody>
                  <a:tcPr marL="91425" marR="91425" marT="91425" marB="91425" anchor="t" anchorCtr="0" horzOverflow="overflow"/>
                </a:tc>
              </a:tr>
              <a:tr h="381000">
                <a:tc>
                  <a:txBody>
                    <a:bodyPr/>
                    <a:lstStyle/>
                    <a:p>
                      <a:pPr>
                        <a:defRPr sz="1800"/>
                      </a:pPr>
                      <a:r>
                        <a:rPr sz="1400"/>
                        <a:t>Response time</a:t>
                      </a:r>
                    </a:p>
                  </a:txBody>
                  <a:tcPr marL="91425" marR="91425" marT="91425" marB="91425" anchor="t" anchorCtr="0" horzOverflow="overflow"/>
                </a:tc>
                <a:tc>
                  <a:txBody>
                    <a:bodyPr/>
                    <a:lstStyle/>
                    <a:p>
                      <a:pPr>
                        <a:defRPr sz="1800"/>
                      </a:pPr>
                      <a:r>
                        <a:rPr sz="1400"/>
                        <a:t>Optimize all system components, especially the LLM.</a:t>
                      </a:r>
                    </a:p>
                  </a:txBody>
                  <a:tcPr marL="91425" marR="91425" marT="91425" marB="91425" anchor="t" anchorCtr="0" horzOverflow="overflow"/>
                </a:tc>
              </a:tr>
              <a:tr h="381000">
                <a:tc>
                  <a:txBody>
                    <a:bodyPr/>
                    <a:lstStyle/>
                    <a:p>
                      <a:pPr>
                        <a:defRPr sz="1800"/>
                      </a:pPr>
                      <a:r>
                        <a:rPr sz="1400"/>
                        <a:t>Response quality</a:t>
                      </a:r>
                    </a:p>
                  </a:txBody>
                  <a:tcPr marL="91425" marR="91425" marT="91425" marB="91425" anchor="t" anchorCtr="0" horzOverflow="overflow"/>
                </a:tc>
                <a:tc>
                  <a:txBody>
                    <a:bodyPr/>
                    <a:lstStyle/>
                    <a:p>
                      <a:pPr>
                        <a:defRPr sz="1800"/>
                      </a:pPr>
                      <a:r>
                        <a:rPr sz="1400"/>
                        <a:t>Responses (feedback) should be accurate and relevant.</a:t>
                      </a:r>
                    </a:p>
                  </a:txBody>
                  <a:tcPr marL="91425" marR="91425" marT="91425" marB="91425" anchor="t" anchorCtr="0" horzOverflow="overflow"/>
                </a:tc>
              </a:tr>
              <a:tr h="381000">
                <a:tc>
                  <a:txBody>
                    <a:bodyPr/>
                    <a:lstStyle/>
                    <a:p>
                      <a:pPr>
                        <a:defRPr sz="1800"/>
                      </a:pPr>
                      <a:r>
                        <a:rPr sz="1400"/>
                        <a:t>Cost efficiency</a:t>
                      </a:r>
                    </a:p>
                  </a:txBody>
                  <a:tcPr marL="91425" marR="91425" marT="91425" marB="91425" anchor="t" anchorCtr="0" horzOverflow="overflow"/>
                </a:tc>
                <a:tc>
                  <a:txBody>
                    <a:bodyPr/>
                    <a:lstStyle/>
                    <a:p>
                      <a:pPr>
                        <a:defRPr sz="1800"/>
                      </a:pPr>
                      <a:r>
                        <a:rPr sz="1400"/>
                        <a:t>Implementation should not require large financial resources.</a:t>
                      </a:r>
                    </a:p>
                  </a:txBody>
                  <a:tcPr marL="91425" marR="91425" marT="91425" marB="91425" anchor="t" anchorCtr="0" horzOverflow="overflow"/>
                </a:tc>
              </a:tr>
              <a:tr h="381000">
                <a:tc>
                  <a:txBody>
                    <a:bodyPr/>
                    <a:lstStyle/>
                    <a:p>
                      <a:pPr>
                        <a:defRPr sz="1800"/>
                      </a:pPr>
                      <a:r>
                        <a:rPr sz="1400"/>
                        <a:t>Model selection</a:t>
                      </a:r>
                    </a:p>
                  </a:txBody>
                  <a:tcPr marL="91425" marR="91425" marT="91425" marB="91425" anchor="t" anchorCtr="0" horzOverflow="overflow"/>
                </a:tc>
                <a:tc>
                  <a:txBody>
                    <a:bodyPr/>
                    <a:lstStyle/>
                    <a:p>
                      <a:pPr>
                        <a:defRPr sz="1800"/>
                      </a:pPr>
                      <a:r>
                        <a:rPr sz="1400"/>
                        <a:t>Models must be chosen to achieve fast response times, high output quality, and low financial resources.</a:t>
                      </a:r>
                    </a:p>
                  </a:txBody>
                  <a:tcPr marL="91425" marR="91425" marT="91425" marB="91425" anchor="t" anchorCtr="0" horzOverflow="overflow"/>
                </a:tc>
              </a:tr>
              <a:tr h="381000">
                <a:tc>
                  <a:txBody>
                    <a:bodyPr/>
                    <a:lstStyle/>
                    <a:p>
                      <a:pPr>
                        <a:defRPr sz="1800"/>
                      </a:pPr>
                      <a:r>
                        <a:rPr sz="1400"/>
                        <a:t>Design</a:t>
                      </a:r>
                    </a:p>
                  </a:txBody>
                  <a:tcPr marL="91425" marR="91425" marT="91425" marB="91425" anchor="t" anchorCtr="0" horzOverflow="overflow"/>
                </a:tc>
                <a:tc>
                  <a:txBody>
                    <a:bodyPr/>
                    <a:lstStyle/>
                    <a:p>
                      <a:pPr>
                        <a:defRPr sz="1800"/>
                      </a:pPr>
                      <a:r>
                        <a:rPr sz="1400"/>
                        <a:t>Should be simple and intuitive, especially for new users.</a:t>
                      </a:r>
                    </a:p>
                  </a:txBody>
                  <a:tcPr marL="91425" marR="91425" marT="91425" marB="91425" anchor="t" anchorCtr="0" horzOverflow="overflow"/>
                </a:tc>
              </a:tr>
            </a:tbl>
          </a:graphicData>
        </a:graphic>
      </p:graphicFrame>
      <p:sp>
        <p:nvSpPr>
          <p:cNvPr id="779" name="Google Shape;541;p75"/>
          <p:cNvSpPr txBox="1"/>
          <p:nvPr/>
        </p:nvSpPr>
        <p:spPr>
          <a:xfrm>
            <a:off x="3759299" y="1856175"/>
            <a:ext cx="4673402"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A.1:</a:t>
            </a:r>
            <a:r>
              <a:rPr>
                <a:solidFill>
                  <a:srgbClr val="000000"/>
                </a:solidFill>
              </a:rPr>
              <a:t> Non-functional requirements</a:t>
            </a:r>
          </a:p>
        </p:txBody>
      </p:sp>
      <p:sp>
        <p:nvSpPr>
          <p:cNvPr id="780" name="Google Shape;542;p75"/>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Non-Functional Requirements</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2"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83" name="Google Shape;547;p76"/>
          <p:cNvSpPr txBox="1"/>
          <p:nvPr>
            <p:ph type="title"/>
          </p:nvPr>
        </p:nvSpPr>
        <p:spPr>
          <a:xfrm>
            <a:off x="384175" y="201612"/>
            <a:ext cx="11484000" cy="543001"/>
          </a:xfrm>
          <a:prstGeom prst="rect">
            <a:avLst/>
          </a:prstGeom>
        </p:spPr>
        <p:txBody>
          <a:bodyPr/>
          <a:lstStyle/>
          <a:p>
            <a:pPr/>
            <a:r>
              <a:t>Conceptualization</a:t>
            </a:r>
          </a:p>
        </p:txBody>
      </p:sp>
      <p:graphicFrame>
        <p:nvGraphicFramePr>
          <p:cNvPr id="784" name="Google Shape;548;p76"/>
          <p:cNvGraphicFramePr/>
          <p:nvPr/>
        </p:nvGraphicFramePr>
        <p:xfrm>
          <a:off x="952487" y="1935625"/>
          <a:ext cx="10287026" cy="2667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15550"/>
                <a:gridCol w="1628925"/>
                <a:gridCol w="6542550"/>
              </a:tblGrid>
              <a:tr h="381000">
                <a:tc>
                  <a:txBody>
                    <a:bodyPr/>
                    <a:lstStyle/>
                    <a:p>
                      <a:pPr>
                        <a:defRPr sz="1800"/>
                      </a:pPr>
                      <a:r>
                        <a:rPr b="1" sz="1400"/>
                        <a:t>Question Type</a:t>
                      </a:r>
                    </a:p>
                  </a:txBody>
                  <a:tcPr marL="91425" marR="91425" marT="91425" marB="91425" anchor="t" anchorCtr="0" horzOverflow="overflow"/>
                </a:tc>
                <a:tc>
                  <a:txBody>
                    <a:bodyPr/>
                    <a:lstStyle/>
                    <a:p>
                      <a:pPr>
                        <a:defRPr sz="1800"/>
                      </a:pPr>
                      <a:r>
                        <a:rPr b="1" sz="1400"/>
                        <a:t>Textual-Input or Multiple Choice?</a:t>
                      </a:r>
                    </a:p>
                  </a:txBody>
                  <a:tcPr marL="91425" marR="91425" marT="91425" marB="91425" anchor="t" anchorCtr="0" horzOverflow="overflow"/>
                </a:tc>
                <a:tc>
                  <a:txBody>
                    <a:bodyPr/>
                    <a:lstStyle/>
                    <a:p>
                      <a:pPr>
                        <a:defRPr sz="1800"/>
                      </a:pPr>
                      <a:r>
                        <a:rPr b="1" sz="1400"/>
                        <a:t>Explanation</a:t>
                      </a:r>
                    </a:p>
                  </a:txBody>
                  <a:tcPr marL="91425" marR="91425" marT="91425" marB="91425" anchor="t" anchorCtr="0" horzOverflow="overflow"/>
                </a:tc>
              </a:tr>
              <a:tr h="381000">
                <a:tc>
                  <a:txBody>
                    <a:bodyPr/>
                    <a:lstStyle/>
                    <a:p>
                      <a:pPr>
                        <a:defRPr sz="1800"/>
                      </a:pPr>
                      <a:r>
                        <a:rPr sz="1400"/>
                        <a:t>Revision</a:t>
                      </a:r>
                    </a:p>
                  </a:txBody>
                  <a:tcPr marL="91425" marR="91425" marT="91425" marB="91425" anchor="t" anchorCtr="0" horzOverflow="overflow"/>
                </a:tc>
                <a:tc>
                  <a:txBody>
                    <a:bodyPr/>
                    <a:lstStyle/>
                    <a:p>
                      <a:pPr>
                        <a:defRPr sz="1800"/>
                      </a:pPr>
                      <a:r>
                        <a:rPr sz="1400"/>
                        <a:t>Textual-input</a:t>
                      </a:r>
                    </a:p>
                  </a:txBody>
                  <a:tcPr marL="91425" marR="91425" marT="91425" marB="91425" anchor="t" anchorCtr="0" horzOverflow="overflow"/>
                </a:tc>
                <a:tc>
                  <a:txBody>
                    <a:bodyPr/>
                    <a:lstStyle/>
                    <a:p>
                      <a:pPr>
                        <a:defRPr sz="1800"/>
                      </a:pPr>
                      <a:r>
                        <a:rPr sz="1400"/>
                        <a:t>Revise and correct grammatical errors in a sentence.</a:t>
                      </a:r>
                    </a:p>
                  </a:txBody>
                  <a:tcPr marL="91425" marR="91425" marT="91425" marB="91425" anchor="t" anchorCtr="0" horzOverflow="overflow"/>
                </a:tc>
              </a:tr>
              <a:tr h="381000">
                <a:tc>
                  <a:txBody>
                    <a:bodyPr/>
                    <a:lstStyle/>
                    <a:p>
                      <a:pPr>
                        <a:defRPr sz="1800"/>
                      </a:pPr>
                      <a:r>
                        <a:rPr sz="1400"/>
                        <a:t>Synonyms</a:t>
                      </a:r>
                    </a:p>
                  </a:txBody>
                  <a:tcPr marL="91425" marR="91425" marT="91425" marB="91425" anchor="t" anchorCtr="0" horzOverflow="overflow"/>
                </a:tc>
                <a:tc>
                  <a:txBody>
                    <a:bodyPr/>
                    <a:lstStyle/>
                    <a:p>
                      <a:pPr>
                        <a:defRPr sz="1800"/>
                      </a:pPr>
                      <a:r>
                        <a:rPr sz="1400"/>
                        <a:t>Multiple choice</a:t>
                      </a:r>
                    </a:p>
                  </a:txBody>
                  <a:tcPr marL="91425" marR="91425" marT="91425" marB="91425" anchor="t" anchorCtr="0" horzOverflow="overflow"/>
                </a:tc>
                <a:tc>
                  <a:txBody>
                    <a:bodyPr/>
                    <a:lstStyle/>
                    <a:p>
                      <a:pPr>
                        <a:defRPr sz="1800"/>
                      </a:pPr>
                      <a:r>
                        <a:rPr sz="1400"/>
                        <a:t>Select a more academic synonym for a highlighted word.</a:t>
                      </a:r>
                    </a:p>
                  </a:txBody>
                  <a:tcPr marL="91425" marR="91425" marT="91425" marB="91425" anchor="t" anchorCtr="0" horzOverflow="overflow"/>
                </a:tc>
              </a:tr>
              <a:tr h="381000">
                <a:tc>
                  <a:txBody>
                    <a:bodyPr/>
                    <a:lstStyle/>
                    <a:p>
                      <a:pPr>
                        <a:defRPr sz="1800"/>
                      </a:pPr>
                      <a:r>
                        <a:rPr sz="1400"/>
                        <a:t>Organization</a:t>
                      </a:r>
                    </a:p>
                  </a:txBody>
                  <a:tcPr marL="91425" marR="91425" marT="91425" marB="91425" anchor="t" anchorCtr="0" horzOverflow="overflow"/>
                </a:tc>
                <a:tc>
                  <a:txBody>
                    <a:bodyPr/>
                    <a:lstStyle/>
                    <a:p>
                      <a:pPr>
                        <a:defRPr sz="1800"/>
                      </a:pPr>
                      <a:r>
                        <a:rPr sz="1400"/>
                        <a:t>Multiple choice</a:t>
                      </a:r>
                    </a:p>
                  </a:txBody>
                  <a:tcPr marL="91425" marR="91425" marT="91425" marB="91425" anchor="t" anchorCtr="0" horzOverflow="overflow"/>
                </a:tc>
                <a:tc>
                  <a:txBody>
                    <a:bodyPr/>
                    <a:lstStyle/>
                    <a:p>
                      <a:pPr>
                        <a:defRPr sz="1800"/>
                      </a:pPr>
                      <a:r>
                        <a:rPr sz="1400"/>
                        <a:t>Complete a sentence ensuring logical progression between excerpts.</a:t>
                      </a:r>
                    </a:p>
                  </a:txBody>
                  <a:tcPr marL="91425" marR="91425" marT="91425" marB="91425" anchor="t" anchorCtr="0" horzOverflow="overflow"/>
                </a:tc>
              </a:tr>
              <a:tr h="381000">
                <a:tc>
                  <a:txBody>
                    <a:bodyPr/>
                    <a:lstStyle/>
                    <a:p>
                      <a:pPr>
                        <a:defRPr sz="1800"/>
                      </a:pPr>
                      <a:r>
                        <a:rPr sz="1400"/>
                        <a:t>Coherence</a:t>
                      </a:r>
                    </a:p>
                  </a:txBody>
                  <a:tcPr marL="91425" marR="91425" marT="91425" marB="91425" anchor="t" anchorCtr="0" horzOverflow="overflow"/>
                </a:tc>
                <a:tc>
                  <a:txBody>
                    <a:bodyPr/>
                    <a:lstStyle/>
                    <a:p>
                      <a:pPr>
                        <a:defRPr sz="1800"/>
                      </a:pPr>
                      <a:r>
                        <a:rPr sz="1400"/>
                        <a:t>Multiple choice</a:t>
                      </a:r>
                    </a:p>
                  </a:txBody>
                  <a:tcPr marL="91425" marR="91425" marT="91425" marB="91425" anchor="t" anchorCtr="0" horzOverflow="overflow"/>
                </a:tc>
                <a:tc>
                  <a:txBody>
                    <a:bodyPr/>
                    <a:lstStyle/>
                    <a:p>
                      <a:pPr>
                        <a:defRPr sz="1800"/>
                      </a:pPr>
                      <a:r>
                        <a:rPr sz="1400"/>
                        <a:t>Select the best continuation to maintain paragraph coherence.</a:t>
                      </a:r>
                    </a:p>
                  </a:txBody>
                  <a:tcPr marL="91425" marR="91425" marT="91425" marB="91425" anchor="t" anchorCtr="0" horzOverflow="overflow"/>
                </a:tc>
              </a:tr>
              <a:tr h="381000">
                <a:tc>
                  <a:txBody>
                    <a:bodyPr/>
                    <a:lstStyle/>
                    <a:p>
                      <a:pPr>
                        <a:defRPr sz="1800"/>
                      </a:pPr>
                      <a:r>
                        <a:rPr sz="1400"/>
                        <a:t>Academic sentence</a:t>
                      </a:r>
                    </a:p>
                  </a:txBody>
                  <a:tcPr marL="91425" marR="91425" marT="91425" marB="91425" anchor="t" anchorCtr="0" horzOverflow="overflow"/>
                </a:tc>
                <a:tc>
                  <a:txBody>
                    <a:bodyPr/>
                    <a:lstStyle/>
                    <a:p>
                      <a:pPr>
                        <a:defRPr sz="1800"/>
                      </a:pPr>
                      <a:r>
                        <a:rPr sz="1400"/>
                        <a:t>Textual-input</a:t>
                      </a:r>
                    </a:p>
                  </a:txBody>
                  <a:tcPr marL="91425" marR="91425" marT="91425" marB="91425" anchor="t" anchorCtr="0" horzOverflow="overflow"/>
                </a:tc>
                <a:tc>
                  <a:txBody>
                    <a:bodyPr/>
                    <a:lstStyle/>
                    <a:p>
                      <a:pPr>
                        <a:defRPr sz="1800"/>
                      </a:pPr>
                      <a:r>
                        <a:rPr sz="1400"/>
                        <a:t>Paraphrase a sentence to make it more formal.</a:t>
                      </a:r>
                    </a:p>
                  </a:txBody>
                  <a:tcPr marL="91425" marR="91425" marT="91425" marB="91425" anchor="t" anchorCtr="0" horzOverflow="overflow"/>
                </a:tc>
              </a:tr>
              <a:tr h="381000">
                <a:tc>
                  <a:txBody>
                    <a:bodyPr/>
                    <a:lstStyle/>
                    <a:p>
                      <a:pPr>
                        <a:defRPr sz="1800"/>
                      </a:pPr>
                      <a:r>
                        <a:rPr sz="1400"/>
                        <a:t>Argument strengthening</a:t>
                      </a:r>
                    </a:p>
                  </a:txBody>
                  <a:tcPr marL="91425" marR="91425" marT="91425" marB="91425" anchor="t" anchorCtr="0" horzOverflow="overflow"/>
                </a:tc>
                <a:tc>
                  <a:txBody>
                    <a:bodyPr/>
                    <a:lstStyle/>
                    <a:p>
                      <a:pPr>
                        <a:defRPr sz="1800"/>
                      </a:pPr>
                      <a:r>
                        <a:rPr sz="1400"/>
                        <a:t>Multiple choice</a:t>
                      </a:r>
                    </a:p>
                  </a:txBody>
                  <a:tcPr marL="91425" marR="91425" marT="91425" marB="91425" anchor="t" anchorCtr="0" horzOverflow="overflow"/>
                </a:tc>
                <a:tc>
                  <a:txBody>
                    <a:bodyPr/>
                    <a:lstStyle/>
                    <a:p>
                      <a:pPr>
                        <a:defRPr sz="1800"/>
                      </a:pPr>
                      <a:r>
                        <a:rPr sz="1400"/>
                        <a:t>Choose the best option to strengthen a weak argument.</a:t>
                      </a:r>
                    </a:p>
                  </a:txBody>
                  <a:tcPr marL="91425" marR="91425" marT="91425" marB="91425" anchor="t" anchorCtr="0" horzOverflow="overflow"/>
                </a:tc>
              </a:tr>
            </a:tbl>
          </a:graphicData>
        </a:graphic>
      </p:graphicFrame>
      <p:sp>
        <p:nvSpPr>
          <p:cNvPr id="785" name="Google Shape;549;p76"/>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Question Design</a:t>
            </a:r>
          </a:p>
        </p:txBody>
      </p:sp>
      <p:sp>
        <p:nvSpPr>
          <p:cNvPr id="786" name="Google Shape;550;p76"/>
          <p:cNvSpPr txBox="1"/>
          <p:nvPr/>
        </p:nvSpPr>
        <p:spPr>
          <a:xfrm>
            <a:off x="3759299" y="1566625"/>
            <a:ext cx="4673402"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A.2:</a:t>
            </a:r>
            <a:r>
              <a:rPr>
                <a:solidFill>
                  <a:srgbClr val="000000"/>
                </a:solidFill>
              </a:rPr>
              <a:t> Question design</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8"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89" name="Google Shape;556;p77"/>
          <p:cNvSpPr txBox="1"/>
          <p:nvPr>
            <p:ph type="title"/>
          </p:nvPr>
        </p:nvSpPr>
        <p:spPr>
          <a:xfrm>
            <a:off x="384000" y="201600"/>
            <a:ext cx="11484000" cy="543601"/>
          </a:xfrm>
          <a:prstGeom prst="rect">
            <a:avLst/>
          </a:prstGeom>
        </p:spPr>
        <p:txBody>
          <a:bodyPr/>
          <a:lstStyle/>
          <a:p>
            <a:pPr/>
            <a:r>
              <a:t>Conceptualization</a:t>
            </a:r>
          </a:p>
        </p:txBody>
      </p:sp>
      <p:pic>
        <p:nvPicPr>
          <p:cNvPr id="790" name="Google Shape;557;p77" descr="Google Shape;557;p77"/>
          <p:cNvPicPr>
            <a:picLocks noChangeAspect="1"/>
          </p:cNvPicPr>
          <p:nvPr/>
        </p:nvPicPr>
        <p:blipFill>
          <a:blip r:embed="rId2">
            <a:extLst/>
          </a:blip>
          <a:stretch>
            <a:fillRect/>
          </a:stretch>
        </p:blipFill>
        <p:spPr>
          <a:xfrm>
            <a:off x="2553599" y="1327799"/>
            <a:ext cx="7084803" cy="4320001"/>
          </a:xfrm>
          <a:prstGeom prst="rect">
            <a:avLst/>
          </a:prstGeom>
          <a:ln w="12700">
            <a:miter lim="400000"/>
          </a:ln>
        </p:spPr>
      </p:pic>
      <p:sp>
        <p:nvSpPr>
          <p:cNvPr id="791" name="Google Shape;558;p77"/>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AI Evaluation</a:t>
            </a:r>
          </a:p>
        </p:txBody>
      </p:sp>
      <p:sp>
        <p:nvSpPr>
          <p:cNvPr id="792" name="Google Shape;559;p77"/>
          <p:cNvSpPr txBox="1"/>
          <p:nvPr/>
        </p:nvSpPr>
        <p:spPr>
          <a:xfrm>
            <a:off x="2864250" y="5688100"/>
            <a:ext cx="6523500"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A.1:</a:t>
            </a:r>
            <a:r>
              <a:rPr>
                <a:solidFill>
                  <a:srgbClr val="000000"/>
                </a:solidFill>
              </a:rPr>
              <a:t> Sequence diagram depicting the generation of the AI Evaluation</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4"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95" name="Google Shape;565;p78"/>
          <p:cNvSpPr txBox="1"/>
          <p:nvPr>
            <p:ph type="title"/>
          </p:nvPr>
        </p:nvSpPr>
        <p:spPr>
          <a:xfrm>
            <a:off x="384000" y="201600"/>
            <a:ext cx="11484000" cy="543601"/>
          </a:xfrm>
          <a:prstGeom prst="rect">
            <a:avLst/>
          </a:prstGeom>
        </p:spPr>
        <p:txBody>
          <a:bodyPr/>
          <a:lstStyle/>
          <a:p>
            <a:pPr/>
            <a:r>
              <a:t>Conceptualization</a:t>
            </a:r>
          </a:p>
        </p:txBody>
      </p:sp>
      <p:pic>
        <p:nvPicPr>
          <p:cNvPr id="796" name="Google Shape;566;p78" descr="Google Shape;566;p78"/>
          <p:cNvPicPr>
            <a:picLocks noChangeAspect="1"/>
          </p:cNvPicPr>
          <p:nvPr/>
        </p:nvPicPr>
        <p:blipFill>
          <a:blip r:embed="rId2">
            <a:extLst/>
          </a:blip>
          <a:stretch>
            <a:fillRect/>
          </a:stretch>
        </p:blipFill>
        <p:spPr>
          <a:xfrm>
            <a:off x="1405162" y="1583139"/>
            <a:ext cx="9381675" cy="4118226"/>
          </a:xfrm>
          <a:prstGeom prst="rect">
            <a:avLst/>
          </a:prstGeom>
          <a:ln w="12700">
            <a:miter lim="400000"/>
          </a:ln>
        </p:spPr>
      </p:pic>
      <p:sp>
        <p:nvSpPr>
          <p:cNvPr id="797" name="Google Shape;567;p78"/>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Question Generation</a:t>
            </a:r>
          </a:p>
        </p:txBody>
      </p:sp>
      <p:sp>
        <p:nvSpPr>
          <p:cNvPr id="798" name="Google Shape;568;p78"/>
          <p:cNvSpPr txBox="1"/>
          <p:nvPr/>
        </p:nvSpPr>
        <p:spPr>
          <a:xfrm>
            <a:off x="2834250" y="5701374"/>
            <a:ext cx="6523500"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A.2:</a:t>
            </a:r>
            <a:r>
              <a:rPr>
                <a:solidFill>
                  <a:srgbClr val="000000"/>
                </a:solidFill>
              </a:rPr>
              <a:t> Sequence diagram depicting the question generation</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0"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01" name="Google Shape;574;p79"/>
          <p:cNvSpPr txBox="1"/>
          <p:nvPr>
            <p:ph type="title"/>
          </p:nvPr>
        </p:nvSpPr>
        <p:spPr>
          <a:xfrm>
            <a:off x="384000" y="201600"/>
            <a:ext cx="11484000" cy="543601"/>
          </a:xfrm>
          <a:prstGeom prst="rect">
            <a:avLst/>
          </a:prstGeom>
        </p:spPr>
        <p:txBody>
          <a:bodyPr/>
          <a:lstStyle/>
          <a:p>
            <a:pPr/>
            <a:r>
              <a:t>Conceptualization</a:t>
            </a:r>
          </a:p>
        </p:txBody>
      </p:sp>
      <p:pic>
        <p:nvPicPr>
          <p:cNvPr id="802" name="Google Shape;575;p79" descr="Google Shape;575;p79"/>
          <p:cNvPicPr>
            <a:picLocks noChangeAspect="1"/>
          </p:cNvPicPr>
          <p:nvPr/>
        </p:nvPicPr>
        <p:blipFill>
          <a:blip r:embed="rId2">
            <a:extLst/>
          </a:blip>
          <a:stretch>
            <a:fillRect/>
          </a:stretch>
        </p:blipFill>
        <p:spPr>
          <a:xfrm>
            <a:off x="1728299" y="1571608"/>
            <a:ext cx="8735402" cy="4139999"/>
          </a:xfrm>
          <a:prstGeom prst="rect">
            <a:avLst/>
          </a:prstGeom>
          <a:ln w="12700">
            <a:miter lim="400000"/>
          </a:ln>
        </p:spPr>
      </p:pic>
      <p:sp>
        <p:nvSpPr>
          <p:cNvPr id="803" name="Google Shape;576;p79"/>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Quiz Generation</a:t>
            </a:r>
          </a:p>
        </p:txBody>
      </p:sp>
      <p:sp>
        <p:nvSpPr>
          <p:cNvPr id="804" name="Google Shape;577;p79"/>
          <p:cNvSpPr txBox="1"/>
          <p:nvPr/>
        </p:nvSpPr>
        <p:spPr>
          <a:xfrm>
            <a:off x="2864250" y="5688100"/>
            <a:ext cx="6523500"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A.3:</a:t>
            </a:r>
            <a:r>
              <a:rPr>
                <a:solidFill>
                  <a:srgbClr val="000000"/>
                </a:solidFill>
              </a:rPr>
              <a:t> Sequence diagram depicting the quiz generation</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07" name="Google Shape;583;p80"/>
          <p:cNvSpPr txBox="1"/>
          <p:nvPr>
            <p:ph type="title"/>
          </p:nvPr>
        </p:nvSpPr>
        <p:spPr>
          <a:xfrm>
            <a:off x="384000" y="201600"/>
            <a:ext cx="11484000" cy="543601"/>
          </a:xfrm>
          <a:prstGeom prst="rect">
            <a:avLst/>
          </a:prstGeom>
        </p:spPr>
        <p:txBody>
          <a:bodyPr/>
          <a:lstStyle/>
          <a:p>
            <a:pPr/>
            <a:r>
              <a:t>Conceptualization</a:t>
            </a:r>
          </a:p>
        </p:txBody>
      </p:sp>
      <p:pic>
        <p:nvPicPr>
          <p:cNvPr id="808" name="Google Shape;584;p80" descr="Google Shape;584;p80"/>
          <p:cNvPicPr>
            <a:picLocks noChangeAspect="1"/>
          </p:cNvPicPr>
          <p:nvPr/>
        </p:nvPicPr>
        <p:blipFill>
          <a:blip r:embed="rId2">
            <a:extLst/>
          </a:blip>
          <a:stretch>
            <a:fillRect/>
          </a:stretch>
        </p:blipFill>
        <p:spPr>
          <a:xfrm>
            <a:off x="1997399" y="1474144"/>
            <a:ext cx="8197201" cy="4140001"/>
          </a:xfrm>
          <a:prstGeom prst="rect">
            <a:avLst/>
          </a:prstGeom>
          <a:ln w="12700">
            <a:miter lim="400000"/>
          </a:ln>
        </p:spPr>
      </p:pic>
      <p:sp>
        <p:nvSpPr>
          <p:cNvPr id="809" name="Google Shape;585;p80"/>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Tip Generation</a:t>
            </a:r>
          </a:p>
        </p:txBody>
      </p:sp>
      <p:sp>
        <p:nvSpPr>
          <p:cNvPr id="810" name="Google Shape;586;p80"/>
          <p:cNvSpPr txBox="1"/>
          <p:nvPr/>
        </p:nvSpPr>
        <p:spPr>
          <a:xfrm>
            <a:off x="2864250" y="5688100"/>
            <a:ext cx="6523500"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A.4:</a:t>
            </a:r>
            <a:r>
              <a:rPr>
                <a:solidFill>
                  <a:srgbClr val="000000"/>
                </a:solidFill>
              </a:rPr>
              <a:t> Sequence diagram depicting the tip generation</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2"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13" name="Google Shape;591;p81"/>
          <p:cNvSpPr txBox="1"/>
          <p:nvPr>
            <p:ph type="title"/>
          </p:nvPr>
        </p:nvSpPr>
        <p:spPr>
          <a:xfrm>
            <a:off x="384175" y="201612"/>
            <a:ext cx="11484000" cy="543001"/>
          </a:xfrm>
          <a:prstGeom prst="rect">
            <a:avLst/>
          </a:prstGeom>
        </p:spPr>
        <p:txBody>
          <a:bodyPr/>
          <a:lstStyle/>
          <a:p>
            <a:pPr/>
            <a:r>
              <a:t>Realization</a:t>
            </a:r>
          </a:p>
        </p:txBody>
      </p:sp>
      <p:pic>
        <p:nvPicPr>
          <p:cNvPr id="814" name="Google Shape;592;p81" descr="Google Shape;592;p81"/>
          <p:cNvPicPr>
            <a:picLocks noChangeAspect="1"/>
          </p:cNvPicPr>
          <p:nvPr/>
        </p:nvPicPr>
        <p:blipFill>
          <a:blip r:embed="rId2">
            <a:extLst/>
          </a:blip>
          <a:stretch>
            <a:fillRect/>
          </a:stretch>
        </p:blipFill>
        <p:spPr>
          <a:xfrm>
            <a:off x="4115999" y="836612"/>
            <a:ext cx="3960000" cy="4712403"/>
          </a:xfrm>
          <a:prstGeom prst="rect">
            <a:avLst/>
          </a:prstGeom>
          <a:ln w="12700">
            <a:miter lim="400000"/>
          </a:ln>
        </p:spPr>
      </p:pic>
      <p:sp>
        <p:nvSpPr>
          <p:cNvPr id="815" name="Google Shape;593;p81"/>
          <p:cNvSpPr txBox="1"/>
          <p:nvPr/>
        </p:nvSpPr>
        <p:spPr>
          <a:xfrm>
            <a:off x="4115999" y="5490674"/>
            <a:ext cx="3960002" cy="5834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A.5:</a:t>
            </a:r>
            <a:r>
              <a:rPr>
                <a:solidFill>
                  <a:srgbClr val="000000"/>
                </a:solidFill>
              </a:rPr>
              <a:t> Correction prompt for grammar and vocabulary.</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7"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18" name="Google Shape;598;p82"/>
          <p:cNvSpPr txBox="1"/>
          <p:nvPr>
            <p:ph type="title"/>
          </p:nvPr>
        </p:nvSpPr>
        <p:spPr>
          <a:xfrm>
            <a:off x="384175" y="201612"/>
            <a:ext cx="11484000" cy="543001"/>
          </a:xfrm>
          <a:prstGeom prst="rect">
            <a:avLst/>
          </a:prstGeom>
        </p:spPr>
        <p:txBody>
          <a:bodyPr/>
          <a:lstStyle/>
          <a:p>
            <a:pPr/>
            <a:r>
              <a:t>Realization</a:t>
            </a:r>
          </a:p>
        </p:txBody>
      </p:sp>
      <p:sp>
        <p:nvSpPr>
          <p:cNvPr id="819" name="Google Shape;599;p82"/>
          <p:cNvSpPr txBox="1"/>
          <p:nvPr/>
        </p:nvSpPr>
        <p:spPr>
          <a:xfrm>
            <a:off x="5988749" y="5360399"/>
            <a:ext cx="5252401" cy="5834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A.7:</a:t>
            </a:r>
            <a:r>
              <a:rPr>
                <a:solidFill>
                  <a:srgbClr val="000000"/>
                </a:solidFill>
              </a:rPr>
              <a:t> Part 2 of the correction prompt for organization, coherence and writing style.</a:t>
            </a:r>
          </a:p>
        </p:txBody>
      </p:sp>
      <p:pic>
        <p:nvPicPr>
          <p:cNvPr id="820" name="Google Shape;600;p82" descr="Google Shape;600;p82"/>
          <p:cNvPicPr>
            <a:picLocks noChangeAspect="1"/>
          </p:cNvPicPr>
          <p:nvPr/>
        </p:nvPicPr>
        <p:blipFill>
          <a:blip r:embed="rId2">
            <a:extLst/>
          </a:blip>
          <a:stretch>
            <a:fillRect/>
          </a:stretch>
        </p:blipFill>
        <p:spPr>
          <a:xfrm>
            <a:off x="5988754" y="966875"/>
            <a:ext cx="5252399" cy="4393519"/>
          </a:xfrm>
          <a:prstGeom prst="rect">
            <a:avLst/>
          </a:prstGeom>
          <a:ln w="12700">
            <a:miter lim="400000"/>
          </a:ln>
        </p:spPr>
      </p:pic>
      <p:sp>
        <p:nvSpPr>
          <p:cNvPr id="821" name="Google Shape;601;p82"/>
          <p:cNvSpPr txBox="1"/>
          <p:nvPr/>
        </p:nvSpPr>
        <p:spPr>
          <a:xfrm>
            <a:off x="1206637" y="5390888"/>
            <a:ext cx="3960002" cy="5834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A.6:</a:t>
            </a:r>
            <a:r>
              <a:rPr>
                <a:solidFill>
                  <a:srgbClr val="000000"/>
                </a:solidFill>
              </a:rPr>
              <a:t> Part 1 of the correction prompt for organization, coherence and writing style.</a:t>
            </a:r>
          </a:p>
        </p:txBody>
      </p:sp>
      <p:pic>
        <p:nvPicPr>
          <p:cNvPr id="822" name="Google Shape;602;p82" descr="Google Shape;602;p82"/>
          <p:cNvPicPr>
            <a:picLocks noChangeAspect="1"/>
          </p:cNvPicPr>
          <p:nvPr/>
        </p:nvPicPr>
        <p:blipFill>
          <a:blip r:embed="rId3">
            <a:extLst/>
          </a:blip>
          <a:stretch>
            <a:fillRect/>
          </a:stretch>
        </p:blipFill>
        <p:spPr>
          <a:xfrm>
            <a:off x="1011187" y="936400"/>
            <a:ext cx="4350894" cy="4454486"/>
          </a:xfrm>
          <a:prstGeom prst="rect">
            <a:avLst/>
          </a:prstGeom>
          <a:ln w="12700">
            <a:miter lim="400000"/>
          </a:ln>
        </p:spPr>
      </p:pic>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4"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25" name="Google Shape;607;p83"/>
          <p:cNvSpPr txBox="1"/>
          <p:nvPr>
            <p:ph type="title"/>
          </p:nvPr>
        </p:nvSpPr>
        <p:spPr>
          <a:xfrm>
            <a:off x="384175" y="201612"/>
            <a:ext cx="11484000" cy="543001"/>
          </a:xfrm>
          <a:prstGeom prst="rect">
            <a:avLst/>
          </a:prstGeom>
        </p:spPr>
        <p:txBody>
          <a:bodyPr/>
          <a:lstStyle/>
          <a:p>
            <a:pPr/>
            <a:r>
              <a:t>Realization</a:t>
            </a:r>
          </a:p>
        </p:txBody>
      </p:sp>
      <p:pic>
        <p:nvPicPr>
          <p:cNvPr id="826" name="Google Shape;608;p83" descr="Google Shape;608;p83"/>
          <p:cNvPicPr>
            <a:picLocks noChangeAspect="1"/>
          </p:cNvPicPr>
          <p:nvPr/>
        </p:nvPicPr>
        <p:blipFill>
          <a:blip r:embed="rId2">
            <a:extLst/>
          </a:blip>
          <a:stretch>
            <a:fillRect/>
          </a:stretch>
        </p:blipFill>
        <p:spPr>
          <a:xfrm>
            <a:off x="5794025" y="1130988"/>
            <a:ext cx="6120001" cy="4100401"/>
          </a:xfrm>
          <a:prstGeom prst="rect">
            <a:avLst/>
          </a:prstGeom>
          <a:ln w="12700">
            <a:miter lim="400000"/>
          </a:ln>
        </p:spPr>
      </p:pic>
      <p:sp>
        <p:nvSpPr>
          <p:cNvPr id="827" name="Google Shape;609;p83"/>
          <p:cNvSpPr txBox="1"/>
          <p:nvPr/>
        </p:nvSpPr>
        <p:spPr>
          <a:xfrm>
            <a:off x="7175500" y="5231400"/>
            <a:ext cx="3296700"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A.9:</a:t>
            </a:r>
            <a:r>
              <a:rPr>
                <a:solidFill>
                  <a:srgbClr val="000000"/>
                </a:solidFill>
              </a:rPr>
              <a:t> Question selection prompt.</a:t>
            </a:r>
          </a:p>
        </p:txBody>
      </p:sp>
      <p:sp>
        <p:nvSpPr>
          <p:cNvPr id="828" name="Google Shape;610;p83"/>
          <p:cNvSpPr txBox="1"/>
          <p:nvPr/>
        </p:nvSpPr>
        <p:spPr>
          <a:xfrm>
            <a:off x="1196425" y="4321688"/>
            <a:ext cx="3296700"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A.8:</a:t>
            </a:r>
            <a:r>
              <a:rPr>
                <a:solidFill>
                  <a:srgbClr val="000000"/>
                </a:solidFill>
              </a:rPr>
              <a:t> Scoring prompt.</a:t>
            </a:r>
          </a:p>
        </p:txBody>
      </p:sp>
      <p:pic>
        <p:nvPicPr>
          <p:cNvPr id="829" name="Google Shape;611;p83" descr="Google Shape;611;p83"/>
          <p:cNvPicPr>
            <a:picLocks noChangeAspect="1"/>
          </p:cNvPicPr>
          <p:nvPr/>
        </p:nvPicPr>
        <p:blipFill>
          <a:blip r:embed="rId3">
            <a:extLst/>
          </a:blip>
          <a:stretch>
            <a:fillRect/>
          </a:stretch>
        </p:blipFill>
        <p:spPr>
          <a:xfrm>
            <a:off x="277980" y="2040713"/>
            <a:ext cx="5133603" cy="2280986"/>
          </a:xfrm>
          <a:prstGeom prst="rect">
            <a:avLst/>
          </a:prstGeom>
          <a:ln w="12700">
            <a:miter lim="400000"/>
          </a:ln>
        </p:spPr>
      </p:pic>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1"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32" name="Google Shape;616;p84"/>
          <p:cNvSpPr txBox="1"/>
          <p:nvPr>
            <p:ph type="title"/>
          </p:nvPr>
        </p:nvSpPr>
        <p:spPr>
          <a:xfrm>
            <a:off x="384175" y="201612"/>
            <a:ext cx="11484000" cy="543001"/>
          </a:xfrm>
          <a:prstGeom prst="rect">
            <a:avLst/>
          </a:prstGeom>
        </p:spPr>
        <p:txBody>
          <a:bodyPr/>
          <a:lstStyle/>
          <a:p>
            <a:pPr/>
            <a:r>
              <a:t>Realization</a:t>
            </a:r>
          </a:p>
        </p:txBody>
      </p:sp>
      <p:pic>
        <p:nvPicPr>
          <p:cNvPr id="833" name="Google Shape;617;p84" descr="Google Shape;617;p84"/>
          <p:cNvPicPr>
            <a:picLocks noChangeAspect="1"/>
          </p:cNvPicPr>
          <p:nvPr/>
        </p:nvPicPr>
        <p:blipFill>
          <a:blip r:embed="rId2">
            <a:extLst/>
          </a:blip>
          <a:stretch>
            <a:fillRect/>
          </a:stretch>
        </p:blipFill>
        <p:spPr>
          <a:xfrm>
            <a:off x="2179199" y="1090799"/>
            <a:ext cx="8280001" cy="1674001"/>
          </a:xfrm>
          <a:prstGeom prst="rect">
            <a:avLst/>
          </a:prstGeom>
          <a:ln w="12700">
            <a:miter lim="400000"/>
          </a:ln>
        </p:spPr>
      </p:pic>
      <p:pic>
        <p:nvPicPr>
          <p:cNvPr id="834" name="Google Shape;618;p84" descr="Google Shape;618;p84"/>
          <p:cNvPicPr>
            <a:picLocks noChangeAspect="1"/>
          </p:cNvPicPr>
          <p:nvPr/>
        </p:nvPicPr>
        <p:blipFill>
          <a:blip r:embed="rId3">
            <a:extLst/>
          </a:blip>
          <a:stretch>
            <a:fillRect/>
          </a:stretch>
        </p:blipFill>
        <p:spPr>
          <a:xfrm>
            <a:off x="2179199" y="3630276"/>
            <a:ext cx="8280001" cy="1674001"/>
          </a:xfrm>
          <a:prstGeom prst="rect">
            <a:avLst/>
          </a:prstGeom>
          <a:ln w="12700">
            <a:miter lim="400000"/>
          </a:ln>
        </p:spPr>
      </p:pic>
      <p:sp>
        <p:nvSpPr>
          <p:cNvPr id="835" name="Google Shape;619;p84"/>
          <p:cNvSpPr txBox="1"/>
          <p:nvPr/>
        </p:nvSpPr>
        <p:spPr>
          <a:xfrm>
            <a:off x="3120325" y="5304275"/>
            <a:ext cx="60117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A.11:</a:t>
            </a:r>
            <a:r>
              <a:rPr>
                <a:solidFill>
                  <a:srgbClr val="000000"/>
                </a:solidFill>
              </a:rPr>
              <a:t> Prompt for the generation of coherence tips</a:t>
            </a:r>
          </a:p>
        </p:txBody>
      </p:sp>
      <p:sp>
        <p:nvSpPr>
          <p:cNvPr id="836" name="Google Shape;620;p84"/>
          <p:cNvSpPr txBox="1"/>
          <p:nvPr/>
        </p:nvSpPr>
        <p:spPr>
          <a:xfrm>
            <a:off x="3613799" y="2776650"/>
            <a:ext cx="5410801"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A.10:</a:t>
            </a:r>
            <a:r>
              <a:rPr>
                <a:solidFill>
                  <a:srgbClr val="000000"/>
                </a:solidFill>
              </a:rPr>
              <a:t> Prompt for the generation of organization tips</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8"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39" name="Google Shape;626;p85"/>
          <p:cNvSpPr txBox="1"/>
          <p:nvPr>
            <p:ph type="title"/>
          </p:nvPr>
        </p:nvSpPr>
        <p:spPr>
          <a:xfrm>
            <a:off x="384000" y="201600"/>
            <a:ext cx="11484000" cy="543601"/>
          </a:xfrm>
          <a:prstGeom prst="rect">
            <a:avLst/>
          </a:prstGeom>
        </p:spPr>
        <p:txBody>
          <a:bodyPr/>
          <a:lstStyle/>
          <a:p>
            <a:pPr/>
            <a:r>
              <a:t>Evaluation</a:t>
            </a:r>
          </a:p>
        </p:txBody>
      </p:sp>
      <p:sp>
        <p:nvSpPr>
          <p:cNvPr id="840" name="Google Shape;627;p85"/>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Average Number of Identified Issues by Score</a:t>
            </a:r>
          </a:p>
        </p:txBody>
      </p:sp>
      <p:sp>
        <p:nvSpPr>
          <p:cNvPr id="841" name="Google Shape;628;p85"/>
          <p:cNvSpPr txBox="1"/>
          <p:nvPr/>
        </p:nvSpPr>
        <p:spPr>
          <a:xfrm>
            <a:off x="2864238" y="4938824"/>
            <a:ext cx="6523500"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A.13:</a:t>
            </a:r>
            <a:r>
              <a:rPr>
                <a:solidFill>
                  <a:srgbClr val="000000"/>
                </a:solidFill>
              </a:rPr>
              <a:t> Average number of identified issues per writing element by score</a:t>
            </a:r>
          </a:p>
        </p:txBody>
      </p:sp>
      <p:pic>
        <p:nvPicPr>
          <p:cNvPr id="842" name="Google Shape;629;p85" descr="Google Shape;629;p85"/>
          <p:cNvPicPr>
            <a:picLocks noChangeAspect="1"/>
          </p:cNvPicPr>
          <p:nvPr/>
        </p:nvPicPr>
        <p:blipFill>
          <a:blip r:embed="rId2">
            <a:extLst/>
          </a:blip>
          <a:stretch>
            <a:fillRect/>
          </a:stretch>
        </p:blipFill>
        <p:spPr>
          <a:xfrm>
            <a:off x="3409200" y="1740474"/>
            <a:ext cx="5373586" cy="3224153"/>
          </a:xfrm>
          <a:prstGeom prst="rect">
            <a:avLst/>
          </a:prstGeom>
          <a:ln w="12700">
            <a:miter lim="400000"/>
          </a:ln>
        </p:spPr>
      </p:pic>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4"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45" name="Google Shape;634;p86"/>
          <p:cNvSpPr txBox="1"/>
          <p:nvPr>
            <p:ph type="title"/>
          </p:nvPr>
        </p:nvSpPr>
        <p:spPr>
          <a:xfrm>
            <a:off x="384175" y="201612"/>
            <a:ext cx="11484000" cy="543001"/>
          </a:xfrm>
          <a:prstGeom prst="rect">
            <a:avLst/>
          </a:prstGeom>
        </p:spPr>
        <p:txBody>
          <a:bodyPr/>
          <a:lstStyle/>
          <a:p>
            <a:pPr/>
            <a:r>
              <a:t>Evaluation</a:t>
            </a:r>
          </a:p>
        </p:txBody>
      </p:sp>
      <p:sp>
        <p:nvSpPr>
          <p:cNvPr id="846" name="Google Shape;635;p86"/>
          <p:cNvSpPr txBox="1"/>
          <p:nvPr>
            <p:ph type="body" sz="half" idx="1"/>
          </p:nvPr>
        </p:nvSpPr>
        <p:spPr>
          <a:xfrm>
            <a:off x="384175" y="1616248"/>
            <a:ext cx="4585500" cy="4396500"/>
          </a:xfrm>
          <a:prstGeom prst="rect">
            <a:avLst/>
          </a:prstGeom>
        </p:spPr>
        <p:txBody>
          <a:bodyPr/>
          <a:lstStyle/>
          <a:p>
            <a:pPr marL="215900" indent="-215900">
              <a:lnSpc>
                <a:spcPct val="150000"/>
              </a:lnSpc>
            </a:pPr>
            <a:r>
              <a:t>Performance clustered around higher scores</a:t>
            </a:r>
          </a:p>
          <a:p>
            <a:pPr marL="215900" indent="-215900">
              <a:lnSpc>
                <a:spcPct val="150000"/>
              </a:lnSpc>
            </a:pPr>
            <a:r>
              <a:t>Lower quartiles suggesting that even weakest users were not necessarily scoring low</a:t>
            </a:r>
          </a:p>
          <a:p>
            <a:pPr lvl="1" marL="431800" indent="-215900">
              <a:lnSpc>
                <a:spcPct val="150000"/>
              </a:lnSpc>
              <a:buSzPts val="1600"/>
              <a:buFont typeface="Helvetica"/>
              <a:defRPr sz="1600"/>
            </a:pPr>
            <a:r>
              <a:t>might be attributed to the participants stronger academic backgrounds and English proficiency, reducing the room for significant improvement</a:t>
            </a:r>
          </a:p>
        </p:txBody>
      </p:sp>
      <p:pic>
        <p:nvPicPr>
          <p:cNvPr id="847" name="Google Shape;636;p86" descr="Google Shape;636;p86"/>
          <p:cNvPicPr>
            <a:picLocks noChangeAspect="1"/>
          </p:cNvPicPr>
          <p:nvPr/>
        </p:nvPicPr>
        <p:blipFill>
          <a:blip r:embed="rId2">
            <a:extLst/>
          </a:blip>
          <a:stretch>
            <a:fillRect/>
          </a:stretch>
        </p:blipFill>
        <p:spPr>
          <a:xfrm>
            <a:off x="4969674" y="973262"/>
            <a:ext cx="7081927" cy="4249156"/>
          </a:xfrm>
          <a:prstGeom prst="rect">
            <a:avLst/>
          </a:prstGeom>
          <a:ln w="12700">
            <a:miter lim="400000"/>
          </a:ln>
        </p:spPr>
      </p:pic>
      <p:sp>
        <p:nvSpPr>
          <p:cNvPr id="848" name="Google Shape;637;p86"/>
          <p:cNvSpPr txBox="1"/>
          <p:nvPr/>
        </p:nvSpPr>
        <p:spPr>
          <a:xfrm>
            <a:off x="5328525" y="5222425"/>
            <a:ext cx="6364201" cy="5834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A.12:</a:t>
            </a:r>
            <a:r>
              <a:rPr>
                <a:solidFill>
                  <a:srgbClr val="000000"/>
                </a:solidFill>
              </a:rPr>
              <a:t> Score distribution for each writing element across all submissions.</a:t>
            </a:r>
          </a:p>
        </p:txBody>
      </p:sp>
      <p:sp>
        <p:nvSpPr>
          <p:cNvPr id="849" name="Google Shape;638;p86"/>
          <p:cNvSpPr txBox="1"/>
          <p:nvPr>
            <p:ph type="body" idx="21"/>
          </p:nvPr>
        </p:nvSpPr>
        <p:spPr>
          <a:xfrm>
            <a:off x="384000" y="1075800"/>
            <a:ext cx="11484000" cy="252001"/>
          </a:xfrm>
          <a:prstGeom prst="rect">
            <a:avLst/>
          </a:prstGeom>
          <a:extLst>
            <a:ext uri="{C572A759-6A51-4108-AA02-DFA0A04FC94B}">
              <ma14:wrappingTextBoxFlag xmlns:ma14="http://schemas.microsoft.com/office/mac/drawingml/2011/main" val="1"/>
            </a:ext>
          </a:extLst>
        </p:spPr>
        <p:txBody>
          <a:bodyPr/>
          <a:lstStyle>
            <a:lvl1pPr defTabSz="777240">
              <a:defRPr b="1" sz="1700"/>
            </a:lvl1pPr>
          </a:lstStyle>
          <a:p>
            <a:pPr/>
            <a:r>
              <a:t>Score Distribution</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1"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52" name="Google Shape;643;p87"/>
          <p:cNvSpPr txBox="1"/>
          <p:nvPr>
            <p:ph type="title"/>
          </p:nvPr>
        </p:nvSpPr>
        <p:spPr>
          <a:xfrm>
            <a:off x="384175" y="201612"/>
            <a:ext cx="11484000" cy="543001"/>
          </a:xfrm>
          <a:prstGeom prst="rect">
            <a:avLst/>
          </a:prstGeom>
        </p:spPr>
        <p:txBody>
          <a:bodyPr/>
          <a:lstStyle/>
          <a:p>
            <a:pPr/>
            <a:r>
              <a:t>Evaluation</a:t>
            </a:r>
          </a:p>
        </p:txBody>
      </p:sp>
      <p:graphicFrame>
        <p:nvGraphicFramePr>
          <p:cNvPr id="853" name="Google Shape;644;p87"/>
          <p:cNvGraphicFramePr/>
          <p:nvPr/>
        </p:nvGraphicFramePr>
        <p:xfrm>
          <a:off x="3697225" y="2630975"/>
          <a:ext cx="4797550" cy="22106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48000"/>
                <a:gridCol w="1354025"/>
                <a:gridCol w="1025200"/>
                <a:gridCol w="770325"/>
              </a:tblGrid>
              <a:tr h="223300">
                <a:tc>
                  <a:txBody>
                    <a:bodyPr/>
                    <a:lstStyle/>
                    <a:p>
                      <a:pPr algn="ctr">
                        <a:defRPr sz="1800"/>
                      </a:pPr>
                      <a:r>
                        <a:rPr b="1" sz="1400"/>
                        <a:t>Writing Element</a:t>
                      </a:r>
                    </a:p>
                  </a:txBody>
                  <a:tcPr marL="54000" marR="54000" marT="54000" marB="54000" anchor="ctr" anchorCtr="0" horzOverflow="overflow"/>
                </a:tc>
                <a:tc>
                  <a:txBody>
                    <a:bodyPr/>
                    <a:lstStyle/>
                    <a:p>
                      <a:pPr algn="ctr">
                        <a:defRPr sz="1800"/>
                      </a:pPr>
                      <a:r>
                        <a:rPr b="1" sz="1400"/>
                        <a:t>Test Type</a:t>
                      </a:r>
                    </a:p>
                  </a:txBody>
                  <a:tcPr marL="54000" marR="54000" marT="54000" marB="54000" anchor="ctr" anchorCtr="0" horzOverflow="overflow"/>
                </a:tc>
                <a:tc>
                  <a:txBody>
                    <a:bodyPr/>
                    <a:lstStyle/>
                    <a:p>
                      <a:pPr algn="ctr">
                        <a:defRPr sz="1800"/>
                      </a:pPr>
                      <a:r>
                        <a:rPr b="1" i="1" sz="1400"/>
                        <a:t>F/H</a:t>
                      </a:r>
                    </a:p>
                  </a:txBody>
                  <a:tcPr marL="54000" marR="54000" marT="54000" marB="54000" anchor="ctr" anchorCtr="0" horzOverflow="overflow"/>
                </a:tc>
                <a:tc>
                  <a:txBody>
                    <a:bodyPr/>
                    <a:lstStyle/>
                    <a:p>
                      <a:pPr algn="ctr">
                        <a:defRPr sz="1800"/>
                      </a:pPr>
                      <a:r>
                        <a:rPr b="1" sz="1400"/>
                        <a:t>Sig.</a:t>
                      </a:r>
                    </a:p>
                  </a:txBody>
                  <a:tcPr marL="54000" marR="54000" marT="54000" marB="54000" anchor="ctr" anchorCtr="0" horzOverflow="overflow"/>
                </a:tc>
              </a:tr>
              <a:tr h="197550">
                <a:tc rowSpan="2">
                  <a:txBody>
                    <a:bodyPr/>
                    <a:lstStyle/>
                    <a:p>
                      <a:pPr algn="ctr">
                        <a:defRPr sz="1800"/>
                      </a:pPr>
                      <a:r>
                        <a:rPr sz="1400"/>
                        <a:t>Grammar</a:t>
                      </a:r>
                    </a:p>
                  </a:txBody>
                  <a:tcPr marL="54000" marR="54000" marT="54000" marB="54000" anchor="ctr" anchorCtr="0" horzOverflow="overflow"/>
                </a:tc>
                <a:tc rowSpan="2">
                  <a:txBody>
                    <a:bodyPr/>
                    <a:lstStyle/>
                    <a:p>
                      <a:pPr algn="ctr">
                        <a:defRPr sz="1800"/>
                      </a:pPr>
                      <a:r>
                        <a:rPr sz="1400"/>
                        <a:t>ANOVA</a:t>
                      </a:r>
                    </a:p>
                  </a:txBody>
                  <a:tcPr marL="54000" marR="54000" marT="54000" marB="54000" anchor="ctr" anchorCtr="0" horzOverflow="overflow"/>
                </a:tc>
                <a:tc rowSpan="2">
                  <a:txBody>
                    <a:bodyPr/>
                    <a:lstStyle/>
                    <a:p>
                      <a:pPr algn="ctr">
                        <a:defRPr sz="1800"/>
                      </a:pPr>
                      <a:r>
                        <a:rPr sz="1400"/>
                        <a:t>F = 1.000</a:t>
                      </a:r>
                    </a:p>
                  </a:txBody>
                  <a:tcPr marL="54000" marR="54000" marT="54000" marB="54000" anchor="ctr" anchorCtr="0" horzOverflow="overflow"/>
                </a:tc>
                <a:tc rowSpan="2">
                  <a:txBody>
                    <a:bodyPr/>
                    <a:lstStyle/>
                    <a:p>
                      <a:pPr algn="ctr">
                        <a:defRPr sz="1800"/>
                      </a:pPr>
                      <a:r>
                        <a:rPr sz="1400"/>
                        <a:t>0.391</a:t>
                      </a:r>
                    </a:p>
                  </a:txBody>
                  <a:tcPr marL="54000" marR="54000" marT="54000" marB="54000" anchor="ctr" anchorCtr="0" horzOverflow="overflow"/>
                </a:tc>
              </a:tr>
              <a:tr h="223300">
                <a:tc vMerge="1">
                  <a:tcPr/>
                </a:tc>
                <a:tc vMerge="1">
                  <a:tcPr/>
                </a:tc>
                <a:tc vMerge="1">
                  <a:tcPr/>
                </a:tc>
                <a:tc vMerge="1">
                  <a:tcPr/>
                </a:tc>
              </a:tr>
              <a:tr h="197550">
                <a:tc rowSpan="2">
                  <a:txBody>
                    <a:bodyPr/>
                    <a:lstStyle/>
                    <a:p>
                      <a:pPr algn="ctr">
                        <a:defRPr sz="1800"/>
                      </a:pPr>
                      <a:r>
                        <a:rPr sz="1400"/>
                        <a:t>Vocabulary</a:t>
                      </a:r>
                    </a:p>
                  </a:txBody>
                  <a:tcPr marL="54000" marR="54000" marT="54000" marB="54000" anchor="ctr" anchorCtr="0" horzOverflow="overflow"/>
                </a:tc>
                <a:tc rowSpan="2">
                  <a:txBody>
                    <a:bodyPr/>
                    <a:lstStyle/>
                    <a:p>
                      <a:pPr algn="ctr">
                        <a:defRPr sz="1800"/>
                      </a:pPr>
                      <a:r>
                        <a:rPr sz="1400"/>
                        <a:t>ANOVA</a:t>
                      </a:r>
                    </a:p>
                  </a:txBody>
                  <a:tcPr marL="54000" marR="54000" marT="54000" marB="54000" anchor="ctr" anchorCtr="0" horzOverflow="overflow"/>
                </a:tc>
                <a:tc rowSpan="2">
                  <a:txBody>
                    <a:bodyPr/>
                    <a:lstStyle/>
                    <a:p>
                      <a:pPr algn="ctr">
                        <a:defRPr sz="1800"/>
                      </a:pPr>
                      <a:r>
                        <a:rPr sz="1400"/>
                        <a:t>F = 1.087</a:t>
                      </a:r>
                    </a:p>
                  </a:txBody>
                  <a:tcPr marL="54000" marR="54000" marT="54000" marB="54000" anchor="ctr" anchorCtr="0" horzOverflow="overflow"/>
                </a:tc>
                <a:tc rowSpan="2">
                  <a:txBody>
                    <a:bodyPr/>
                    <a:lstStyle/>
                    <a:p>
                      <a:pPr algn="ctr">
                        <a:defRPr sz="1800"/>
                      </a:pPr>
                      <a:r>
                        <a:rPr sz="1400"/>
                        <a:t>0.361</a:t>
                      </a:r>
                    </a:p>
                  </a:txBody>
                  <a:tcPr marL="54000" marR="54000" marT="54000" marB="54000" anchor="ctr" anchorCtr="0" horzOverflow="overflow"/>
                </a:tc>
              </a:tr>
              <a:tr h="223300">
                <a:tc vMerge="1">
                  <a:tcPr/>
                </a:tc>
                <a:tc vMerge="1">
                  <a:tcPr/>
                </a:tc>
                <a:tc vMerge="1">
                  <a:tcPr/>
                </a:tc>
                <a:tc vMerge="1">
                  <a:tcPr/>
                </a:tc>
              </a:tr>
              <a:tr h="303950">
                <a:tc>
                  <a:txBody>
                    <a:bodyPr/>
                    <a:lstStyle/>
                    <a:p>
                      <a:pPr algn="ctr">
                        <a:defRPr sz="1800"/>
                      </a:pPr>
                      <a:r>
                        <a:rPr sz="1400"/>
                        <a:t>Organization</a:t>
                      </a:r>
                    </a:p>
                  </a:txBody>
                  <a:tcPr marL="54000" marR="54000" marT="54000" marB="54000" anchor="ctr" anchorCtr="0" horzOverflow="overflow"/>
                </a:tc>
                <a:tc>
                  <a:txBody>
                    <a:bodyPr/>
                    <a:lstStyle/>
                    <a:p>
                      <a:pPr algn="ctr">
                        <a:defRPr sz="1800"/>
                      </a:pPr>
                      <a:r>
                        <a:rPr sz="1400"/>
                        <a:t>Kruskal-Wallis</a:t>
                      </a:r>
                    </a:p>
                  </a:txBody>
                  <a:tcPr marL="54000" marR="54000" marT="54000" marB="54000" anchor="ctr" anchorCtr="0" horzOverflow="overflow"/>
                </a:tc>
                <a:tc>
                  <a:txBody>
                    <a:bodyPr/>
                    <a:lstStyle/>
                    <a:p>
                      <a:pPr algn="ctr">
                        <a:defRPr sz="1800"/>
                      </a:pPr>
                      <a:r>
                        <a:rPr sz="1400"/>
                        <a:t>H = 3.383</a:t>
                      </a:r>
                    </a:p>
                  </a:txBody>
                  <a:tcPr marL="54000" marR="54000" marT="54000" marB="54000" anchor="ctr" anchorCtr="0" horzOverflow="overflow"/>
                </a:tc>
                <a:tc>
                  <a:txBody>
                    <a:bodyPr/>
                    <a:lstStyle/>
                    <a:p>
                      <a:pPr algn="ctr">
                        <a:defRPr sz="1800"/>
                      </a:pPr>
                      <a:r>
                        <a:rPr sz="1400"/>
                        <a:t>0.184</a:t>
                      </a:r>
                    </a:p>
                  </a:txBody>
                  <a:tcPr marL="54000" marR="54000" marT="54000" marB="54000" anchor="ctr" anchorCtr="0" horzOverflow="overflow"/>
                </a:tc>
              </a:tr>
              <a:tr h="197550">
                <a:tc rowSpan="2">
                  <a:txBody>
                    <a:bodyPr/>
                    <a:lstStyle/>
                    <a:p>
                      <a:pPr algn="ctr">
                        <a:defRPr sz="1800"/>
                      </a:pPr>
                      <a:r>
                        <a:rPr sz="1400"/>
                        <a:t>Coherence</a:t>
                      </a:r>
                    </a:p>
                  </a:txBody>
                  <a:tcPr marL="54000" marR="54000" marT="54000" marB="54000" anchor="ctr" anchorCtr="0" horzOverflow="overflow"/>
                </a:tc>
                <a:tc rowSpan="2">
                  <a:txBody>
                    <a:bodyPr/>
                    <a:lstStyle/>
                    <a:p>
                      <a:pPr algn="ctr">
                        <a:defRPr sz="1800"/>
                      </a:pPr>
                      <a:r>
                        <a:rPr sz="1400"/>
                        <a:t>ANOVA</a:t>
                      </a:r>
                    </a:p>
                  </a:txBody>
                  <a:tcPr marL="54000" marR="54000" marT="54000" marB="54000" anchor="ctr" anchorCtr="0" horzOverflow="overflow"/>
                </a:tc>
                <a:tc rowSpan="2">
                  <a:txBody>
                    <a:bodyPr/>
                    <a:lstStyle/>
                    <a:p>
                      <a:pPr algn="ctr">
                        <a:defRPr sz="1800"/>
                      </a:pPr>
                      <a:r>
                        <a:rPr sz="1400"/>
                        <a:t>F = 2.264</a:t>
                      </a:r>
                    </a:p>
                  </a:txBody>
                  <a:tcPr marL="54000" marR="54000" marT="54000" marB="54000" anchor="ctr" anchorCtr="0" horzOverflow="overflow"/>
                </a:tc>
                <a:tc rowSpan="2">
                  <a:txBody>
                    <a:bodyPr/>
                    <a:lstStyle/>
                    <a:p>
                      <a:pPr algn="ctr">
                        <a:defRPr sz="1800"/>
                      </a:pPr>
                      <a:r>
                        <a:rPr sz="1400"/>
                        <a:t>0.136</a:t>
                      </a:r>
                    </a:p>
                  </a:txBody>
                  <a:tcPr marL="54000" marR="54000" marT="54000" marB="54000" anchor="ctr" anchorCtr="0" horzOverflow="overflow"/>
                </a:tc>
              </a:tr>
              <a:tr h="223300">
                <a:tc vMerge="1">
                  <a:tcPr/>
                </a:tc>
                <a:tc vMerge="1">
                  <a:tcPr/>
                </a:tc>
                <a:tc vMerge="1">
                  <a:tcPr/>
                </a:tc>
                <a:tc vMerge="1">
                  <a:tcPr/>
                </a:tc>
              </a:tr>
              <a:tr h="197550">
                <a:tc rowSpan="2">
                  <a:txBody>
                    <a:bodyPr/>
                    <a:lstStyle/>
                    <a:p>
                      <a:pPr algn="ctr">
                        <a:defRPr sz="1800"/>
                      </a:pPr>
                      <a:r>
                        <a:rPr sz="1400"/>
                        <a:t>Writing Style</a:t>
                      </a:r>
                    </a:p>
                  </a:txBody>
                  <a:tcPr marL="54000" marR="54000" marT="54000" marB="54000" anchor="ctr" anchorCtr="0" horzOverflow="overflow"/>
                </a:tc>
                <a:tc rowSpan="2">
                  <a:txBody>
                    <a:bodyPr/>
                    <a:lstStyle/>
                    <a:p>
                      <a:pPr algn="ctr">
                        <a:defRPr sz="1800"/>
                      </a:pPr>
                      <a:r>
                        <a:rPr sz="1400"/>
                        <a:t>ANOVA</a:t>
                      </a:r>
                    </a:p>
                  </a:txBody>
                  <a:tcPr marL="54000" marR="54000" marT="54000" marB="54000" anchor="ctr" anchorCtr="0" horzOverflow="overflow"/>
                </a:tc>
                <a:tc rowSpan="2">
                  <a:txBody>
                    <a:bodyPr/>
                    <a:lstStyle/>
                    <a:p>
                      <a:pPr algn="ctr">
                        <a:defRPr sz="1800"/>
                      </a:pPr>
                      <a:r>
                        <a:rPr sz="1400"/>
                        <a:t>F = 0.907</a:t>
                      </a:r>
                    </a:p>
                  </a:txBody>
                  <a:tcPr marL="54000" marR="54000" marT="54000" marB="54000" anchor="ctr" anchorCtr="0" horzOverflow="overflow"/>
                </a:tc>
                <a:tc rowSpan="2">
                  <a:txBody>
                    <a:bodyPr/>
                    <a:lstStyle/>
                    <a:p>
                      <a:pPr algn="ctr">
                        <a:defRPr sz="1800"/>
                      </a:pPr>
                      <a:r>
                        <a:rPr sz="1400"/>
                        <a:t>0.424</a:t>
                      </a:r>
                    </a:p>
                  </a:txBody>
                  <a:tcPr marL="54000" marR="54000" marT="54000" marB="54000" anchor="ctr" anchorCtr="0" horzOverflow="overflow"/>
                </a:tc>
              </a:tr>
              <a:tr h="223300">
                <a:tc vMerge="1">
                  <a:tcPr/>
                </a:tc>
                <a:tc vMerge="1">
                  <a:tcPr/>
                </a:tc>
                <a:tc vMerge="1">
                  <a:tcPr/>
                </a:tc>
                <a:tc vMerge="1">
                  <a:tcPr/>
                </a:tc>
              </a:tr>
            </a:tbl>
          </a:graphicData>
        </a:graphic>
      </p:graphicFrame>
      <p:sp>
        <p:nvSpPr>
          <p:cNvPr id="854" name="Google Shape;645;p87"/>
          <p:cNvSpPr txBox="1"/>
          <p:nvPr/>
        </p:nvSpPr>
        <p:spPr>
          <a:xfrm>
            <a:off x="3759287" y="2059175"/>
            <a:ext cx="4673401" cy="5834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A.3:</a:t>
            </a:r>
            <a:r>
              <a:rPr>
                <a:solidFill>
                  <a:srgbClr val="000000"/>
                </a:solidFill>
              </a:rPr>
              <a:t> ANOVA/Kruskal-Wallis results based on submission count.</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6"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57" name="Google Shape;651;p88"/>
          <p:cNvSpPr txBox="1"/>
          <p:nvPr>
            <p:ph type="title"/>
          </p:nvPr>
        </p:nvSpPr>
        <p:spPr>
          <a:xfrm>
            <a:off x="384000" y="201600"/>
            <a:ext cx="11484000" cy="543601"/>
          </a:xfrm>
          <a:prstGeom prst="rect">
            <a:avLst/>
          </a:prstGeom>
        </p:spPr>
        <p:txBody>
          <a:bodyPr/>
          <a:lstStyle/>
          <a:p>
            <a:pPr/>
            <a:r>
              <a:t>Evaluation</a:t>
            </a:r>
          </a:p>
        </p:txBody>
      </p:sp>
      <p:sp>
        <p:nvSpPr>
          <p:cNvPr id="858" name="Google Shape;652;p88"/>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Quiz Data</a:t>
            </a:r>
          </a:p>
        </p:txBody>
      </p:sp>
      <p:sp>
        <p:nvSpPr>
          <p:cNvPr id="859" name="Google Shape;653;p88"/>
          <p:cNvSpPr txBox="1"/>
          <p:nvPr/>
        </p:nvSpPr>
        <p:spPr>
          <a:xfrm>
            <a:off x="2874463" y="4208550"/>
            <a:ext cx="6523500"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Table A.4:</a:t>
            </a:r>
            <a:r>
              <a:rPr>
                <a:solidFill>
                  <a:srgbClr val="000000"/>
                </a:solidFill>
              </a:rPr>
              <a:t> Quiz data across question types</a:t>
            </a:r>
          </a:p>
        </p:txBody>
      </p:sp>
      <p:graphicFrame>
        <p:nvGraphicFramePr>
          <p:cNvPr id="860" name="Google Shape;654;p88"/>
          <p:cNvGraphicFramePr/>
          <p:nvPr/>
        </p:nvGraphicFramePr>
        <p:xfrm>
          <a:off x="2854013" y="2280449"/>
          <a:ext cx="6504425" cy="17215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802900"/>
                <a:gridCol w="1555950"/>
                <a:gridCol w="1685025"/>
                <a:gridCol w="1460550"/>
              </a:tblGrid>
              <a:tr h="286925">
                <a:tc>
                  <a:txBody>
                    <a:bodyPr/>
                    <a:lstStyle/>
                    <a:p>
                      <a:pPr>
                        <a:defRPr sz="1800"/>
                      </a:pPr>
                      <a:r>
                        <a:rPr b="1" sz="1400"/>
                        <a:t>Question Type</a:t>
                      </a:r>
                    </a:p>
                  </a:txBody>
                  <a:tcPr marL="54000" marR="54000" marT="54000" marB="54000" anchor="t" anchorCtr="0" horzOverflow="overflow"/>
                </a:tc>
                <a:tc>
                  <a:txBody>
                    <a:bodyPr/>
                    <a:lstStyle/>
                    <a:p>
                      <a:pPr>
                        <a:defRPr sz="1800"/>
                      </a:pPr>
                      <a:r>
                        <a:rPr b="1" sz="1400"/>
                        <a:t>Total Questions</a:t>
                      </a:r>
                    </a:p>
                  </a:txBody>
                  <a:tcPr marL="54000" marR="54000" marT="54000" marB="54000" anchor="t" anchorCtr="0" horzOverflow="overflow"/>
                </a:tc>
                <a:tc>
                  <a:txBody>
                    <a:bodyPr/>
                    <a:lstStyle/>
                    <a:p>
                      <a:pPr>
                        <a:defRPr sz="1800"/>
                      </a:pPr>
                      <a:r>
                        <a:rPr b="1" sz="1400"/>
                        <a:t>Correct Answers</a:t>
                      </a:r>
                    </a:p>
                  </a:txBody>
                  <a:tcPr marL="54000" marR="54000" marT="54000" marB="54000" anchor="t" anchorCtr="0" horzOverflow="overflow"/>
                </a:tc>
                <a:tc>
                  <a:txBody>
                    <a:bodyPr/>
                    <a:lstStyle/>
                    <a:p>
                      <a:pPr>
                        <a:defRPr sz="1800"/>
                      </a:pPr>
                      <a:r>
                        <a:rPr b="1" sz="1400"/>
                        <a:t>Accuracy Rate</a:t>
                      </a:r>
                    </a:p>
                  </a:txBody>
                  <a:tcPr marL="54000" marR="54000" marT="54000" marB="54000" anchor="t" anchorCtr="0" horzOverflow="overflow"/>
                </a:tc>
              </a:tr>
              <a:tr h="286925">
                <a:tc>
                  <a:txBody>
                    <a:bodyPr/>
                    <a:lstStyle/>
                    <a:p>
                      <a:pPr>
                        <a:defRPr sz="1800"/>
                      </a:pPr>
                      <a:r>
                        <a:rPr sz="1400"/>
                        <a:t>Academic sentence</a:t>
                      </a:r>
                    </a:p>
                  </a:txBody>
                  <a:tcPr marL="54000" marR="54000" marT="54000" marB="54000" anchor="t" anchorCtr="0" horzOverflow="overflow"/>
                </a:tc>
                <a:tc>
                  <a:txBody>
                    <a:bodyPr/>
                    <a:lstStyle/>
                    <a:p>
                      <a:pPr>
                        <a:defRPr sz="1800"/>
                      </a:pPr>
                      <a:r>
                        <a:rPr sz="1400"/>
                        <a:t>11</a:t>
                      </a:r>
                    </a:p>
                  </a:txBody>
                  <a:tcPr marL="54000" marR="54000" marT="54000" marB="54000" anchor="t" anchorCtr="0" horzOverflow="overflow"/>
                </a:tc>
                <a:tc>
                  <a:txBody>
                    <a:bodyPr/>
                    <a:lstStyle/>
                    <a:p>
                      <a:pPr>
                        <a:defRPr sz="1800"/>
                      </a:pPr>
                      <a:r>
                        <a:rPr sz="1400"/>
                        <a:t>9</a:t>
                      </a:r>
                    </a:p>
                  </a:txBody>
                  <a:tcPr marL="54000" marR="54000" marT="54000" marB="54000" anchor="t" anchorCtr="0" horzOverflow="overflow"/>
                </a:tc>
                <a:tc>
                  <a:txBody>
                    <a:bodyPr/>
                    <a:lstStyle/>
                    <a:p>
                      <a:pPr>
                        <a:defRPr sz="1800"/>
                      </a:pPr>
                      <a:r>
                        <a:rPr sz="1400"/>
                        <a:t>81.82%</a:t>
                      </a:r>
                    </a:p>
                  </a:txBody>
                  <a:tcPr marL="54000" marR="54000" marT="54000" marB="54000" anchor="t" anchorCtr="0" horzOverflow="overflow"/>
                </a:tc>
              </a:tr>
              <a:tr h="286925">
                <a:tc>
                  <a:txBody>
                    <a:bodyPr/>
                    <a:lstStyle/>
                    <a:p>
                      <a:pPr>
                        <a:defRPr sz="1800"/>
                      </a:pPr>
                      <a:r>
                        <a:rPr sz="1400"/>
                        <a:t>Revision</a:t>
                      </a:r>
                    </a:p>
                  </a:txBody>
                  <a:tcPr marL="54000" marR="54000" marT="54000" marB="54000" anchor="t" anchorCtr="0" horzOverflow="overflow"/>
                </a:tc>
                <a:tc>
                  <a:txBody>
                    <a:bodyPr/>
                    <a:lstStyle/>
                    <a:p>
                      <a:pPr>
                        <a:defRPr sz="1800"/>
                      </a:pPr>
                      <a:r>
                        <a:rPr sz="1400"/>
                        <a:t>10</a:t>
                      </a:r>
                    </a:p>
                  </a:txBody>
                  <a:tcPr marL="54000" marR="54000" marT="54000" marB="54000" anchor="t" anchorCtr="0" horzOverflow="overflow"/>
                </a:tc>
                <a:tc>
                  <a:txBody>
                    <a:bodyPr/>
                    <a:lstStyle/>
                    <a:p>
                      <a:pPr>
                        <a:defRPr sz="1800"/>
                      </a:pPr>
                      <a:r>
                        <a:rPr sz="1400"/>
                        <a:t>2</a:t>
                      </a:r>
                    </a:p>
                  </a:txBody>
                  <a:tcPr marL="54000" marR="54000" marT="54000" marB="54000" anchor="t" anchorCtr="0" horzOverflow="overflow"/>
                </a:tc>
                <a:tc>
                  <a:txBody>
                    <a:bodyPr/>
                    <a:lstStyle/>
                    <a:p>
                      <a:pPr>
                        <a:defRPr sz="1800"/>
                      </a:pPr>
                      <a:r>
                        <a:rPr sz="1400"/>
                        <a:t>20.00%</a:t>
                      </a:r>
                    </a:p>
                  </a:txBody>
                  <a:tcPr marL="54000" marR="54000" marT="54000" marB="54000" anchor="t" anchorCtr="0" horzOverflow="overflow"/>
                </a:tc>
              </a:tr>
              <a:tr h="286925">
                <a:tc>
                  <a:txBody>
                    <a:bodyPr/>
                    <a:lstStyle/>
                    <a:p>
                      <a:pPr>
                        <a:defRPr sz="1800"/>
                      </a:pPr>
                      <a:r>
                        <a:rPr sz="1400"/>
                        <a:t>Coherence</a:t>
                      </a:r>
                    </a:p>
                  </a:txBody>
                  <a:tcPr marL="54000" marR="54000" marT="54000" marB="54000" anchor="t" anchorCtr="0" horzOverflow="overflow"/>
                </a:tc>
                <a:tc>
                  <a:txBody>
                    <a:bodyPr/>
                    <a:lstStyle/>
                    <a:p>
                      <a:pPr>
                        <a:defRPr sz="1800"/>
                      </a:pPr>
                      <a:r>
                        <a:rPr sz="1400"/>
                        <a:t>19</a:t>
                      </a:r>
                    </a:p>
                  </a:txBody>
                  <a:tcPr marL="54000" marR="54000" marT="54000" marB="54000" anchor="t" anchorCtr="0" horzOverflow="overflow"/>
                </a:tc>
                <a:tc>
                  <a:txBody>
                    <a:bodyPr/>
                    <a:lstStyle/>
                    <a:p>
                      <a:pPr>
                        <a:defRPr sz="1800"/>
                      </a:pPr>
                      <a:r>
                        <a:rPr sz="1400"/>
                        <a:t>14</a:t>
                      </a:r>
                    </a:p>
                  </a:txBody>
                  <a:tcPr marL="54000" marR="54000" marT="54000" marB="54000" anchor="t" anchorCtr="0" horzOverflow="overflow"/>
                </a:tc>
                <a:tc>
                  <a:txBody>
                    <a:bodyPr/>
                    <a:lstStyle/>
                    <a:p>
                      <a:pPr>
                        <a:defRPr sz="1800"/>
                      </a:pPr>
                      <a:r>
                        <a:rPr sz="1400"/>
                        <a:t>73.68%</a:t>
                      </a:r>
                    </a:p>
                  </a:txBody>
                  <a:tcPr marL="54000" marR="54000" marT="54000" marB="54000" anchor="t" anchorCtr="0" horzOverflow="overflow"/>
                </a:tc>
              </a:tr>
              <a:tr h="286925">
                <a:tc>
                  <a:txBody>
                    <a:bodyPr/>
                    <a:lstStyle/>
                    <a:p>
                      <a:pPr>
                        <a:defRPr sz="1800"/>
                      </a:pPr>
                      <a:r>
                        <a:rPr sz="1400"/>
                        <a:t>Synonyms</a:t>
                      </a:r>
                    </a:p>
                  </a:txBody>
                  <a:tcPr marL="54000" marR="54000" marT="54000" marB="54000" anchor="t" anchorCtr="0" horzOverflow="overflow"/>
                </a:tc>
                <a:tc>
                  <a:txBody>
                    <a:bodyPr/>
                    <a:lstStyle/>
                    <a:p>
                      <a:pPr>
                        <a:defRPr sz="1800"/>
                      </a:pPr>
                      <a:r>
                        <a:rPr sz="1400"/>
                        <a:t>5</a:t>
                      </a:r>
                    </a:p>
                  </a:txBody>
                  <a:tcPr marL="54000" marR="54000" marT="54000" marB="54000" anchor="t" anchorCtr="0" horzOverflow="overflow"/>
                </a:tc>
                <a:tc>
                  <a:txBody>
                    <a:bodyPr/>
                    <a:lstStyle/>
                    <a:p>
                      <a:pPr>
                        <a:defRPr sz="1800"/>
                      </a:pPr>
                      <a:r>
                        <a:rPr sz="1400"/>
                        <a:t>4</a:t>
                      </a:r>
                    </a:p>
                  </a:txBody>
                  <a:tcPr marL="54000" marR="54000" marT="54000" marB="54000" anchor="t" anchorCtr="0" horzOverflow="overflow"/>
                </a:tc>
                <a:tc>
                  <a:txBody>
                    <a:bodyPr/>
                    <a:lstStyle/>
                    <a:p>
                      <a:pPr>
                        <a:defRPr sz="1800"/>
                      </a:pPr>
                      <a:r>
                        <a:rPr sz="1400"/>
                        <a:t>80.00%</a:t>
                      </a:r>
                    </a:p>
                  </a:txBody>
                  <a:tcPr marL="54000" marR="54000" marT="54000" marB="54000" anchor="t" anchorCtr="0" horzOverflow="overflow"/>
                </a:tc>
              </a:tr>
              <a:tr h="286925">
                <a:tc>
                  <a:txBody>
                    <a:bodyPr/>
                    <a:lstStyle/>
                    <a:p>
                      <a:pPr>
                        <a:defRPr sz="1800"/>
                      </a:pPr>
                      <a:r>
                        <a:rPr sz="1400"/>
                        <a:t>Organization</a:t>
                      </a:r>
                    </a:p>
                  </a:txBody>
                  <a:tcPr marL="54000" marR="54000" marT="54000" marB="54000" anchor="t" anchorCtr="0" horzOverflow="overflow"/>
                </a:tc>
                <a:tc>
                  <a:txBody>
                    <a:bodyPr/>
                    <a:lstStyle/>
                    <a:p>
                      <a:pPr>
                        <a:defRPr sz="1800"/>
                      </a:pPr>
                      <a:r>
                        <a:rPr sz="1400"/>
                        <a:t>11</a:t>
                      </a:r>
                    </a:p>
                  </a:txBody>
                  <a:tcPr marL="54000" marR="54000" marT="54000" marB="54000" anchor="t" anchorCtr="0" horzOverflow="overflow"/>
                </a:tc>
                <a:tc>
                  <a:txBody>
                    <a:bodyPr/>
                    <a:lstStyle/>
                    <a:p>
                      <a:pPr>
                        <a:defRPr sz="1800"/>
                      </a:pPr>
                      <a:r>
                        <a:rPr sz="1400"/>
                        <a:t>6</a:t>
                      </a:r>
                    </a:p>
                  </a:txBody>
                  <a:tcPr marL="54000" marR="54000" marT="54000" marB="54000" anchor="t" anchorCtr="0" horzOverflow="overflow"/>
                </a:tc>
                <a:tc>
                  <a:txBody>
                    <a:bodyPr/>
                    <a:lstStyle/>
                    <a:p>
                      <a:pPr>
                        <a:defRPr sz="1800"/>
                      </a:pPr>
                      <a:r>
                        <a:rPr sz="1400"/>
                        <a:t>54.55%</a:t>
                      </a:r>
                    </a:p>
                  </a:txBody>
                  <a:tcPr marL="54000" marR="54000" marT="54000" marB="54000" anchor="t" anchorCtr="0" horzOverflow="overflow"/>
                </a:tc>
              </a:tr>
            </a:tbl>
          </a:graphicData>
        </a:graphic>
      </p:graphicFrame>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2" name="Google Shape;136;p28"/>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63" name="Google Shape;660;p89"/>
          <p:cNvSpPr txBox="1"/>
          <p:nvPr>
            <p:ph type="title"/>
          </p:nvPr>
        </p:nvSpPr>
        <p:spPr>
          <a:xfrm>
            <a:off x="384000" y="201600"/>
            <a:ext cx="11484000" cy="543601"/>
          </a:xfrm>
          <a:prstGeom prst="rect">
            <a:avLst/>
          </a:prstGeom>
        </p:spPr>
        <p:txBody>
          <a:bodyPr/>
          <a:lstStyle/>
          <a:p>
            <a:pPr/>
            <a:r>
              <a:t>Evaluation</a:t>
            </a:r>
          </a:p>
        </p:txBody>
      </p:sp>
      <p:sp>
        <p:nvSpPr>
          <p:cNvPr id="864" name="Google Shape;661;p89"/>
          <p:cNvSpPr txBox="1"/>
          <p:nvPr>
            <p:ph type="body" sz="quarter" idx="1"/>
          </p:nvPr>
        </p:nvSpPr>
        <p:spPr>
          <a:xfrm>
            <a:off x="384000" y="1075800"/>
            <a:ext cx="11484000" cy="252001"/>
          </a:xfrm>
          <a:prstGeom prst="rect">
            <a:avLst/>
          </a:prstGeom>
        </p:spPr>
        <p:txBody>
          <a:bodyPr/>
          <a:lstStyle>
            <a:lvl1pPr marL="0" indent="0" defTabSz="777240">
              <a:buSzTx/>
              <a:buNone/>
              <a:defRPr b="1" sz="1700"/>
            </a:lvl1pPr>
          </a:lstStyle>
          <a:p>
            <a:pPr/>
            <a:r>
              <a:t>System Usability Scale</a:t>
            </a:r>
          </a:p>
        </p:txBody>
      </p:sp>
      <p:sp>
        <p:nvSpPr>
          <p:cNvPr id="865" name="Google Shape;662;p89"/>
          <p:cNvSpPr txBox="1"/>
          <p:nvPr/>
        </p:nvSpPr>
        <p:spPr>
          <a:xfrm>
            <a:off x="2755388" y="5535700"/>
            <a:ext cx="6523500"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a:solidFill>
                  <a:srgbClr val="00549F"/>
                </a:solidFill>
              </a:defRPr>
            </a:pPr>
            <a:r>
              <a:t>Figure A.13:</a:t>
            </a:r>
            <a:r>
              <a:rPr>
                <a:solidFill>
                  <a:srgbClr val="000000"/>
                </a:solidFill>
              </a:rPr>
              <a:t> Detailed SUS scores for each user</a:t>
            </a:r>
          </a:p>
        </p:txBody>
      </p:sp>
      <p:pic>
        <p:nvPicPr>
          <p:cNvPr id="866" name="Google Shape;663;p89" descr="Google Shape;663;p89"/>
          <p:cNvPicPr>
            <a:picLocks noChangeAspect="1"/>
          </p:cNvPicPr>
          <p:nvPr/>
        </p:nvPicPr>
        <p:blipFill>
          <a:blip r:embed="rId2">
            <a:extLst/>
          </a:blip>
          <a:stretch>
            <a:fillRect/>
          </a:stretch>
        </p:blipFill>
        <p:spPr>
          <a:xfrm>
            <a:off x="3048699" y="1480199"/>
            <a:ext cx="5936876" cy="405550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Präsentation_Master_RWTH_Institute_16zu9">
  <a:themeElements>
    <a:clrScheme name="Präsentation_Master_RWTH_Institute_16zu9">
      <a:dk1>
        <a:srgbClr val="000000"/>
      </a:dk1>
      <a:lt1>
        <a:srgbClr val="FFFFFF"/>
      </a:lt1>
      <a:dk2>
        <a:srgbClr val="A7A7A7"/>
      </a:dk2>
      <a:lt2>
        <a:srgbClr val="535353"/>
      </a:lt2>
      <a:accent1>
        <a:srgbClr val="006165"/>
      </a:accent1>
      <a:accent2>
        <a:srgbClr val="0098A1"/>
      </a:accent2>
      <a:accent3>
        <a:srgbClr val="57AB27"/>
      </a:accent3>
      <a:accent4>
        <a:srgbClr val="BDCD00"/>
      </a:accent4>
      <a:accent5>
        <a:srgbClr val="F6A800"/>
      </a:accent5>
      <a:accent6>
        <a:srgbClr val="CC071E"/>
      </a:accent6>
      <a:hlink>
        <a:srgbClr val="0000FF"/>
      </a:hlink>
      <a:folHlink>
        <a:srgbClr val="FF00FF"/>
      </a:folHlink>
    </a:clrScheme>
    <a:fontScheme name="Präsentation_Master_RWTH_Institute_16zu9">
      <a:majorFont>
        <a:latin typeface="Arial"/>
        <a:ea typeface="Arial"/>
        <a:cs typeface="Arial"/>
      </a:majorFont>
      <a:minorFont>
        <a:latin typeface="Helvetica"/>
        <a:ea typeface="Helvetica"/>
        <a:cs typeface="Helvetica"/>
      </a:minorFont>
    </a:fontScheme>
    <a:fmtScheme name="Präsentation_Master_RWTH_Institute_16zu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Präsentation_Master_RWTH_Institute_16zu9">
  <a:themeElements>
    <a:clrScheme name="Präsentation_Master_RWTH_Institute_16zu9">
      <a:dk1>
        <a:srgbClr val="000000"/>
      </a:dk1>
      <a:lt1>
        <a:srgbClr val="FFFFFF"/>
      </a:lt1>
      <a:dk2>
        <a:srgbClr val="A7A7A7"/>
      </a:dk2>
      <a:lt2>
        <a:srgbClr val="535353"/>
      </a:lt2>
      <a:accent1>
        <a:srgbClr val="006165"/>
      </a:accent1>
      <a:accent2>
        <a:srgbClr val="0098A1"/>
      </a:accent2>
      <a:accent3>
        <a:srgbClr val="57AB27"/>
      </a:accent3>
      <a:accent4>
        <a:srgbClr val="BDCD00"/>
      </a:accent4>
      <a:accent5>
        <a:srgbClr val="F6A800"/>
      </a:accent5>
      <a:accent6>
        <a:srgbClr val="CC071E"/>
      </a:accent6>
      <a:hlink>
        <a:srgbClr val="0000FF"/>
      </a:hlink>
      <a:folHlink>
        <a:srgbClr val="FF00FF"/>
      </a:folHlink>
    </a:clrScheme>
    <a:fontScheme name="Präsentation_Master_RWTH_Institute_16zu9">
      <a:majorFont>
        <a:latin typeface="Arial"/>
        <a:ea typeface="Arial"/>
        <a:cs typeface="Arial"/>
      </a:majorFont>
      <a:minorFont>
        <a:latin typeface="Helvetica"/>
        <a:ea typeface="Helvetica"/>
        <a:cs typeface="Helvetica"/>
      </a:minorFont>
    </a:fontScheme>
    <a:fmtScheme name="Präsentation_Master_RWTH_Institute_16zu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